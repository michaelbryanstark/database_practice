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29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28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24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20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21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25.xml"/>
  <Override ContentType="application/vnd.openxmlformats-officedocument.presentationml.notesSlide+xml" PartName="/ppt/notesSlides/notesSlide18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0.xml"/>
  <Override ContentType="application/vnd.openxmlformats-officedocument.presentationml.notesSlide+xml" PartName="/ppt/notesSlides/notesSlide22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26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9.xml"/>
  <Override ContentType="application/vnd.openxmlformats-officedocument.presentationml.notesSlide+xml" PartName="/ppt/notesSlides/notesSlide27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3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2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8.xml"/>
  <Override ContentType="application/vnd.openxmlformats-officedocument.presentationml.slide+xml" PartName="/ppt/slides/slide30.xml"/>
  <Override ContentType="application/vnd.openxmlformats-officedocument.presentationml.slide+xml" PartName="/ppt/slides/slide22.xml"/>
  <Override ContentType="application/vnd.openxmlformats-officedocument.presentationml.slide+xml" PartName="/ppt/slides/slide26.xml"/>
  <Override ContentType="application/vnd.openxmlformats-officedocument.presentationml.slide+xml" PartName="/ppt/slides/slide19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12.xml"/>
  <Override ContentType="application/vnd.openxmlformats-officedocument.presentationml.slide+xml" PartName="/ppt/slides/slide17.xml"/>
  <Override ContentType="application/vnd.openxmlformats-officedocument.presentationml.slide+xml" PartName="/ppt/slides/slide25.xml"/>
  <Override ContentType="application/vnd.openxmlformats-officedocument.presentationml.slide+xml" PartName="/ppt/slides/slide20.xml"/>
  <Override ContentType="application/vnd.openxmlformats-officedocument.presentationml.slide+xml" PartName="/ppt/slides/slide21.xml"/>
  <Override ContentType="application/vnd.openxmlformats-officedocument.presentationml.slide+xml" PartName="/ppt/slides/slide16.xml"/>
  <Override ContentType="application/vnd.openxmlformats-officedocument.presentationml.slide+xml" PartName="/ppt/slides/slide8.xml"/>
  <Override ContentType="application/vnd.openxmlformats-officedocument.presentationml.slide+xml" PartName="/ppt/slides/slide29.xml"/>
  <Override ContentType="application/vnd.openxmlformats-officedocument.presentationml.slide+xml" PartName="/ppt/slides/slide2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28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23.xml"/>
  <Override ContentType="application/vnd.openxmlformats-officedocument.presentationml.slide+xml" PartName="/ppt/slides/slide27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60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  <p:sldId id="270" r:id="rId20"/>
    <p:sldId id="271" r:id="rId21"/>
    <p:sldId id="272" r:id="rId22"/>
    <p:sldId id="273" r:id="rId23"/>
    <p:sldId id="274" r:id="rId24"/>
    <p:sldId id="275" r:id="rId25"/>
    <p:sldId id="276" r:id="rId26"/>
    <p:sldId id="277" r:id="rId27"/>
    <p:sldId id="278" r:id="rId28"/>
    <p:sldId id="279" r:id="rId29"/>
    <p:sldId id="280" r:id="rId30"/>
    <p:sldId id="281" r:id="rId31"/>
    <p:sldId id="282" r:id="rId32"/>
    <p:sldId id="283" r:id="rId33"/>
    <p:sldId id="284" r:id="rId34"/>
    <p:sldId id="285" r:id="rId35"/>
  </p:sldIdLst>
  <p:sldSz cy="5143500" cx="9144000"/>
  <p:notesSz cx="6858000" cy="9144000"/>
  <p:embeddedFontLst>
    <p:embeddedFont>
      <p:font typeface="Inter SemiBold"/>
      <p:regular r:id="rId36"/>
      <p:bold r:id="rId37"/>
      <p:italic r:id="rId38"/>
      <p:boldItalic r:id="rId39"/>
    </p:embeddedFont>
    <p:embeddedFont>
      <p:font typeface="Inter"/>
      <p:bold r:id="rId40"/>
      <p:boldItalic r:id="rId41"/>
    </p:embeddedFont>
    <p:embeddedFont>
      <p:font typeface="Fira Code Medium"/>
      <p:regular r:id="rId42"/>
      <p:bold r:id="rId43"/>
    </p:embeddedFont>
    <p:embeddedFont>
      <p:font typeface="Fira Code SemiBold"/>
      <p:regular r:id="rId44"/>
      <p:bold r:id="rId45"/>
    </p:embeddedFont>
    <p:embeddedFont>
      <p:font typeface="Fira Code"/>
      <p:bold r:id="rId46"/>
    </p:embeddedFont>
    <p:embeddedFont>
      <p:font typeface="Inter Medium"/>
      <p:regular r:id="rId47"/>
      <p:bold r:id="rId48"/>
      <p:italic r:id="rId49"/>
      <p:boldItalic r:id="rId50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40" Type="http://schemas.openxmlformats.org/officeDocument/2006/relationships/font" Target="fonts/Inter-bold.fntdata"/><Relationship Id="rId42" Type="http://schemas.openxmlformats.org/officeDocument/2006/relationships/font" Target="fonts/FiraCodeMedium-regular.fntdata"/><Relationship Id="rId41" Type="http://schemas.openxmlformats.org/officeDocument/2006/relationships/font" Target="fonts/Inter-boldItalic.fntdata"/><Relationship Id="rId44" Type="http://schemas.openxmlformats.org/officeDocument/2006/relationships/font" Target="fonts/FiraCodeSemiBold-regular.fntdata"/><Relationship Id="rId43" Type="http://schemas.openxmlformats.org/officeDocument/2006/relationships/font" Target="fonts/FiraCodeMedium-bold.fntdata"/><Relationship Id="rId46" Type="http://schemas.openxmlformats.org/officeDocument/2006/relationships/font" Target="fonts/FiraCode-bold.fntdata"/><Relationship Id="rId45" Type="http://schemas.openxmlformats.org/officeDocument/2006/relationships/font" Target="fonts/FiraCodeSemiBold-bold.fntdata"/><Relationship Id="rId1" Type="http://schemas.openxmlformats.org/officeDocument/2006/relationships/theme" Target="theme/theme2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48" Type="http://schemas.openxmlformats.org/officeDocument/2006/relationships/font" Target="fonts/InterMedium-bold.fntdata"/><Relationship Id="rId47" Type="http://schemas.openxmlformats.org/officeDocument/2006/relationships/font" Target="fonts/InterMedium-regular.fntdata"/><Relationship Id="rId49" Type="http://schemas.openxmlformats.org/officeDocument/2006/relationships/font" Target="fonts/InterMedium-italic.fntdata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slide" Target="slides/slide3.xml"/><Relationship Id="rId31" Type="http://schemas.openxmlformats.org/officeDocument/2006/relationships/slide" Target="slides/slide26.xml"/><Relationship Id="rId30" Type="http://schemas.openxmlformats.org/officeDocument/2006/relationships/slide" Target="slides/slide25.xml"/><Relationship Id="rId33" Type="http://schemas.openxmlformats.org/officeDocument/2006/relationships/slide" Target="slides/slide28.xml"/><Relationship Id="rId32" Type="http://schemas.openxmlformats.org/officeDocument/2006/relationships/slide" Target="slides/slide27.xml"/><Relationship Id="rId35" Type="http://schemas.openxmlformats.org/officeDocument/2006/relationships/slide" Target="slides/slide30.xml"/><Relationship Id="rId34" Type="http://schemas.openxmlformats.org/officeDocument/2006/relationships/slide" Target="slides/slide29.xml"/><Relationship Id="rId37" Type="http://schemas.openxmlformats.org/officeDocument/2006/relationships/font" Target="fonts/InterSemiBold-bold.fntdata"/><Relationship Id="rId36" Type="http://schemas.openxmlformats.org/officeDocument/2006/relationships/font" Target="fonts/InterSemiBold-regular.fntdata"/><Relationship Id="rId39" Type="http://schemas.openxmlformats.org/officeDocument/2006/relationships/font" Target="fonts/InterSemiBold-boldItalic.fntdata"/><Relationship Id="rId38" Type="http://schemas.openxmlformats.org/officeDocument/2006/relationships/font" Target="fonts/InterSemiBold-italic.fntdata"/><Relationship Id="rId20" Type="http://schemas.openxmlformats.org/officeDocument/2006/relationships/slide" Target="slides/slide15.xml"/><Relationship Id="rId22" Type="http://schemas.openxmlformats.org/officeDocument/2006/relationships/slide" Target="slides/slide17.xml"/><Relationship Id="rId21" Type="http://schemas.openxmlformats.org/officeDocument/2006/relationships/slide" Target="slides/slide16.xml"/><Relationship Id="rId24" Type="http://schemas.openxmlformats.org/officeDocument/2006/relationships/slide" Target="slides/slide19.xml"/><Relationship Id="rId23" Type="http://schemas.openxmlformats.org/officeDocument/2006/relationships/slide" Target="slides/slide18.xml"/><Relationship Id="rId26" Type="http://schemas.openxmlformats.org/officeDocument/2006/relationships/slide" Target="slides/slide21.xml"/><Relationship Id="rId25" Type="http://schemas.openxmlformats.org/officeDocument/2006/relationships/slide" Target="slides/slide20.xml"/><Relationship Id="rId28" Type="http://schemas.openxmlformats.org/officeDocument/2006/relationships/slide" Target="slides/slide23.xml"/><Relationship Id="rId27" Type="http://schemas.openxmlformats.org/officeDocument/2006/relationships/slide" Target="slides/slide22.xml"/><Relationship Id="rId29" Type="http://schemas.openxmlformats.org/officeDocument/2006/relationships/slide" Target="slides/slide24.xml"/><Relationship Id="rId50" Type="http://schemas.openxmlformats.org/officeDocument/2006/relationships/font" Target="fonts/InterMedium-boldItalic.fntdata"/><Relationship Id="rId11" Type="http://schemas.openxmlformats.org/officeDocument/2006/relationships/slide" Target="slides/slide6.xml"/><Relationship Id="rId10" Type="http://schemas.openxmlformats.org/officeDocument/2006/relationships/slide" Target="slides/slide5.xml"/><Relationship Id="rId13" Type="http://schemas.openxmlformats.org/officeDocument/2006/relationships/slide" Target="slides/slide8.xml"/><Relationship Id="rId12" Type="http://schemas.openxmlformats.org/officeDocument/2006/relationships/slide" Target="slides/slide7.xml"/><Relationship Id="rId15" Type="http://schemas.openxmlformats.org/officeDocument/2006/relationships/slide" Target="slides/slide10.xml"/><Relationship Id="rId14" Type="http://schemas.openxmlformats.org/officeDocument/2006/relationships/slide" Target="slides/slide9.xml"/><Relationship Id="rId17" Type="http://schemas.openxmlformats.org/officeDocument/2006/relationships/slide" Target="slides/slide12.xml"/><Relationship Id="rId16" Type="http://schemas.openxmlformats.org/officeDocument/2006/relationships/slide" Target="slides/slide11.xml"/><Relationship Id="rId19" Type="http://schemas.openxmlformats.org/officeDocument/2006/relationships/slide" Target="slides/slide14.xml"/><Relationship Id="rId18" Type="http://schemas.openxmlformats.org/officeDocument/2006/relationships/slide" Target="slides/slide1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1" name="Shape 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" name="Google Shape;52;g3f8f66b8990_44_0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3" name="Google Shape;53;g3f8f66b8990_44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5" name="Shape 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Google Shape;66;g3f8f66b8990_43_0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7" name="Google Shape;67;g3f8f66b8990_43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6" name="Shape 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" name="Google Shape;97;g3f8f66b8990_42_0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8" name="Google Shape;98;g3f8f66b8990_42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8" name="Shape 1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9" name="Google Shape;119;g3f8f66b8990_41_0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0" name="Google Shape;120;g3f8f66b8990_41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8" name="Shape 1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9" name="Google Shape;139;g3f8f66b8990_40_0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0" name="Google Shape;140;g3f8f66b8990_4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3" name="Shape 1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4" name="Google Shape;164;g3f8f66b8990_39_0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5" name="Google Shape;165;g3f8f66b8990_39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1" name="Shape 1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2" name="Google Shape;192;g3f8f66b8990_38_0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93" name="Google Shape;193;g3f8f66b8990_38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1" name="Shape 2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2" name="Google Shape;212;g3f8f66b8990_37_0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13" name="Google Shape;213;g3f8f66b8990_37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4" name="Shape 2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5" name="Google Shape;235;g3f8f66b8990_36_0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36" name="Google Shape;236;g3f8f66b8990_36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74" name="Shape 2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5" name="Google Shape;275;g3f8f66b8990_35_0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6" name="Google Shape;276;g3f8f66b8990_35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99" name="Shape 2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0" name="Google Shape;300;g3f8f66b8990_34_0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01" name="Google Shape;301;g3f8f66b8990_34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19" name="Shape 3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0" name="Google Shape;320;g3f8f66b8990_33_0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21" name="Google Shape;321;g3f8f66b8990_33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40" name="Shape 3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1" name="Google Shape;341;g3f8f66b8990_32_0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42" name="Google Shape;342;g3f8f66b8990_32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69" name="Shape 3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0" name="Google Shape;370;g3f8f66b8990_31_0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71" name="Google Shape;371;g3f8f66b8990_31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92" name="Shape 3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3" name="Google Shape;393;g3f8f66b8990_30_0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94" name="Google Shape;394;g3f8f66b8990_3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08" name="Shape 4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" name="Google Shape;409;g3f8f66b8990_29_0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10" name="Google Shape;410;g3f8f66b8990_29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27" name="Shape 4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8" name="Google Shape;428;g3f8f66b8990_28_0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29" name="Google Shape;429;g3f8f66b8990_28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48" name="Shape 4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9" name="Google Shape;449;g3f8f66b8990_27_0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50" name="Google Shape;450;g3f8f66b8990_27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66" name="Shape 4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7" name="Google Shape;467;g3f8f66b8990_26_0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68" name="Google Shape;468;g3f8f66b8990_26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83" name="Shape 4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4" name="Google Shape;484;g3f8f66b8990_25_0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85" name="Google Shape;485;g3f8f66b8990_25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14" name="Shape 5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5" name="Google Shape;515;g3f8f66b8990_24_0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16" name="Google Shape;516;g3f8f66b8990_24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36" name="Shape 5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7" name="Google Shape;537;g3f8f66b8990_23_0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38" name="Google Shape;538;g3f8f66b8990_23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59" name="Shape 5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0" name="Google Shape;560;g3f8f66b8990_22_0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61" name="Google Shape;561;g3f8f66b8990_22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79" name="Shape 5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0" name="Google Shape;580;g3f8f66b8990_21_0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81" name="Google Shape;581;g3f8f66b8990_21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12" name="Shape 6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3" name="Google Shape;613;g3f8f66b8990_20_0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14" name="Google Shape;614;g3f8f66b8990_2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35" name="Shape 6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6" name="Google Shape;636;g3f8f66b8990_19_0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37" name="Google Shape;637;g3f8f66b8990_19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52" name="Shape 6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3" name="Google Shape;653;g3f8f66b8990_18_0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54" name="Google Shape;654;g3f8f66b8990_18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70" name="Shape 6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1" name="Google Shape;671;g3f8f66b8990_17_0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72" name="Google Shape;672;g3f8f66b8990_17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03" name="Shape 7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4" name="Google Shape;704;g3f8f66b8990_16_0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05" name="Google Shape;705;g3f8f66b8990_16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27" name="Shape 7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8" name="Google Shape;728;g3f8f66b8990_15_0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29" name="Google Shape;729;g3f8f66b8990_15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(g3f8f66b8990_14_0)">
  <p:cSld name="Generated (g3f8f66b8990_14_0)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10" name="Shape 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Google Shape;11;p3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12" name="Google Shape;12;p3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13" name="Google Shape;13;p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4" name="Shape 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Google Shape;15;p4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6" name="Google Shape;16;p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7" name="Shape 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Google Shape;18;p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9" name="Google Shape;19;p5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20" name="Google Shape;20;p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3" name="Google Shape;23;p6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4" name="Google Shape;24;p6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5" name="Google Shape;25;p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6" name="Shape 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Google Shape;27;p7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8" name="Google Shape;28;p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29" name="Shape 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Google Shape;30;p8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1" name="Google Shape;31;p8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2" name="Google Shape;32;p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33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9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35" name="Google Shape;35;p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36" name="Shape 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Google Shape;37;p10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8" name="Google Shape;38;p10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39" name="Google Shape;39;p10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40" name="Google Shape;40;p10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1" name="Google Shape;41;p1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2" name="Shape 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" name="Google Shape;43;p11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44" name="Google Shape;44;p1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45" name="Shape 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Google Shape;46;p12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7" name="Google Shape;47;p12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8" name="Google Shape;48;p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49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1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3" Type="http://schemas.openxmlformats.org/officeDocument/2006/relationships/theme" Target="../theme/theme2.xml"/><Relationship Id="rId12" Type="http://schemas.openxmlformats.org/officeDocument/2006/relationships/slideLayout" Target="../slideLayouts/slideLayout12.xml"/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indent="-3175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indent="-3175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indent="-3175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indent="-3175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indent="-3175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indent="-3175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indent="-3175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indent="-3175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1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1.xml"/></Relationships>
</file>

<file path=ppt/slides/_rels/slide2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2.xml"/></Relationships>
</file>

<file path=ppt/slides/_rels/slide2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3.xml"/></Relationships>
</file>

<file path=ppt/slides/_rels/slide2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4.xml"/></Relationships>
</file>

<file path=ppt/slides/_rels/slide2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5.xml"/></Relationships>
</file>

<file path=ppt/slides/_rels/slide2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6.xml"/></Relationships>
</file>

<file path=ppt/slides/_rels/slide2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7.xml"/></Relationships>
</file>

<file path=ppt/slides/_rels/slide2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8.xml"/><Relationship Id="rId3" Type="http://schemas.openxmlformats.org/officeDocument/2006/relationships/image" Target="../media/image2.png"/></Relationships>
</file>

<file path=ppt/slides/_rels/slide2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9.xml"/></Relationships>
</file>

<file path=ppt/slides/_rels/slide3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0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54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5" name="Google Shape;55;p1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56" name="Google Shape;56;p14"/>
          <p:cNvGrpSpPr/>
          <p:nvPr/>
        </p:nvGrpSpPr>
        <p:grpSpPr>
          <a:xfrm>
            <a:off x="571500" y="571500"/>
            <a:ext cx="381000" cy="342900"/>
            <a:chOff x="571500" y="571500"/>
            <a:chExt cx="381000" cy="342900"/>
          </a:xfrm>
        </p:grpSpPr>
        <p:sp>
          <p:nvSpPr>
            <p:cNvPr id="57" name="Google Shape;57;p14"/>
            <p:cNvSpPr/>
            <p:nvPr/>
          </p:nvSpPr>
          <p:spPr>
            <a:xfrm>
              <a:off x="571500" y="571500"/>
              <a:ext cx="381000" cy="38100"/>
            </a:xfrm>
            <a:prstGeom prst="rect">
              <a:avLst/>
            </a:prstGeom>
            <a:solidFill>
              <a:srgbClr val="2563EB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8" name="Google Shape;58;p14"/>
            <p:cNvSpPr/>
            <p:nvPr/>
          </p:nvSpPr>
          <p:spPr>
            <a:xfrm>
              <a:off x="590550" y="723900"/>
              <a:ext cx="190500" cy="190500"/>
            </a:xfrm>
            <a:custGeom>
              <a:rect b="b" l="l" r="r" t="t"/>
              <a:pathLst>
                <a:path extrusionOk="0" h="120000" w="120000">
                  <a:moveTo>
                    <a:pt x="60000" y="0"/>
                  </a:moveTo>
                  <a:cubicBezTo>
                    <a:pt x="26880" y="0"/>
                    <a:pt x="0" y="26880"/>
                    <a:pt x="0" y="60000"/>
                  </a:cubicBezTo>
                  <a:lnTo>
                    <a:pt x="26880" y="120000"/>
                  </a:lnTo>
                  <a:lnTo>
                    <a:pt x="60000" y="120000"/>
                  </a:lnTo>
                  <a:lnTo>
                    <a:pt x="120000" y="93120"/>
                  </a:lnTo>
                  <a:lnTo>
                    <a:pt x="120000" y="60000"/>
                  </a:lnTo>
                  <a:lnTo>
                    <a:pt x="93120" y="0"/>
                  </a:lnTo>
                  <a:lnTo>
                    <a:pt x="60000" y="0"/>
                  </a:lnTo>
                  <a:close/>
                  <a:moveTo>
                    <a:pt x="60000" y="108000"/>
                  </a:moveTo>
                  <a:cubicBezTo>
                    <a:pt x="33540" y="108000"/>
                    <a:pt x="12000" y="86460"/>
                    <a:pt x="12000" y="60000"/>
                  </a:cubicBezTo>
                  <a:lnTo>
                    <a:pt x="33540" y="12000"/>
                  </a:lnTo>
                  <a:lnTo>
                    <a:pt x="60000" y="12000"/>
                  </a:lnTo>
                  <a:lnTo>
                    <a:pt x="108000" y="33540"/>
                  </a:lnTo>
                  <a:lnTo>
                    <a:pt x="108000" y="60000"/>
                  </a:lnTo>
                  <a:lnTo>
                    <a:pt x="86460" y="108000"/>
                  </a:lnTo>
                  <a:lnTo>
                    <a:pt x="60000" y="108000"/>
                  </a:lnTo>
                  <a:close/>
                  <a:moveTo>
                    <a:pt x="54000" y="30000"/>
                  </a:moveTo>
                  <a:lnTo>
                    <a:pt x="66000" y="30000"/>
                  </a:lnTo>
                  <a:lnTo>
                    <a:pt x="66000" y="66000"/>
                  </a:lnTo>
                  <a:lnTo>
                    <a:pt x="54000" y="66000"/>
                  </a:lnTo>
                  <a:close/>
                  <a:moveTo>
                    <a:pt x="54000" y="78000"/>
                  </a:moveTo>
                  <a:lnTo>
                    <a:pt x="66000" y="78000"/>
                  </a:lnTo>
                  <a:lnTo>
                    <a:pt x="66000" y="90000"/>
                  </a:lnTo>
                  <a:lnTo>
                    <a:pt x="54000" y="90000"/>
                  </a:lnTo>
                  <a:close/>
                </a:path>
              </a:pathLst>
            </a:custGeom>
            <a:solidFill>
              <a:srgbClr val="2563EB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59" name="Google Shape;59;p14"/>
          <p:cNvGrpSpPr/>
          <p:nvPr/>
        </p:nvGrpSpPr>
        <p:grpSpPr>
          <a:xfrm>
            <a:off x="571500" y="1714500"/>
            <a:ext cx="8001000" cy="2095500"/>
            <a:chOff x="0" y="0"/>
            <a:chExt cx="8001000" cy="2095500"/>
          </a:xfrm>
        </p:grpSpPr>
        <p:sp>
          <p:nvSpPr>
            <p:cNvPr id="60" name="Google Shape;60;p14"/>
            <p:cNvSpPr txBox="1"/>
            <p:nvPr/>
          </p:nvSpPr>
          <p:spPr>
            <a:xfrm>
              <a:off x="0" y="0"/>
              <a:ext cx="8001000" cy="2859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lang="en" sz="900">
                  <a:solidFill>
                    <a:srgbClr val="2563EB"/>
                  </a:solidFill>
                  <a:latin typeface="Inter SemiBold"/>
                  <a:ea typeface="Inter SemiBold"/>
                  <a:cs typeface="Inter SemiBold"/>
                  <a:sym typeface="Inter SemiBold"/>
                </a:rPr>
                <a:t>Week 6, Day 1</a:t>
              </a:r>
              <a:endParaRPr b="0" sz="900">
                <a:solidFill>
                  <a:srgbClr val="2563EB"/>
                </a:solidFill>
                <a:latin typeface="Inter SemiBold"/>
                <a:ea typeface="Inter SemiBold"/>
                <a:cs typeface="Inter SemiBold"/>
                <a:sym typeface="Inter SemiBold"/>
              </a:endParaRPr>
            </a:p>
          </p:txBody>
        </p:sp>
        <p:sp>
          <p:nvSpPr>
            <p:cNvPr id="61" name="Google Shape;61;p14"/>
            <p:cNvSpPr txBox="1"/>
            <p:nvPr/>
          </p:nvSpPr>
          <p:spPr>
            <a:xfrm>
              <a:off x="0" y="342900"/>
              <a:ext cx="8001000" cy="5715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" sz="2400">
                  <a:solidFill>
                    <a:srgbClr val="0F172A"/>
                  </a:solidFill>
                  <a:latin typeface="Inter"/>
                  <a:ea typeface="Inter"/>
                  <a:cs typeface="Inter"/>
                  <a:sym typeface="Inter"/>
                </a:rPr>
                <a:t>Intro to SQL &amp; DDL</a:t>
              </a:r>
              <a:endParaRPr b="1" sz="2400">
                <a:solidFill>
                  <a:srgbClr val="0F172A"/>
                </a:solidFill>
                <a:latin typeface="Inter"/>
                <a:ea typeface="Inter"/>
                <a:cs typeface="Inter"/>
                <a:sym typeface="Inter"/>
              </a:endParaRPr>
            </a:p>
          </p:txBody>
        </p:sp>
        <p:sp>
          <p:nvSpPr>
            <p:cNvPr id="62" name="Google Shape;62;p14"/>
            <p:cNvSpPr/>
            <p:nvPr/>
          </p:nvSpPr>
          <p:spPr>
            <a:xfrm>
              <a:off x="3714750" y="1009650"/>
              <a:ext cx="571500" cy="28500"/>
            </a:xfrm>
            <a:prstGeom prst="rect">
              <a:avLst/>
            </a:prstGeom>
            <a:solidFill>
              <a:srgbClr val="2563EB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3" name="Google Shape;63;p14"/>
            <p:cNvSpPr txBox="1"/>
            <p:nvPr/>
          </p:nvSpPr>
          <p:spPr>
            <a:xfrm>
              <a:off x="0" y="1181100"/>
              <a:ext cx="8001000" cy="381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lang="en" sz="1500">
                  <a:solidFill>
                    <a:srgbClr val="2563EB"/>
                  </a:solidFill>
                  <a:latin typeface="Inter Medium"/>
                  <a:ea typeface="Inter Medium"/>
                  <a:cs typeface="Inter Medium"/>
                  <a:sym typeface="Inter Medium"/>
                </a:rPr>
                <a:t>Building the Physical Database.</a:t>
              </a:r>
              <a:endParaRPr b="0" sz="1500">
                <a:solidFill>
                  <a:srgbClr val="2563EB"/>
                </a:solidFill>
                <a:latin typeface="Inter Medium"/>
                <a:ea typeface="Inter Medium"/>
                <a:cs typeface="Inter Medium"/>
                <a:sym typeface="Inter Medium"/>
              </a:endParaRPr>
            </a:p>
          </p:txBody>
        </p:sp>
        <p:sp>
          <p:nvSpPr>
            <p:cNvPr id="64" name="Google Shape;64;p14"/>
            <p:cNvSpPr txBox="1"/>
            <p:nvPr/>
          </p:nvSpPr>
          <p:spPr>
            <a:xfrm>
              <a:off x="0" y="1714500"/>
              <a:ext cx="8001000" cy="381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lang="en" sz="1200">
                  <a:solidFill>
                    <a:srgbClr val="475569"/>
                  </a:solidFill>
                  <a:latin typeface="Inter"/>
                  <a:ea typeface="Inter"/>
                  <a:cs typeface="Inter"/>
                  <a:sym typeface="Inter"/>
                </a:rPr>
                <a:t>MAC 250 - LaGuardia Community College.</a:t>
              </a:r>
              <a:endParaRPr b="0" sz="1200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endParaRPr>
            </a:p>
          </p:txBody>
        </p:sp>
      </p:grp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8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15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0" name="Google Shape;70;p15"/>
          <p:cNvSpPr/>
          <p:nvPr/>
        </p:nvSpPr>
        <p:spPr>
          <a:xfrm>
            <a:off x="590550" y="381000"/>
            <a:ext cx="190500" cy="190500"/>
          </a:xfrm>
          <a:custGeom>
            <a:rect b="b" l="l" r="r" t="t"/>
            <a:pathLst>
              <a:path extrusionOk="0" h="120000" w="120000">
                <a:moveTo>
                  <a:pt x="60000" y="0"/>
                </a:moveTo>
                <a:cubicBezTo>
                  <a:pt x="26880" y="0"/>
                  <a:pt x="0" y="26880"/>
                  <a:pt x="0" y="60000"/>
                </a:cubicBezTo>
                <a:lnTo>
                  <a:pt x="26880" y="120000"/>
                </a:lnTo>
                <a:lnTo>
                  <a:pt x="60000" y="120000"/>
                </a:lnTo>
                <a:lnTo>
                  <a:pt x="120000" y="93120"/>
                </a:lnTo>
                <a:lnTo>
                  <a:pt x="120000" y="60000"/>
                </a:lnTo>
                <a:lnTo>
                  <a:pt x="93120" y="0"/>
                </a:lnTo>
                <a:lnTo>
                  <a:pt x="60000" y="0"/>
                </a:lnTo>
                <a:close/>
                <a:moveTo>
                  <a:pt x="60000" y="108000"/>
                </a:moveTo>
                <a:cubicBezTo>
                  <a:pt x="33540" y="108000"/>
                  <a:pt x="12000" y="86460"/>
                  <a:pt x="12000" y="60000"/>
                </a:cubicBezTo>
                <a:lnTo>
                  <a:pt x="33540" y="12000"/>
                </a:lnTo>
                <a:lnTo>
                  <a:pt x="60000" y="12000"/>
                </a:lnTo>
                <a:lnTo>
                  <a:pt x="108000" y="33540"/>
                </a:lnTo>
                <a:lnTo>
                  <a:pt x="108000" y="60000"/>
                </a:lnTo>
                <a:lnTo>
                  <a:pt x="86460" y="108000"/>
                </a:lnTo>
                <a:lnTo>
                  <a:pt x="60000" y="108000"/>
                </a:lnTo>
                <a:close/>
                <a:moveTo>
                  <a:pt x="54000" y="30000"/>
                </a:moveTo>
                <a:lnTo>
                  <a:pt x="66000" y="30000"/>
                </a:lnTo>
                <a:lnTo>
                  <a:pt x="66000" y="66000"/>
                </a:lnTo>
                <a:lnTo>
                  <a:pt x="54000" y="66000"/>
                </a:lnTo>
                <a:close/>
                <a:moveTo>
                  <a:pt x="54000" y="78000"/>
                </a:moveTo>
                <a:lnTo>
                  <a:pt x="66000" y="78000"/>
                </a:lnTo>
                <a:lnTo>
                  <a:pt x="66000" y="90000"/>
                </a:lnTo>
                <a:lnTo>
                  <a:pt x="54000" y="90000"/>
                </a:lnTo>
                <a:close/>
              </a:path>
            </a:pathLst>
          </a:custGeom>
          <a:solidFill>
            <a:srgbClr val="2563EB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1" name="Google Shape;71;p15"/>
          <p:cNvSpPr txBox="1"/>
          <p:nvPr/>
        </p:nvSpPr>
        <p:spPr>
          <a:xfrm>
            <a:off x="876300" y="361950"/>
            <a:ext cx="70866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" sz="900">
                <a:solidFill>
                  <a:srgbClr val="475569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MAC 250: DATABASE ARCHITECTURE &amp; ENGINEERING</a:t>
            </a:r>
            <a:endParaRPr b="0" sz="900">
              <a:solidFill>
                <a:srgbClr val="475569"/>
              </a:solidFill>
              <a:latin typeface="Inter SemiBold"/>
              <a:ea typeface="Inter SemiBold"/>
              <a:cs typeface="Inter SemiBold"/>
              <a:sym typeface="Inter SemiBold"/>
            </a:endParaRPr>
          </a:p>
        </p:txBody>
      </p:sp>
      <p:grpSp>
        <p:nvGrpSpPr>
          <p:cNvPr id="72" name="Google Shape;72;p15"/>
          <p:cNvGrpSpPr/>
          <p:nvPr/>
        </p:nvGrpSpPr>
        <p:grpSpPr>
          <a:xfrm>
            <a:off x="571500" y="685800"/>
            <a:ext cx="8001000" cy="19200"/>
            <a:chOff x="0" y="0"/>
            <a:chExt cx="8001000" cy="19200"/>
          </a:xfrm>
        </p:grpSpPr>
        <p:sp>
          <p:nvSpPr>
            <p:cNvPr id="73" name="Google Shape;73;p15"/>
            <p:cNvSpPr/>
            <p:nvPr/>
          </p:nvSpPr>
          <p:spPr>
            <a:xfrm>
              <a:off x="0" y="0"/>
              <a:ext cx="8001000" cy="9600"/>
            </a:xfrm>
            <a:prstGeom prst="rect">
              <a:avLst/>
            </a:prstGeom>
            <a:solidFill>
              <a:srgbClr val="E2E8F0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4" name="Google Shape;74;p15"/>
            <p:cNvSpPr/>
            <p:nvPr/>
          </p:nvSpPr>
          <p:spPr>
            <a:xfrm>
              <a:off x="0" y="0"/>
              <a:ext cx="1143000" cy="19200"/>
            </a:xfrm>
            <a:prstGeom prst="rect">
              <a:avLst/>
            </a:prstGeom>
            <a:solidFill>
              <a:srgbClr val="2563EB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75" name="Google Shape;75;p15"/>
          <p:cNvSpPr txBox="1"/>
          <p:nvPr/>
        </p:nvSpPr>
        <p:spPr>
          <a:xfrm>
            <a:off x="571500" y="876300"/>
            <a:ext cx="8001000" cy="714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100">
                <a:solidFill>
                  <a:srgbClr val="0F172A"/>
                </a:solidFill>
                <a:latin typeface="Inter"/>
                <a:ea typeface="Inter"/>
                <a:cs typeface="Inter"/>
                <a:sym typeface="Inter"/>
              </a:rPr>
              <a:t>Today's Agenda</a:t>
            </a:r>
            <a:endParaRPr b="1" sz="2100">
              <a:solidFill>
                <a:srgbClr val="0F172A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0" lvl="0" marL="0" rtl="0" algn="l">
              <a:spcBef>
                <a:spcPts val="300"/>
              </a:spcBef>
              <a:spcAft>
                <a:spcPts val="0"/>
              </a:spcAft>
              <a:buNone/>
            </a:pPr>
            <a:r>
              <a:rPr b="0" lang="en" sz="1200">
                <a:solidFill>
                  <a:srgbClr val="2563EB"/>
                </a:solidFill>
                <a:latin typeface="Inter Medium"/>
                <a:ea typeface="Inter Medium"/>
                <a:cs typeface="Inter Medium"/>
                <a:sym typeface="Inter Medium"/>
              </a:rPr>
              <a:t>Transitioning into Module 2: Implementation</a:t>
            </a:r>
            <a:endParaRPr b="0" sz="1200">
              <a:solidFill>
                <a:srgbClr val="2563EB"/>
              </a:solidFill>
              <a:latin typeface="Inter Medium"/>
              <a:ea typeface="Inter Medium"/>
              <a:cs typeface="Inter Medium"/>
              <a:sym typeface="Inter Medium"/>
            </a:endParaRPr>
          </a:p>
        </p:txBody>
      </p:sp>
      <p:grpSp>
        <p:nvGrpSpPr>
          <p:cNvPr id="76" name="Google Shape;76;p15"/>
          <p:cNvGrpSpPr/>
          <p:nvPr/>
        </p:nvGrpSpPr>
        <p:grpSpPr>
          <a:xfrm>
            <a:off x="571500" y="1714500"/>
            <a:ext cx="8001000" cy="647700"/>
            <a:chOff x="0" y="0"/>
            <a:chExt cx="8001000" cy="647700"/>
          </a:xfrm>
        </p:grpSpPr>
        <p:sp>
          <p:nvSpPr>
            <p:cNvPr id="77" name="Google Shape;77;p15"/>
            <p:cNvSpPr/>
            <p:nvPr/>
          </p:nvSpPr>
          <p:spPr>
            <a:xfrm>
              <a:off x="0" y="0"/>
              <a:ext cx="8001000" cy="647700"/>
            </a:xfrm>
            <a:prstGeom prst="roundRect">
              <a:avLst>
                <a:gd fmla="val 8823" name="adj"/>
              </a:avLst>
            </a:prstGeom>
            <a:solidFill>
              <a:srgbClr val="F8FAFC"/>
            </a:solidFill>
            <a:ln cap="flat" cmpd="sng" w="9525">
              <a:solidFill>
                <a:srgbClr val="E2E8F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8" name="Google Shape;78;p15"/>
            <p:cNvSpPr/>
            <p:nvPr/>
          </p:nvSpPr>
          <p:spPr>
            <a:xfrm>
              <a:off x="152400" y="152400"/>
              <a:ext cx="342900" cy="342900"/>
            </a:xfrm>
            <a:prstGeom prst="roundRect">
              <a:avLst>
                <a:gd fmla="val 11111" name="adj"/>
              </a:avLst>
            </a:prstGeom>
            <a:solidFill>
              <a:srgbClr val="F0F9FF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9" name="Google Shape;79;p15"/>
            <p:cNvSpPr txBox="1"/>
            <p:nvPr/>
          </p:nvSpPr>
          <p:spPr>
            <a:xfrm>
              <a:off x="152400" y="152400"/>
              <a:ext cx="342900" cy="3429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" sz="1050">
                  <a:solidFill>
                    <a:srgbClr val="2563EB"/>
                  </a:solidFill>
                  <a:latin typeface="Inter"/>
                  <a:ea typeface="Inter"/>
                  <a:cs typeface="Inter"/>
                  <a:sym typeface="Inter"/>
                </a:rPr>
                <a:t>01</a:t>
              </a:r>
              <a:endParaRPr b="1" sz="1050">
                <a:solidFill>
                  <a:srgbClr val="2563EB"/>
                </a:solidFill>
                <a:latin typeface="Inter"/>
                <a:ea typeface="Inter"/>
                <a:cs typeface="Inter"/>
                <a:sym typeface="Inter"/>
              </a:endParaRPr>
            </a:p>
          </p:txBody>
        </p:sp>
        <p:sp>
          <p:nvSpPr>
            <p:cNvPr id="80" name="Google Shape;80;p15"/>
            <p:cNvSpPr txBox="1"/>
            <p:nvPr/>
          </p:nvSpPr>
          <p:spPr>
            <a:xfrm>
              <a:off x="647700" y="114300"/>
              <a:ext cx="7162800" cy="4191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lang="en" sz="1125">
                  <a:solidFill>
                    <a:srgbClr val="0F172A"/>
                  </a:solidFill>
                  <a:latin typeface="Inter SemiBold"/>
                  <a:ea typeface="Inter SemiBold"/>
                  <a:cs typeface="Inter SemiBold"/>
                  <a:sym typeface="Inter SemiBold"/>
                </a:rPr>
                <a:t>Fundamentals of SQL &amp; Data Definition Language (DDL)</a:t>
              </a:r>
              <a:endParaRPr b="0" sz="1125">
                <a:solidFill>
                  <a:srgbClr val="0F172A"/>
                </a:solidFill>
                <a:latin typeface="Inter SemiBold"/>
                <a:ea typeface="Inter SemiBold"/>
                <a:cs typeface="Inter SemiBold"/>
                <a:sym typeface="Inter SemiBold"/>
              </a:endParaRPr>
            </a:p>
            <a:p>
              <a:pPr indent="0" lvl="0" marL="0" rtl="0" algn="l">
                <a:spcBef>
                  <a:spcPts val="150"/>
                </a:spcBef>
                <a:spcAft>
                  <a:spcPts val="0"/>
                </a:spcAft>
                <a:buNone/>
              </a:pPr>
              <a:r>
                <a:rPr b="0" lang="en" sz="975">
                  <a:solidFill>
                    <a:srgbClr val="475569"/>
                  </a:solidFill>
                  <a:latin typeface="Inter"/>
                  <a:ea typeface="Inter"/>
                  <a:cs typeface="Inter"/>
                  <a:sym typeface="Inter"/>
                </a:rPr>
                <a:t>Exploring core DDL concepts and structure in relational databases.</a:t>
              </a:r>
              <a:endParaRPr b="0" sz="975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endParaRPr>
            </a:p>
          </p:txBody>
        </p:sp>
      </p:grpSp>
      <p:grpSp>
        <p:nvGrpSpPr>
          <p:cNvPr id="81" name="Google Shape;81;p15"/>
          <p:cNvGrpSpPr/>
          <p:nvPr/>
        </p:nvGrpSpPr>
        <p:grpSpPr>
          <a:xfrm>
            <a:off x="571500" y="2476500"/>
            <a:ext cx="8001000" cy="647700"/>
            <a:chOff x="0" y="0"/>
            <a:chExt cx="8001000" cy="647700"/>
          </a:xfrm>
        </p:grpSpPr>
        <p:sp>
          <p:nvSpPr>
            <p:cNvPr id="82" name="Google Shape;82;p15"/>
            <p:cNvSpPr/>
            <p:nvPr/>
          </p:nvSpPr>
          <p:spPr>
            <a:xfrm>
              <a:off x="0" y="0"/>
              <a:ext cx="8001000" cy="647700"/>
            </a:xfrm>
            <a:prstGeom prst="roundRect">
              <a:avLst>
                <a:gd fmla="val 8823" name="adj"/>
              </a:avLst>
            </a:prstGeom>
            <a:solidFill>
              <a:srgbClr val="F8FAFC"/>
            </a:solidFill>
            <a:ln cap="flat" cmpd="sng" w="9525">
              <a:solidFill>
                <a:srgbClr val="E2E8F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3" name="Google Shape;83;p15"/>
            <p:cNvSpPr/>
            <p:nvPr/>
          </p:nvSpPr>
          <p:spPr>
            <a:xfrm>
              <a:off x="152400" y="152400"/>
              <a:ext cx="342900" cy="342900"/>
            </a:xfrm>
            <a:prstGeom prst="roundRect">
              <a:avLst>
                <a:gd fmla="val 11111" name="adj"/>
              </a:avLst>
            </a:prstGeom>
            <a:solidFill>
              <a:srgbClr val="F0F9FF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4" name="Google Shape;84;p15"/>
            <p:cNvSpPr txBox="1"/>
            <p:nvPr/>
          </p:nvSpPr>
          <p:spPr>
            <a:xfrm>
              <a:off x="152400" y="152400"/>
              <a:ext cx="342900" cy="3429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" sz="1050">
                  <a:solidFill>
                    <a:srgbClr val="2563EB"/>
                  </a:solidFill>
                  <a:latin typeface="Inter"/>
                  <a:ea typeface="Inter"/>
                  <a:cs typeface="Inter"/>
                  <a:sym typeface="Inter"/>
                </a:rPr>
                <a:t>02</a:t>
              </a:r>
              <a:endParaRPr b="1" sz="1050">
                <a:solidFill>
                  <a:srgbClr val="2563EB"/>
                </a:solidFill>
                <a:latin typeface="Inter"/>
                <a:ea typeface="Inter"/>
                <a:cs typeface="Inter"/>
                <a:sym typeface="Inter"/>
              </a:endParaRPr>
            </a:p>
          </p:txBody>
        </p:sp>
        <p:sp>
          <p:nvSpPr>
            <p:cNvPr id="85" name="Google Shape;85;p15"/>
            <p:cNvSpPr txBox="1"/>
            <p:nvPr/>
          </p:nvSpPr>
          <p:spPr>
            <a:xfrm>
              <a:off x="647700" y="114300"/>
              <a:ext cx="7162800" cy="4191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lang="en" sz="1125">
                  <a:solidFill>
                    <a:srgbClr val="0F172A"/>
                  </a:solidFill>
                  <a:latin typeface="Inter SemiBold"/>
                  <a:ea typeface="Inter SemiBold"/>
                  <a:cs typeface="Inter SemiBold"/>
                  <a:sym typeface="Inter SemiBold"/>
                </a:rPr>
                <a:t>DBML to CREATE TABLE Translation</a:t>
              </a:r>
              <a:endParaRPr b="0" sz="1125">
                <a:solidFill>
                  <a:srgbClr val="0F172A"/>
                </a:solidFill>
                <a:latin typeface="Inter SemiBold"/>
                <a:ea typeface="Inter SemiBold"/>
                <a:cs typeface="Inter SemiBold"/>
                <a:sym typeface="Inter SemiBold"/>
              </a:endParaRPr>
            </a:p>
            <a:p>
              <a:pPr indent="0" lvl="0" marL="0" rtl="0" algn="l">
                <a:spcBef>
                  <a:spcPts val="150"/>
                </a:spcBef>
                <a:spcAft>
                  <a:spcPts val="0"/>
                </a:spcAft>
                <a:buNone/>
              </a:pPr>
              <a:r>
                <a:rPr b="0" lang="en" sz="975">
                  <a:solidFill>
                    <a:srgbClr val="475569"/>
                  </a:solidFill>
                  <a:latin typeface="Inter"/>
                  <a:ea typeface="Inter"/>
                  <a:cs typeface="Inter"/>
                  <a:sym typeface="Inter"/>
                </a:rPr>
                <a:t>Translating DBML diagrams directly into standard SQL CREATE TABLE statements.</a:t>
              </a:r>
              <a:endParaRPr b="0" sz="975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endParaRPr>
            </a:p>
          </p:txBody>
        </p:sp>
      </p:grpSp>
      <p:grpSp>
        <p:nvGrpSpPr>
          <p:cNvPr id="86" name="Google Shape;86;p15"/>
          <p:cNvGrpSpPr/>
          <p:nvPr/>
        </p:nvGrpSpPr>
        <p:grpSpPr>
          <a:xfrm>
            <a:off x="571500" y="3238500"/>
            <a:ext cx="8001000" cy="647700"/>
            <a:chOff x="0" y="0"/>
            <a:chExt cx="8001000" cy="647700"/>
          </a:xfrm>
        </p:grpSpPr>
        <p:sp>
          <p:nvSpPr>
            <p:cNvPr id="87" name="Google Shape;87;p15"/>
            <p:cNvSpPr/>
            <p:nvPr/>
          </p:nvSpPr>
          <p:spPr>
            <a:xfrm>
              <a:off x="0" y="0"/>
              <a:ext cx="8001000" cy="647700"/>
            </a:xfrm>
            <a:prstGeom prst="roundRect">
              <a:avLst>
                <a:gd fmla="val 8823" name="adj"/>
              </a:avLst>
            </a:prstGeom>
            <a:solidFill>
              <a:srgbClr val="F8FAFC"/>
            </a:solidFill>
            <a:ln cap="flat" cmpd="sng" w="9525">
              <a:solidFill>
                <a:srgbClr val="E2E8F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8" name="Google Shape;88;p15"/>
            <p:cNvSpPr/>
            <p:nvPr/>
          </p:nvSpPr>
          <p:spPr>
            <a:xfrm>
              <a:off x="152400" y="152400"/>
              <a:ext cx="342900" cy="342900"/>
            </a:xfrm>
            <a:prstGeom prst="roundRect">
              <a:avLst>
                <a:gd fmla="val 11111" name="adj"/>
              </a:avLst>
            </a:prstGeom>
            <a:solidFill>
              <a:srgbClr val="F0F9FF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9" name="Google Shape;89;p15"/>
            <p:cNvSpPr txBox="1"/>
            <p:nvPr/>
          </p:nvSpPr>
          <p:spPr>
            <a:xfrm>
              <a:off x="152400" y="152400"/>
              <a:ext cx="342900" cy="3429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" sz="1050">
                  <a:solidFill>
                    <a:srgbClr val="2563EB"/>
                  </a:solidFill>
                  <a:latin typeface="Inter"/>
                  <a:ea typeface="Inter"/>
                  <a:cs typeface="Inter"/>
                  <a:sym typeface="Inter"/>
                </a:rPr>
                <a:t>03</a:t>
              </a:r>
              <a:endParaRPr b="1" sz="1050">
                <a:solidFill>
                  <a:srgbClr val="2563EB"/>
                </a:solidFill>
                <a:latin typeface="Inter"/>
                <a:ea typeface="Inter"/>
                <a:cs typeface="Inter"/>
                <a:sym typeface="Inter"/>
              </a:endParaRPr>
            </a:p>
          </p:txBody>
        </p:sp>
        <p:sp>
          <p:nvSpPr>
            <p:cNvPr id="90" name="Google Shape;90;p15"/>
            <p:cNvSpPr txBox="1"/>
            <p:nvPr/>
          </p:nvSpPr>
          <p:spPr>
            <a:xfrm>
              <a:off x="647700" y="114300"/>
              <a:ext cx="7162800" cy="4191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lang="en" sz="1125">
                  <a:solidFill>
                    <a:srgbClr val="0F172A"/>
                  </a:solidFill>
                  <a:latin typeface="Inter SemiBold"/>
                  <a:ea typeface="Inter SemiBold"/>
                  <a:cs typeface="Inter SemiBold"/>
                  <a:sym typeface="Inter SemiBold"/>
                </a:rPr>
                <a:t>Data Types &amp; Structural Constraints</a:t>
              </a:r>
              <a:endParaRPr b="0" sz="1125">
                <a:solidFill>
                  <a:srgbClr val="0F172A"/>
                </a:solidFill>
                <a:latin typeface="Inter SemiBold"/>
                <a:ea typeface="Inter SemiBold"/>
                <a:cs typeface="Inter SemiBold"/>
                <a:sym typeface="Inter SemiBold"/>
              </a:endParaRPr>
            </a:p>
            <a:p>
              <a:pPr indent="0" lvl="0" marL="0" rtl="0" algn="l">
                <a:spcBef>
                  <a:spcPts val="150"/>
                </a:spcBef>
                <a:spcAft>
                  <a:spcPts val="0"/>
                </a:spcAft>
                <a:buNone/>
              </a:pPr>
              <a:r>
                <a:rPr b="0" lang="en" sz="975">
                  <a:solidFill>
                    <a:srgbClr val="475569"/>
                  </a:solidFill>
                  <a:latin typeface="Inter"/>
                  <a:ea typeface="Inter"/>
                  <a:cs typeface="Inter"/>
                  <a:sym typeface="Inter"/>
                </a:rPr>
                <a:t>Defining precise column data types and applying key database constraints.</a:t>
              </a:r>
              <a:endParaRPr b="0" sz="975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endParaRPr>
            </a:p>
          </p:txBody>
        </p:sp>
      </p:grpSp>
      <p:grpSp>
        <p:nvGrpSpPr>
          <p:cNvPr id="91" name="Google Shape;91;p15"/>
          <p:cNvGrpSpPr/>
          <p:nvPr/>
        </p:nvGrpSpPr>
        <p:grpSpPr>
          <a:xfrm>
            <a:off x="571500" y="4000500"/>
            <a:ext cx="8001000" cy="647700"/>
            <a:chOff x="0" y="0"/>
            <a:chExt cx="8001000" cy="647700"/>
          </a:xfrm>
        </p:grpSpPr>
        <p:sp>
          <p:nvSpPr>
            <p:cNvPr id="92" name="Google Shape;92;p15"/>
            <p:cNvSpPr/>
            <p:nvPr/>
          </p:nvSpPr>
          <p:spPr>
            <a:xfrm>
              <a:off x="0" y="0"/>
              <a:ext cx="8001000" cy="647700"/>
            </a:xfrm>
            <a:prstGeom prst="roundRect">
              <a:avLst>
                <a:gd fmla="val 8823" name="adj"/>
              </a:avLst>
            </a:prstGeom>
            <a:solidFill>
              <a:srgbClr val="F8FAFC"/>
            </a:solidFill>
            <a:ln cap="flat" cmpd="sng" w="9525">
              <a:solidFill>
                <a:srgbClr val="E2E8F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3" name="Google Shape;93;p15"/>
            <p:cNvSpPr/>
            <p:nvPr/>
          </p:nvSpPr>
          <p:spPr>
            <a:xfrm>
              <a:off x="152400" y="152400"/>
              <a:ext cx="342900" cy="342900"/>
            </a:xfrm>
            <a:prstGeom prst="roundRect">
              <a:avLst>
                <a:gd fmla="val 11111" name="adj"/>
              </a:avLst>
            </a:prstGeom>
            <a:solidFill>
              <a:srgbClr val="F0F9FF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4" name="Google Shape;94;p15"/>
            <p:cNvSpPr txBox="1"/>
            <p:nvPr/>
          </p:nvSpPr>
          <p:spPr>
            <a:xfrm>
              <a:off x="152400" y="152400"/>
              <a:ext cx="342900" cy="3429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" sz="1050">
                  <a:solidFill>
                    <a:srgbClr val="2563EB"/>
                  </a:solidFill>
                  <a:latin typeface="Inter"/>
                  <a:ea typeface="Inter"/>
                  <a:cs typeface="Inter"/>
                  <a:sym typeface="Inter"/>
                </a:rPr>
                <a:t>04</a:t>
              </a:r>
              <a:endParaRPr b="1" sz="1050">
                <a:solidFill>
                  <a:srgbClr val="2563EB"/>
                </a:solidFill>
                <a:latin typeface="Inter"/>
                <a:ea typeface="Inter"/>
                <a:cs typeface="Inter"/>
                <a:sym typeface="Inter"/>
              </a:endParaRPr>
            </a:p>
          </p:txBody>
        </p:sp>
        <p:sp>
          <p:nvSpPr>
            <p:cNvPr id="95" name="Google Shape;95;p15"/>
            <p:cNvSpPr txBox="1"/>
            <p:nvPr/>
          </p:nvSpPr>
          <p:spPr>
            <a:xfrm>
              <a:off x="647700" y="114300"/>
              <a:ext cx="7162800" cy="4191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lang="en" sz="1125">
                  <a:solidFill>
                    <a:srgbClr val="0F172A"/>
                  </a:solidFill>
                  <a:latin typeface="Inter SemiBold"/>
                  <a:ea typeface="Inter SemiBold"/>
                  <a:cs typeface="Inter SemiBold"/>
                  <a:sym typeface="Inter SemiBold"/>
                </a:rPr>
                <a:t>Parent &amp; Child Table Execution Order</a:t>
              </a:r>
              <a:endParaRPr b="0" sz="1125">
                <a:solidFill>
                  <a:srgbClr val="0F172A"/>
                </a:solidFill>
                <a:latin typeface="Inter SemiBold"/>
                <a:ea typeface="Inter SemiBold"/>
                <a:cs typeface="Inter SemiBold"/>
                <a:sym typeface="Inter SemiBold"/>
              </a:endParaRPr>
            </a:p>
            <a:p>
              <a:pPr indent="0" lvl="0" marL="0" rtl="0" algn="l">
                <a:spcBef>
                  <a:spcPts val="150"/>
                </a:spcBef>
                <a:spcAft>
                  <a:spcPts val="0"/>
                </a:spcAft>
                <a:buNone/>
              </a:pPr>
              <a:r>
                <a:rPr b="0" lang="en" sz="975">
                  <a:solidFill>
                    <a:srgbClr val="475569"/>
                  </a:solidFill>
                  <a:latin typeface="Inter"/>
                  <a:ea typeface="Inter"/>
                  <a:cs typeface="Inter"/>
                  <a:sym typeface="Inter"/>
                </a:rPr>
                <a:t>Reviewing critical creation sequences required for relational integrity in RDBMS.</a:t>
              </a:r>
              <a:endParaRPr b="0" sz="975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endParaRPr>
            </a:p>
          </p:txBody>
        </p:sp>
      </p:grp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9" name="Shape 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Google Shape;100;p16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1" name="Google Shape;101;p16"/>
          <p:cNvSpPr/>
          <p:nvPr/>
        </p:nvSpPr>
        <p:spPr>
          <a:xfrm>
            <a:off x="590550" y="400050"/>
            <a:ext cx="190500" cy="190500"/>
          </a:xfrm>
          <a:custGeom>
            <a:rect b="b" l="l" r="r" t="t"/>
            <a:pathLst>
              <a:path extrusionOk="0" h="120000" w="120000">
                <a:moveTo>
                  <a:pt x="60000" y="0"/>
                </a:moveTo>
                <a:cubicBezTo>
                  <a:pt x="26880" y="0"/>
                  <a:pt x="0" y="26880"/>
                  <a:pt x="0" y="60000"/>
                </a:cubicBezTo>
                <a:lnTo>
                  <a:pt x="26880" y="120000"/>
                </a:lnTo>
                <a:lnTo>
                  <a:pt x="60000" y="120000"/>
                </a:lnTo>
                <a:lnTo>
                  <a:pt x="120000" y="93120"/>
                </a:lnTo>
                <a:lnTo>
                  <a:pt x="120000" y="60000"/>
                </a:lnTo>
                <a:lnTo>
                  <a:pt x="93120" y="0"/>
                </a:lnTo>
                <a:lnTo>
                  <a:pt x="60000" y="0"/>
                </a:lnTo>
                <a:close/>
                <a:moveTo>
                  <a:pt x="60000" y="108000"/>
                </a:moveTo>
                <a:cubicBezTo>
                  <a:pt x="33540" y="108000"/>
                  <a:pt x="12000" y="86460"/>
                  <a:pt x="12000" y="60000"/>
                </a:cubicBezTo>
                <a:lnTo>
                  <a:pt x="33540" y="12000"/>
                </a:lnTo>
                <a:lnTo>
                  <a:pt x="60000" y="12000"/>
                </a:lnTo>
                <a:lnTo>
                  <a:pt x="108000" y="33540"/>
                </a:lnTo>
                <a:lnTo>
                  <a:pt x="108000" y="60000"/>
                </a:lnTo>
                <a:lnTo>
                  <a:pt x="86460" y="108000"/>
                </a:lnTo>
                <a:lnTo>
                  <a:pt x="60000" y="108000"/>
                </a:lnTo>
                <a:close/>
                <a:moveTo>
                  <a:pt x="54000" y="30000"/>
                </a:moveTo>
                <a:lnTo>
                  <a:pt x="66000" y="30000"/>
                </a:lnTo>
                <a:lnTo>
                  <a:pt x="66000" y="66000"/>
                </a:lnTo>
                <a:lnTo>
                  <a:pt x="54000" y="66000"/>
                </a:lnTo>
                <a:close/>
                <a:moveTo>
                  <a:pt x="54000" y="78000"/>
                </a:moveTo>
                <a:lnTo>
                  <a:pt x="66000" y="78000"/>
                </a:lnTo>
                <a:lnTo>
                  <a:pt x="66000" y="90000"/>
                </a:lnTo>
                <a:lnTo>
                  <a:pt x="54000" y="90000"/>
                </a:lnTo>
                <a:close/>
              </a:path>
            </a:pathLst>
          </a:custGeom>
          <a:solidFill>
            <a:srgbClr val="2563EB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2" name="Google Shape;102;p16"/>
          <p:cNvSpPr txBox="1"/>
          <p:nvPr/>
        </p:nvSpPr>
        <p:spPr>
          <a:xfrm>
            <a:off x="914400" y="400050"/>
            <a:ext cx="70866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" sz="900">
                <a:solidFill>
                  <a:srgbClr val="475569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MAC 250: DATABASE ARCHITECTURE &amp; ENGINEERING</a:t>
            </a:r>
            <a:endParaRPr b="0" sz="900">
              <a:solidFill>
                <a:srgbClr val="475569"/>
              </a:solidFill>
              <a:latin typeface="Inter SemiBold"/>
              <a:ea typeface="Inter SemiBold"/>
              <a:cs typeface="Inter SemiBold"/>
              <a:sym typeface="Inter SemiBold"/>
            </a:endParaRPr>
          </a:p>
        </p:txBody>
      </p:sp>
      <p:grpSp>
        <p:nvGrpSpPr>
          <p:cNvPr id="103" name="Google Shape;103;p16"/>
          <p:cNvGrpSpPr/>
          <p:nvPr/>
        </p:nvGrpSpPr>
        <p:grpSpPr>
          <a:xfrm>
            <a:off x="571500" y="742950"/>
            <a:ext cx="8001000" cy="19200"/>
            <a:chOff x="0" y="0"/>
            <a:chExt cx="8001000" cy="19200"/>
          </a:xfrm>
        </p:grpSpPr>
        <p:sp>
          <p:nvSpPr>
            <p:cNvPr id="104" name="Google Shape;104;p16"/>
            <p:cNvSpPr/>
            <p:nvPr/>
          </p:nvSpPr>
          <p:spPr>
            <a:xfrm>
              <a:off x="0" y="0"/>
              <a:ext cx="8001000" cy="9600"/>
            </a:xfrm>
            <a:prstGeom prst="rect">
              <a:avLst/>
            </a:prstGeom>
            <a:solidFill>
              <a:srgbClr val="E2E8F0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5" name="Google Shape;105;p16"/>
            <p:cNvSpPr/>
            <p:nvPr/>
          </p:nvSpPr>
          <p:spPr>
            <a:xfrm>
              <a:off x="0" y="0"/>
              <a:ext cx="1143000" cy="19200"/>
            </a:xfrm>
            <a:prstGeom prst="rect">
              <a:avLst/>
            </a:prstGeom>
            <a:solidFill>
              <a:srgbClr val="2563EB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106" name="Google Shape;106;p16"/>
          <p:cNvSpPr txBox="1"/>
          <p:nvPr/>
        </p:nvSpPr>
        <p:spPr>
          <a:xfrm>
            <a:off x="571500" y="971550"/>
            <a:ext cx="8001000" cy="762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400">
                <a:solidFill>
                  <a:srgbClr val="0F172A"/>
                </a:solidFill>
                <a:latin typeface="Inter"/>
                <a:ea typeface="Inter"/>
                <a:cs typeface="Inter"/>
                <a:sym typeface="Inter"/>
              </a:rPr>
              <a:t>Welcome to Module 2</a:t>
            </a:r>
            <a:endParaRPr b="1" sz="2400">
              <a:solidFill>
                <a:srgbClr val="0F172A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0" lvl="0" marL="0" rtl="0" algn="l">
              <a:spcBef>
                <a:spcPts val="450"/>
              </a:spcBef>
              <a:spcAft>
                <a:spcPts val="0"/>
              </a:spcAft>
              <a:buNone/>
            </a:pPr>
            <a:r>
              <a:rPr b="0" lang="en" sz="1500">
                <a:solidFill>
                  <a:srgbClr val="2563EB"/>
                </a:solidFill>
                <a:latin typeface="Inter Medium"/>
                <a:ea typeface="Inter Medium"/>
                <a:cs typeface="Inter Medium"/>
                <a:sym typeface="Inter Medium"/>
              </a:rPr>
              <a:t>Transitioning from Data Architecture to Database Engineering</a:t>
            </a:r>
            <a:endParaRPr b="0" sz="1500">
              <a:solidFill>
                <a:srgbClr val="2563EB"/>
              </a:solidFill>
              <a:latin typeface="Inter Medium"/>
              <a:ea typeface="Inter Medium"/>
              <a:cs typeface="Inter Medium"/>
              <a:sym typeface="Inter Medium"/>
            </a:endParaRPr>
          </a:p>
        </p:txBody>
      </p:sp>
      <p:grpSp>
        <p:nvGrpSpPr>
          <p:cNvPr id="107" name="Google Shape;107;p16"/>
          <p:cNvGrpSpPr/>
          <p:nvPr/>
        </p:nvGrpSpPr>
        <p:grpSpPr>
          <a:xfrm>
            <a:off x="571500" y="1857375"/>
            <a:ext cx="3810000" cy="2714700"/>
            <a:chOff x="0" y="0"/>
            <a:chExt cx="3810000" cy="2714700"/>
          </a:xfrm>
        </p:grpSpPr>
        <p:sp>
          <p:nvSpPr>
            <p:cNvPr id="108" name="Google Shape;108;p16"/>
            <p:cNvSpPr/>
            <p:nvPr/>
          </p:nvSpPr>
          <p:spPr>
            <a:xfrm>
              <a:off x="0" y="0"/>
              <a:ext cx="3810000" cy="2714700"/>
            </a:xfrm>
            <a:prstGeom prst="roundRect">
              <a:avLst>
                <a:gd fmla="val 2807" name="adj"/>
              </a:avLst>
            </a:prstGeom>
            <a:solidFill>
              <a:srgbClr val="F8FAFC"/>
            </a:solidFill>
            <a:ln cap="flat" cmpd="sng" w="9525">
              <a:solidFill>
                <a:srgbClr val="E2E8F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9" name="Google Shape;109;p16"/>
            <p:cNvSpPr/>
            <p:nvPr/>
          </p:nvSpPr>
          <p:spPr>
            <a:xfrm>
              <a:off x="228600" y="228600"/>
              <a:ext cx="1143000" cy="228600"/>
            </a:xfrm>
            <a:prstGeom prst="roundRect">
              <a:avLst>
                <a:gd fmla="val 16666" name="adj"/>
              </a:avLst>
            </a:prstGeom>
            <a:solidFill>
              <a:srgbClr val="E2E8F0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0" name="Google Shape;110;p16"/>
            <p:cNvSpPr txBox="1"/>
            <p:nvPr/>
          </p:nvSpPr>
          <p:spPr>
            <a:xfrm>
              <a:off x="228600" y="228600"/>
              <a:ext cx="1143000" cy="2286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lang="en" sz="825">
                  <a:solidFill>
                    <a:srgbClr val="64748B"/>
                  </a:solidFill>
                  <a:latin typeface="Inter SemiBold"/>
                  <a:ea typeface="Inter SemiBold"/>
                  <a:cs typeface="Inter SemiBold"/>
                  <a:sym typeface="Inter SemiBold"/>
                </a:rPr>
                <a:t>MODULE 1 FOCUS</a:t>
              </a:r>
              <a:endParaRPr/>
            </a:p>
          </p:txBody>
        </p:sp>
        <p:sp>
          <p:nvSpPr>
            <p:cNvPr id="111" name="Google Shape;111;p16"/>
            <p:cNvSpPr txBox="1"/>
            <p:nvPr/>
          </p:nvSpPr>
          <p:spPr>
            <a:xfrm>
              <a:off x="228600" y="590550"/>
              <a:ext cx="3352800" cy="1905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" sz="1500">
                  <a:solidFill>
                    <a:srgbClr val="0F172A"/>
                  </a:solidFill>
                  <a:latin typeface="Inter"/>
                  <a:ea typeface="Inter"/>
                  <a:cs typeface="Inter"/>
                  <a:sym typeface="Inter"/>
                </a:rPr>
                <a:t>Database Architects</a:t>
              </a:r>
              <a:endParaRPr b="1" sz="1500">
                <a:solidFill>
                  <a:srgbClr val="0F172A"/>
                </a:solidFill>
                <a:latin typeface="Inter"/>
                <a:ea typeface="Inter"/>
                <a:cs typeface="Inter"/>
                <a:sym typeface="Inter"/>
              </a:endParaRPr>
            </a:p>
            <a:p>
              <a:pPr indent="0" lvl="0" marL="0" rtl="0" algn="l">
                <a:spcBef>
                  <a:spcPts val="900"/>
                </a:spcBef>
                <a:spcAft>
                  <a:spcPts val="0"/>
                </a:spcAft>
                <a:buNone/>
              </a:pPr>
              <a:r>
                <a:rPr b="0" lang="en" sz="1125">
                  <a:solidFill>
                    <a:srgbClr val="475569"/>
                  </a:solidFill>
                  <a:latin typeface="Inter"/>
                  <a:ea typeface="Inter"/>
                  <a:cs typeface="Inter"/>
                  <a:sym typeface="Inter"/>
                </a:rPr>
                <a:t>In Module 1, the focus was on acting as Database Architects.</a:t>
              </a:r>
              <a:endParaRPr b="0" sz="1125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endParaRPr>
            </a:p>
            <a:p>
              <a:pPr indent="0" lvl="0" marL="0" rtl="0" algn="l">
                <a:spcBef>
                  <a:spcPts val="1050"/>
                </a:spcBef>
                <a:spcAft>
                  <a:spcPts val="0"/>
                </a:spcAft>
                <a:buNone/>
              </a:pPr>
              <a:r>
                <a:rPr b="0" lang="en" sz="1125">
                  <a:solidFill>
                    <a:srgbClr val="475569"/>
                  </a:solidFill>
                  <a:latin typeface="Inter"/>
                  <a:ea typeface="Inter"/>
                  <a:cs typeface="Inter"/>
                  <a:sym typeface="Inter"/>
                </a:rPr>
                <a:t>Designing the underlying logic</a:t>
              </a:r>
              <a:endParaRPr/>
            </a:p>
            <a:p>
              <a:pPr indent="0" lvl="0" marL="0" rtl="0" algn="l">
                <a:spcBef>
                  <a:spcPts val="600"/>
                </a:spcBef>
                <a:spcAft>
                  <a:spcPts val="0"/>
                </a:spcAft>
                <a:buNone/>
              </a:pPr>
              <a:r>
                <a:rPr b="0" lang="en" sz="1125">
                  <a:solidFill>
                    <a:srgbClr val="475569"/>
                  </a:solidFill>
                  <a:latin typeface="Inter"/>
                  <a:ea typeface="Inter"/>
                  <a:cs typeface="Inter"/>
                  <a:sym typeface="Inter"/>
                </a:rPr>
                <a:t>Defining entity relationships</a:t>
              </a:r>
              <a:endParaRPr/>
            </a:p>
            <a:p>
              <a:pPr indent="0" lvl="0" marL="0" rtl="0" algn="l">
                <a:spcBef>
                  <a:spcPts val="600"/>
                </a:spcBef>
                <a:spcAft>
                  <a:spcPts val="0"/>
                </a:spcAft>
                <a:buNone/>
              </a:pPr>
              <a:r>
                <a:rPr b="0" lang="en" sz="1125">
                  <a:solidFill>
                    <a:srgbClr val="475569"/>
                  </a:solidFill>
                  <a:latin typeface="Inter"/>
                  <a:ea typeface="Inter"/>
                  <a:cs typeface="Inter"/>
                  <a:sym typeface="Inter"/>
                </a:rPr>
                <a:t>Normalizing data structures</a:t>
              </a:r>
              <a:endParaRPr/>
            </a:p>
          </p:txBody>
        </p:sp>
      </p:grpSp>
      <p:grpSp>
        <p:nvGrpSpPr>
          <p:cNvPr id="112" name="Google Shape;112;p16"/>
          <p:cNvGrpSpPr/>
          <p:nvPr/>
        </p:nvGrpSpPr>
        <p:grpSpPr>
          <a:xfrm>
            <a:off x="4762500" y="1857375"/>
            <a:ext cx="3810000" cy="2714700"/>
            <a:chOff x="0" y="0"/>
            <a:chExt cx="3810000" cy="2714700"/>
          </a:xfrm>
        </p:grpSpPr>
        <p:sp>
          <p:nvSpPr>
            <p:cNvPr id="113" name="Google Shape;113;p16"/>
            <p:cNvSpPr/>
            <p:nvPr/>
          </p:nvSpPr>
          <p:spPr>
            <a:xfrm>
              <a:off x="0" y="0"/>
              <a:ext cx="3810000" cy="2714700"/>
            </a:xfrm>
            <a:prstGeom prst="roundRect">
              <a:avLst>
                <a:gd fmla="val 2807" name="adj"/>
              </a:avLst>
            </a:prstGeom>
            <a:solidFill>
              <a:srgbClr val="F0F9FF"/>
            </a:solidFill>
            <a:ln cap="flat" cmpd="sng" w="9525">
              <a:solidFill>
                <a:srgbClr val="BFDBFE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4" name="Google Shape;114;p16"/>
            <p:cNvSpPr/>
            <p:nvPr/>
          </p:nvSpPr>
          <p:spPr>
            <a:xfrm>
              <a:off x="0" y="0"/>
              <a:ext cx="76200" cy="2714700"/>
            </a:xfrm>
            <a:custGeom>
              <a:rect b="b" l="l" r="r" t="t"/>
              <a:pathLst>
                <a:path extrusionOk="0" h="120000" w="120000">
                  <a:moveTo>
                    <a:pt x="0" y="3368"/>
                  </a:moveTo>
                  <a:quadBezTo>
                    <a:pt x="0" y="0"/>
                    <a:pt x="120000" y="0"/>
                  </a:quadBezTo>
                  <a:lnTo>
                    <a:pt x="120000" y="120000"/>
                  </a:lnTo>
                  <a:lnTo>
                    <a:pt x="120000" y="120000"/>
                  </a:lnTo>
                  <a:quadBezTo>
                    <a:pt x="0" y="120000"/>
                    <a:pt x="0" y="116632"/>
                  </a:quadBezTo>
                  <a:close/>
                </a:path>
              </a:pathLst>
            </a:custGeom>
            <a:solidFill>
              <a:srgbClr val="2563EB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5" name="Google Shape;115;p16"/>
            <p:cNvSpPr/>
            <p:nvPr/>
          </p:nvSpPr>
          <p:spPr>
            <a:xfrm>
              <a:off x="228600" y="228600"/>
              <a:ext cx="1190700" cy="228600"/>
            </a:xfrm>
            <a:prstGeom prst="roundRect">
              <a:avLst>
                <a:gd fmla="val 16666" name="adj"/>
              </a:avLst>
            </a:prstGeom>
            <a:solidFill>
              <a:srgbClr val="DBEAFE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6" name="Google Shape;116;p16"/>
            <p:cNvSpPr txBox="1"/>
            <p:nvPr/>
          </p:nvSpPr>
          <p:spPr>
            <a:xfrm>
              <a:off x="228600" y="228600"/>
              <a:ext cx="1190700" cy="2286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lang="en" sz="825">
                  <a:solidFill>
                    <a:srgbClr val="2563EB"/>
                  </a:solidFill>
                  <a:latin typeface="Inter SemiBold"/>
                  <a:ea typeface="Inter SemiBold"/>
                  <a:cs typeface="Inter SemiBold"/>
                  <a:sym typeface="Inter SemiBold"/>
                </a:rPr>
                <a:t>MODULE 2 ACTIVE</a:t>
              </a:r>
              <a:endParaRPr/>
            </a:p>
          </p:txBody>
        </p:sp>
        <p:sp>
          <p:nvSpPr>
            <p:cNvPr id="117" name="Google Shape;117;p16"/>
            <p:cNvSpPr txBox="1"/>
            <p:nvPr/>
          </p:nvSpPr>
          <p:spPr>
            <a:xfrm>
              <a:off x="228600" y="590550"/>
              <a:ext cx="3352800" cy="1905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" sz="1500">
                  <a:solidFill>
                    <a:srgbClr val="2563EB"/>
                  </a:solidFill>
                  <a:latin typeface="Inter"/>
                  <a:ea typeface="Inter"/>
                  <a:cs typeface="Inter"/>
                  <a:sym typeface="Inter"/>
                </a:rPr>
                <a:t>Database Engineers</a:t>
              </a:r>
              <a:endParaRPr b="1" sz="1500">
                <a:solidFill>
                  <a:srgbClr val="2563EB"/>
                </a:solidFill>
                <a:latin typeface="Inter"/>
                <a:ea typeface="Inter"/>
                <a:cs typeface="Inter"/>
                <a:sym typeface="Inter"/>
              </a:endParaRPr>
            </a:p>
            <a:p>
              <a:pPr indent="0" lvl="0" marL="0" rtl="0" algn="l">
                <a:spcBef>
                  <a:spcPts val="900"/>
                </a:spcBef>
                <a:spcAft>
                  <a:spcPts val="0"/>
                </a:spcAft>
                <a:buNone/>
              </a:pPr>
              <a:r>
                <a:rPr b="0" lang="en" sz="1125">
                  <a:solidFill>
                    <a:srgbClr val="0F172A"/>
                  </a:solidFill>
                  <a:latin typeface="Inter"/>
                  <a:ea typeface="Inter"/>
                  <a:cs typeface="Inter"/>
                  <a:sym typeface="Inter"/>
                </a:rPr>
                <a:t>In Module 2, the role shifts to Database Engineers.</a:t>
              </a:r>
              <a:endParaRPr b="0" sz="1125">
                <a:solidFill>
                  <a:srgbClr val="0F172A"/>
                </a:solidFill>
                <a:latin typeface="Inter"/>
                <a:ea typeface="Inter"/>
                <a:cs typeface="Inter"/>
                <a:sym typeface="Inter"/>
              </a:endParaRPr>
            </a:p>
            <a:p>
              <a:pPr indent="0" lvl="0" marL="0" rtl="0" algn="l">
                <a:spcBef>
                  <a:spcPts val="1050"/>
                </a:spcBef>
                <a:spcAft>
                  <a:spcPts val="0"/>
                </a:spcAft>
                <a:buNone/>
              </a:pPr>
              <a:r>
                <a:rPr b="0" lang="en" sz="1125">
                  <a:solidFill>
                    <a:srgbClr val="1E293B"/>
                  </a:solidFill>
                  <a:latin typeface="Inter"/>
                  <a:ea typeface="Inter"/>
                  <a:cs typeface="Inter"/>
                  <a:sym typeface="Inter"/>
                </a:rPr>
                <a:t>Writing the actual code required to construct the physical database schema</a:t>
              </a:r>
              <a:endParaRPr/>
            </a:p>
            <a:p>
              <a:pPr indent="0" lvl="0" marL="0" rtl="0" algn="l">
                <a:spcBef>
                  <a:spcPts val="600"/>
                </a:spcBef>
                <a:spcAft>
                  <a:spcPts val="0"/>
                </a:spcAft>
                <a:buNone/>
              </a:pPr>
              <a:r>
                <a:rPr b="0" lang="en" sz="1125">
                  <a:solidFill>
                    <a:srgbClr val="1E293B"/>
                  </a:solidFill>
                  <a:latin typeface="Inter"/>
                  <a:ea typeface="Inter"/>
                  <a:cs typeface="Inter"/>
                  <a:sym typeface="Inter"/>
                </a:rPr>
                <a:t>Implementing architectural blueprints into functional, queryable systems</a:t>
              </a:r>
              <a:endParaRPr/>
            </a:p>
          </p:txBody>
        </p:sp>
      </p:grp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1" name="Shape 1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" name="Google Shape;122;p17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123" name="Google Shape;123;p17"/>
          <p:cNvGrpSpPr/>
          <p:nvPr/>
        </p:nvGrpSpPr>
        <p:grpSpPr>
          <a:xfrm>
            <a:off x="571500" y="400050"/>
            <a:ext cx="8001000" cy="381150"/>
            <a:chOff x="571500" y="400050"/>
            <a:chExt cx="8001000" cy="381150"/>
          </a:xfrm>
        </p:grpSpPr>
        <p:sp>
          <p:nvSpPr>
            <p:cNvPr id="124" name="Google Shape;124;p17"/>
            <p:cNvSpPr/>
            <p:nvPr/>
          </p:nvSpPr>
          <p:spPr>
            <a:xfrm>
              <a:off x="590550" y="400050"/>
              <a:ext cx="190500" cy="190500"/>
            </a:xfrm>
            <a:custGeom>
              <a:rect b="b" l="l" r="r" t="t"/>
              <a:pathLst>
                <a:path extrusionOk="0" h="120000" w="120000">
                  <a:moveTo>
                    <a:pt x="60000" y="0"/>
                  </a:moveTo>
                  <a:cubicBezTo>
                    <a:pt x="26880" y="0"/>
                    <a:pt x="0" y="26880"/>
                    <a:pt x="0" y="60000"/>
                  </a:cubicBezTo>
                  <a:lnTo>
                    <a:pt x="26880" y="120000"/>
                  </a:lnTo>
                  <a:lnTo>
                    <a:pt x="60000" y="120000"/>
                  </a:lnTo>
                  <a:lnTo>
                    <a:pt x="120000" y="93120"/>
                  </a:lnTo>
                  <a:lnTo>
                    <a:pt x="120000" y="60000"/>
                  </a:lnTo>
                  <a:lnTo>
                    <a:pt x="93120" y="0"/>
                  </a:lnTo>
                  <a:lnTo>
                    <a:pt x="60000" y="0"/>
                  </a:lnTo>
                  <a:close/>
                  <a:moveTo>
                    <a:pt x="60000" y="108000"/>
                  </a:moveTo>
                  <a:cubicBezTo>
                    <a:pt x="33540" y="108000"/>
                    <a:pt x="12000" y="86460"/>
                    <a:pt x="12000" y="60000"/>
                  </a:cubicBezTo>
                  <a:lnTo>
                    <a:pt x="33540" y="12000"/>
                  </a:lnTo>
                  <a:lnTo>
                    <a:pt x="60000" y="12000"/>
                  </a:lnTo>
                  <a:lnTo>
                    <a:pt x="108000" y="33540"/>
                  </a:lnTo>
                  <a:lnTo>
                    <a:pt x="108000" y="60000"/>
                  </a:lnTo>
                  <a:lnTo>
                    <a:pt x="86460" y="108000"/>
                  </a:lnTo>
                  <a:lnTo>
                    <a:pt x="60000" y="108000"/>
                  </a:lnTo>
                  <a:close/>
                  <a:moveTo>
                    <a:pt x="54000" y="30000"/>
                  </a:moveTo>
                  <a:lnTo>
                    <a:pt x="66000" y="30000"/>
                  </a:lnTo>
                  <a:lnTo>
                    <a:pt x="66000" y="66000"/>
                  </a:lnTo>
                  <a:lnTo>
                    <a:pt x="54000" y="66000"/>
                  </a:lnTo>
                  <a:close/>
                  <a:moveTo>
                    <a:pt x="54000" y="78000"/>
                  </a:moveTo>
                  <a:lnTo>
                    <a:pt x="66000" y="78000"/>
                  </a:lnTo>
                  <a:lnTo>
                    <a:pt x="66000" y="90000"/>
                  </a:lnTo>
                  <a:lnTo>
                    <a:pt x="54000" y="90000"/>
                  </a:lnTo>
                  <a:close/>
                </a:path>
              </a:pathLst>
            </a:custGeom>
            <a:solidFill>
              <a:srgbClr val="2563EB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5" name="Google Shape;125;p17"/>
            <p:cNvSpPr txBox="1"/>
            <p:nvPr/>
          </p:nvSpPr>
          <p:spPr>
            <a:xfrm>
              <a:off x="914400" y="400050"/>
              <a:ext cx="7086600" cy="2286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lang="en" sz="900">
                  <a:solidFill>
                    <a:srgbClr val="475569"/>
                  </a:solidFill>
                  <a:latin typeface="Inter SemiBold"/>
                  <a:ea typeface="Inter SemiBold"/>
                  <a:cs typeface="Inter SemiBold"/>
                  <a:sym typeface="Inter SemiBold"/>
                </a:rPr>
                <a:t>MAC 250: DATABASE ARCHITECTURE &amp; ENGINEERING</a:t>
              </a:r>
              <a:endParaRPr b="0" sz="900">
                <a:solidFill>
                  <a:srgbClr val="475569"/>
                </a:solidFill>
                <a:latin typeface="Inter SemiBold"/>
                <a:ea typeface="Inter SemiBold"/>
                <a:cs typeface="Inter SemiBold"/>
                <a:sym typeface="Inter SemiBold"/>
              </a:endParaRPr>
            </a:p>
          </p:txBody>
        </p:sp>
        <p:grpSp>
          <p:nvGrpSpPr>
            <p:cNvPr id="126" name="Google Shape;126;p17"/>
            <p:cNvGrpSpPr/>
            <p:nvPr/>
          </p:nvGrpSpPr>
          <p:grpSpPr>
            <a:xfrm>
              <a:off x="571500" y="762000"/>
              <a:ext cx="8001000" cy="19200"/>
              <a:chOff x="0" y="0"/>
              <a:chExt cx="8001000" cy="19200"/>
            </a:xfrm>
          </p:grpSpPr>
          <p:sp>
            <p:nvSpPr>
              <p:cNvPr id="127" name="Google Shape;127;p17"/>
              <p:cNvSpPr/>
              <p:nvPr/>
            </p:nvSpPr>
            <p:spPr>
              <a:xfrm>
                <a:off x="0" y="0"/>
                <a:ext cx="8001000" cy="9600"/>
              </a:xfrm>
              <a:prstGeom prst="rect">
                <a:avLst/>
              </a:prstGeom>
              <a:solidFill>
                <a:srgbClr val="E2E8F0"/>
              </a:solidFill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28" name="Google Shape;128;p17"/>
              <p:cNvSpPr/>
              <p:nvPr/>
            </p:nvSpPr>
            <p:spPr>
              <a:xfrm>
                <a:off x="0" y="0"/>
                <a:ext cx="1143000" cy="19200"/>
              </a:xfrm>
              <a:prstGeom prst="rect">
                <a:avLst/>
              </a:prstGeom>
              <a:solidFill>
                <a:srgbClr val="2563EB"/>
              </a:solidFill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</p:grpSp>
      <p:sp>
        <p:nvSpPr>
          <p:cNvPr id="129" name="Google Shape;129;p17"/>
          <p:cNvSpPr txBox="1"/>
          <p:nvPr/>
        </p:nvSpPr>
        <p:spPr>
          <a:xfrm>
            <a:off x="571500" y="971550"/>
            <a:ext cx="80010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400">
                <a:solidFill>
                  <a:srgbClr val="0F172A"/>
                </a:solidFill>
                <a:latin typeface="Inter"/>
                <a:ea typeface="Inter"/>
                <a:cs typeface="Inter"/>
                <a:sym typeface="Inter"/>
              </a:rPr>
              <a:t>What is SQL?</a:t>
            </a:r>
            <a:endParaRPr b="1" sz="2400">
              <a:solidFill>
                <a:srgbClr val="0F172A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grpSp>
        <p:nvGrpSpPr>
          <p:cNvPr id="130" name="Google Shape;130;p17"/>
          <p:cNvGrpSpPr/>
          <p:nvPr/>
        </p:nvGrpSpPr>
        <p:grpSpPr>
          <a:xfrm>
            <a:off x="571500" y="1476375"/>
            <a:ext cx="8001000" cy="1238400"/>
            <a:chOff x="0" y="0"/>
            <a:chExt cx="8001000" cy="1238400"/>
          </a:xfrm>
        </p:grpSpPr>
        <p:sp>
          <p:nvSpPr>
            <p:cNvPr id="131" name="Google Shape;131;p17"/>
            <p:cNvSpPr/>
            <p:nvPr/>
          </p:nvSpPr>
          <p:spPr>
            <a:xfrm>
              <a:off x="0" y="0"/>
              <a:ext cx="8001000" cy="1238400"/>
            </a:xfrm>
            <a:prstGeom prst="roundRect">
              <a:avLst>
                <a:gd fmla="val 6153" name="adj"/>
              </a:avLst>
            </a:prstGeom>
            <a:solidFill>
              <a:srgbClr val="F0F9FF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2" name="Google Shape;132;p17"/>
            <p:cNvSpPr/>
            <p:nvPr/>
          </p:nvSpPr>
          <p:spPr>
            <a:xfrm>
              <a:off x="0" y="0"/>
              <a:ext cx="76200" cy="1238400"/>
            </a:xfrm>
            <a:custGeom>
              <a:rect b="b" l="l" r="r" t="t"/>
              <a:pathLst>
                <a:path extrusionOk="0" h="120000" w="120000">
                  <a:moveTo>
                    <a:pt x="0" y="7385"/>
                  </a:moveTo>
                  <a:quadBezTo>
                    <a:pt x="0" y="0"/>
                    <a:pt x="120000" y="0"/>
                  </a:quadBezTo>
                  <a:lnTo>
                    <a:pt x="120000" y="120000"/>
                  </a:lnTo>
                  <a:lnTo>
                    <a:pt x="120000" y="120000"/>
                  </a:lnTo>
                  <a:quadBezTo>
                    <a:pt x="0" y="120000"/>
                    <a:pt x="0" y="112615"/>
                  </a:quadBezTo>
                  <a:close/>
                </a:path>
              </a:pathLst>
            </a:custGeom>
            <a:solidFill>
              <a:srgbClr val="2563EB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3" name="Google Shape;133;p17"/>
            <p:cNvSpPr txBox="1"/>
            <p:nvPr/>
          </p:nvSpPr>
          <p:spPr>
            <a:xfrm>
              <a:off x="304800" y="190500"/>
              <a:ext cx="7391400" cy="8574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lang="en" sz="1500">
                  <a:solidFill>
                    <a:srgbClr val="2563EB"/>
                  </a:solidFill>
                  <a:latin typeface="Inter Medium"/>
                  <a:ea typeface="Inter Medium"/>
                  <a:cs typeface="Inter Medium"/>
                  <a:sym typeface="Inter Medium"/>
                </a:rPr>
                <a:t>Structured Query Language</a:t>
              </a:r>
              <a:endParaRPr b="0" sz="1500">
                <a:solidFill>
                  <a:srgbClr val="2563EB"/>
                </a:solidFill>
                <a:latin typeface="Inter Medium"/>
                <a:ea typeface="Inter Medium"/>
                <a:cs typeface="Inter Medium"/>
                <a:sym typeface="Inter Medium"/>
              </a:endParaRPr>
            </a:p>
            <a:p>
              <a:pPr indent="0" lvl="0" marL="0" rtl="0" algn="l">
                <a:spcBef>
                  <a:spcPts val="600"/>
                </a:spcBef>
                <a:spcAft>
                  <a:spcPts val="0"/>
                </a:spcAft>
                <a:buNone/>
              </a:pPr>
              <a:r>
                <a:rPr b="0" lang="en" sz="1200">
                  <a:solidFill>
                    <a:srgbClr val="475569"/>
                  </a:solidFill>
                  <a:latin typeface="Inter"/>
                  <a:ea typeface="Inter"/>
                  <a:cs typeface="Inter"/>
                  <a:sym typeface="Inter"/>
                </a:rPr>
                <a:t>Structured Query Language is the standard programming language used to communicate with Relational Database Management Systems (RDBMS).</a:t>
              </a:r>
              <a:endParaRPr b="0" sz="1200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endParaRPr>
            </a:p>
          </p:txBody>
        </p:sp>
      </p:grpSp>
      <p:grpSp>
        <p:nvGrpSpPr>
          <p:cNvPr id="134" name="Google Shape;134;p17"/>
          <p:cNvGrpSpPr/>
          <p:nvPr/>
        </p:nvGrpSpPr>
        <p:grpSpPr>
          <a:xfrm>
            <a:off x="571500" y="2905125"/>
            <a:ext cx="8001000" cy="1714500"/>
            <a:chOff x="0" y="0"/>
            <a:chExt cx="8001000" cy="1714500"/>
          </a:xfrm>
        </p:grpSpPr>
        <p:sp>
          <p:nvSpPr>
            <p:cNvPr id="135" name="Google Shape;135;p17"/>
            <p:cNvSpPr/>
            <p:nvPr/>
          </p:nvSpPr>
          <p:spPr>
            <a:xfrm>
              <a:off x="0" y="0"/>
              <a:ext cx="8001000" cy="1714500"/>
            </a:xfrm>
            <a:prstGeom prst="roundRect">
              <a:avLst>
                <a:gd fmla="val 4444" name="adj"/>
              </a:avLst>
            </a:prstGeom>
            <a:solidFill>
              <a:srgbClr val="F8FAFC"/>
            </a:solidFill>
            <a:ln cap="flat" cmpd="sng" w="9525">
              <a:solidFill>
                <a:srgbClr val="E2E8F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6" name="Google Shape;136;p17"/>
            <p:cNvSpPr/>
            <p:nvPr/>
          </p:nvSpPr>
          <p:spPr>
            <a:xfrm>
              <a:off x="0" y="0"/>
              <a:ext cx="76200" cy="1714500"/>
            </a:xfrm>
            <a:custGeom>
              <a:rect b="b" l="l" r="r" t="t"/>
              <a:pathLst>
                <a:path extrusionOk="0" h="120000" w="120000">
                  <a:moveTo>
                    <a:pt x="0" y="5333"/>
                  </a:moveTo>
                  <a:quadBezTo>
                    <a:pt x="0" y="0"/>
                    <a:pt x="120000" y="0"/>
                  </a:quadBezTo>
                  <a:lnTo>
                    <a:pt x="120000" y="120000"/>
                  </a:lnTo>
                  <a:lnTo>
                    <a:pt x="120000" y="120000"/>
                  </a:lnTo>
                  <a:quadBezTo>
                    <a:pt x="0" y="120000"/>
                    <a:pt x="0" y="114667"/>
                  </a:quadBezTo>
                  <a:close/>
                </a:path>
              </a:pathLst>
            </a:custGeom>
            <a:solidFill>
              <a:srgbClr val="2563EB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7" name="Google Shape;137;p17"/>
            <p:cNvSpPr txBox="1"/>
            <p:nvPr/>
          </p:nvSpPr>
          <p:spPr>
            <a:xfrm>
              <a:off x="304800" y="228600"/>
              <a:ext cx="7391400" cy="12573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lang="en" sz="1500">
                  <a:solidFill>
                    <a:srgbClr val="2563EB"/>
                  </a:solidFill>
                  <a:latin typeface="Inter Medium"/>
                  <a:ea typeface="Inter Medium"/>
                  <a:cs typeface="Inter Medium"/>
                  <a:sym typeface="Inter Medium"/>
                </a:rPr>
                <a:t>Declarative Language Nature</a:t>
              </a:r>
              <a:endParaRPr b="0" sz="1500">
                <a:solidFill>
                  <a:srgbClr val="2563EB"/>
                </a:solidFill>
                <a:latin typeface="Inter Medium"/>
                <a:ea typeface="Inter Medium"/>
                <a:cs typeface="Inter Medium"/>
                <a:sym typeface="Inter Medium"/>
              </a:endParaRPr>
            </a:p>
            <a:p>
              <a:pPr indent="0" lvl="0" marL="0" rtl="0" algn="l">
                <a:spcBef>
                  <a:spcPts val="600"/>
                </a:spcBef>
                <a:spcAft>
                  <a:spcPts val="0"/>
                </a:spcAft>
                <a:buNone/>
              </a:pPr>
              <a:r>
                <a:rPr b="0" lang="en" sz="1200">
                  <a:solidFill>
                    <a:srgbClr val="475569"/>
                  </a:solidFill>
                  <a:latin typeface="Inter"/>
                  <a:ea typeface="Inter"/>
                  <a:cs typeface="Inter"/>
                  <a:sym typeface="Inter"/>
                </a:rPr>
                <a:t>A key characteristic of SQL is that it is declarative.</a:t>
              </a:r>
              <a:endParaRPr b="0" sz="1200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endParaRPr>
            </a:p>
            <a:p>
              <a:pPr indent="0" lvl="0" marL="0" rtl="0" algn="l">
                <a:spcBef>
                  <a:spcPts val="600"/>
                </a:spcBef>
                <a:spcAft>
                  <a:spcPts val="0"/>
                </a:spcAft>
                <a:buNone/>
              </a:pPr>
              <a:r>
                <a:rPr b="0" lang="en" sz="1200">
                  <a:solidFill>
                    <a:srgbClr val="475569"/>
                  </a:solidFill>
                  <a:latin typeface="Inter"/>
                  <a:ea typeface="Inter"/>
                  <a:cs typeface="Inter"/>
                  <a:sym typeface="Inter"/>
                </a:rPr>
                <a:t>This means you instruct the database on what specific outcome or data you want to retrieve, rather than writing step-by-step procedural instructions on how to execute the retrieval.</a:t>
              </a:r>
              <a:endParaRPr b="0" sz="1200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endParaRPr>
            </a:p>
          </p:txBody>
        </p:sp>
      </p:grp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1" name="Shape 1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2" name="Google Shape;142;p18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143" name="Google Shape;143;p18"/>
          <p:cNvGrpSpPr/>
          <p:nvPr/>
        </p:nvGrpSpPr>
        <p:grpSpPr>
          <a:xfrm>
            <a:off x="571500" y="400050"/>
            <a:ext cx="8001000" cy="343050"/>
            <a:chOff x="571500" y="400050"/>
            <a:chExt cx="8001000" cy="343050"/>
          </a:xfrm>
        </p:grpSpPr>
        <p:sp>
          <p:nvSpPr>
            <p:cNvPr id="144" name="Google Shape;144;p18"/>
            <p:cNvSpPr/>
            <p:nvPr/>
          </p:nvSpPr>
          <p:spPr>
            <a:xfrm>
              <a:off x="590550" y="400050"/>
              <a:ext cx="190500" cy="190500"/>
            </a:xfrm>
            <a:custGeom>
              <a:rect b="b" l="l" r="r" t="t"/>
              <a:pathLst>
                <a:path extrusionOk="0" h="120000" w="120000">
                  <a:moveTo>
                    <a:pt x="60000" y="0"/>
                  </a:moveTo>
                  <a:cubicBezTo>
                    <a:pt x="26880" y="0"/>
                    <a:pt x="0" y="26880"/>
                    <a:pt x="0" y="60000"/>
                  </a:cubicBezTo>
                  <a:lnTo>
                    <a:pt x="26880" y="120000"/>
                  </a:lnTo>
                  <a:lnTo>
                    <a:pt x="60000" y="120000"/>
                  </a:lnTo>
                  <a:lnTo>
                    <a:pt x="120000" y="93120"/>
                  </a:lnTo>
                  <a:lnTo>
                    <a:pt x="120000" y="60000"/>
                  </a:lnTo>
                  <a:lnTo>
                    <a:pt x="93120" y="0"/>
                  </a:lnTo>
                  <a:lnTo>
                    <a:pt x="60000" y="0"/>
                  </a:lnTo>
                  <a:close/>
                  <a:moveTo>
                    <a:pt x="60000" y="108000"/>
                  </a:moveTo>
                  <a:cubicBezTo>
                    <a:pt x="33540" y="108000"/>
                    <a:pt x="12000" y="86460"/>
                    <a:pt x="12000" y="60000"/>
                  </a:cubicBezTo>
                  <a:lnTo>
                    <a:pt x="33540" y="12000"/>
                  </a:lnTo>
                  <a:lnTo>
                    <a:pt x="60000" y="12000"/>
                  </a:lnTo>
                  <a:lnTo>
                    <a:pt x="108000" y="33540"/>
                  </a:lnTo>
                  <a:lnTo>
                    <a:pt x="108000" y="60000"/>
                  </a:lnTo>
                  <a:lnTo>
                    <a:pt x="86460" y="108000"/>
                  </a:lnTo>
                  <a:lnTo>
                    <a:pt x="60000" y="108000"/>
                  </a:lnTo>
                  <a:close/>
                  <a:moveTo>
                    <a:pt x="54000" y="30000"/>
                  </a:moveTo>
                  <a:lnTo>
                    <a:pt x="66000" y="30000"/>
                  </a:lnTo>
                  <a:lnTo>
                    <a:pt x="66000" y="66000"/>
                  </a:lnTo>
                  <a:lnTo>
                    <a:pt x="54000" y="66000"/>
                  </a:lnTo>
                  <a:close/>
                  <a:moveTo>
                    <a:pt x="54000" y="78000"/>
                  </a:moveTo>
                  <a:lnTo>
                    <a:pt x="66000" y="78000"/>
                  </a:lnTo>
                  <a:lnTo>
                    <a:pt x="66000" y="90000"/>
                  </a:lnTo>
                  <a:lnTo>
                    <a:pt x="54000" y="90000"/>
                  </a:lnTo>
                  <a:close/>
                </a:path>
              </a:pathLst>
            </a:custGeom>
            <a:solidFill>
              <a:srgbClr val="2563EB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5" name="Google Shape;145;p18"/>
            <p:cNvSpPr txBox="1"/>
            <p:nvPr/>
          </p:nvSpPr>
          <p:spPr>
            <a:xfrm>
              <a:off x="914400" y="400050"/>
              <a:ext cx="7086600" cy="2286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lang="en" sz="900">
                  <a:solidFill>
                    <a:srgbClr val="475569"/>
                  </a:solidFill>
                  <a:latin typeface="Inter SemiBold"/>
                  <a:ea typeface="Inter SemiBold"/>
                  <a:cs typeface="Inter SemiBold"/>
                  <a:sym typeface="Inter SemiBold"/>
                </a:rPr>
                <a:t>MAC 250: DATABASE ARCHITECTURE &amp; ENGINEERING</a:t>
              </a:r>
              <a:endParaRPr b="0" sz="900">
                <a:solidFill>
                  <a:srgbClr val="475569"/>
                </a:solidFill>
                <a:latin typeface="Inter SemiBold"/>
                <a:ea typeface="Inter SemiBold"/>
                <a:cs typeface="Inter SemiBold"/>
                <a:sym typeface="Inter SemiBold"/>
              </a:endParaRPr>
            </a:p>
          </p:txBody>
        </p:sp>
        <p:grpSp>
          <p:nvGrpSpPr>
            <p:cNvPr id="146" name="Google Shape;146;p18"/>
            <p:cNvGrpSpPr/>
            <p:nvPr/>
          </p:nvGrpSpPr>
          <p:grpSpPr>
            <a:xfrm>
              <a:off x="571500" y="723900"/>
              <a:ext cx="8001000" cy="19200"/>
              <a:chOff x="0" y="0"/>
              <a:chExt cx="8001000" cy="19200"/>
            </a:xfrm>
          </p:grpSpPr>
          <p:sp>
            <p:nvSpPr>
              <p:cNvPr id="147" name="Google Shape;147;p18"/>
              <p:cNvSpPr/>
              <p:nvPr/>
            </p:nvSpPr>
            <p:spPr>
              <a:xfrm>
                <a:off x="0" y="0"/>
                <a:ext cx="8001000" cy="9600"/>
              </a:xfrm>
              <a:prstGeom prst="rect">
                <a:avLst/>
              </a:prstGeom>
              <a:solidFill>
                <a:srgbClr val="E2E8F0"/>
              </a:solidFill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48" name="Google Shape;148;p18"/>
              <p:cNvSpPr/>
              <p:nvPr/>
            </p:nvSpPr>
            <p:spPr>
              <a:xfrm>
                <a:off x="0" y="0"/>
                <a:ext cx="1143000" cy="19200"/>
              </a:xfrm>
              <a:prstGeom prst="rect">
                <a:avLst/>
              </a:prstGeom>
              <a:solidFill>
                <a:srgbClr val="2563EB"/>
              </a:solidFill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</p:grpSp>
      <p:sp>
        <p:nvSpPr>
          <p:cNvPr id="149" name="Google Shape;149;p18"/>
          <p:cNvSpPr txBox="1"/>
          <p:nvPr/>
        </p:nvSpPr>
        <p:spPr>
          <a:xfrm>
            <a:off x="571500" y="914400"/>
            <a:ext cx="8001000" cy="666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400">
                <a:solidFill>
                  <a:srgbClr val="0F172A"/>
                </a:solidFill>
                <a:latin typeface="Inter"/>
                <a:ea typeface="Inter"/>
                <a:cs typeface="Inter"/>
                <a:sym typeface="Inter"/>
              </a:rPr>
              <a:t>Sub-Languages of SQL</a:t>
            </a:r>
            <a:endParaRPr b="1" sz="2400">
              <a:solidFill>
                <a:srgbClr val="0F172A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0" lvl="0" marL="0" rtl="0" algn="l">
              <a:spcBef>
                <a:spcPts val="300"/>
              </a:spcBef>
              <a:spcAft>
                <a:spcPts val="0"/>
              </a:spcAft>
              <a:buNone/>
            </a:pPr>
            <a:r>
              <a:rPr b="0" lang="en" sz="1350">
                <a:solidFill>
                  <a:srgbClr val="2563EB"/>
                </a:solidFill>
                <a:latin typeface="Inter Medium"/>
                <a:ea typeface="Inter Medium"/>
                <a:cs typeface="Inter Medium"/>
                <a:sym typeface="Inter Medium"/>
              </a:rPr>
              <a:t>Categorization of Structured Query Language Commands</a:t>
            </a:r>
            <a:endParaRPr b="0" sz="1350">
              <a:solidFill>
                <a:srgbClr val="2563EB"/>
              </a:solidFill>
              <a:latin typeface="Inter Medium"/>
              <a:ea typeface="Inter Medium"/>
              <a:cs typeface="Inter Medium"/>
              <a:sym typeface="Inter Medium"/>
            </a:endParaRPr>
          </a:p>
        </p:txBody>
      </p:sp>
      <p:grpSp>
        <p:nvGrpSpPr>
          <p:cNvPr id="150" name="Google Shape;150;p18"/>
          <p:cNvGrpSpPr/>
          <p:nvPr/>
        </p:nvGrpSpPr>
        <p:grpSpPr>
          <a:xfrm>
            <a:off x="571500" y="1714500"/>
            <a:ext cx="7991550" cy="2857500"/>
            <a:chOff x="0" y="0"/>
            <a:chExt cx="7991550" cy="2857500"/>
          </a:xfrm>
        </p:grpSpPr>
        <p:grpSp>
          <p:nvGrpSpPr>
            <p:cNvPr id="151" name="Google Shape;151;p18"/>
            <p:cNvGrpSpPr/>
            <p:nvPr/>
          </p:nvGrpSpPr>
          <p:grpSpPr>
            <a:xfrm>
              <a:off x="0" y="0"/>
              <a:ext cx="2409900" cy="2857500"/>
              <a:chOff x="0" y="0"/>
              <a:chExt cx="2409900" cy="2857500"/>
            </a:xfrm>
          </p:grpSpPr>
          <p:sp>
            <p:nvSpPr>
              <p:cNvPr id="152" name="Google Shape;152;p18"/>
              <p:cNvSpPr/>
              <p:nvPr/>
            </p:nvSpPr>
            <p:spPr>
              <a:xfrm>
                <a:off x="0" y="0"/>
                <a:ext cx="2409900" cy="2857500"/>
              </a:xfrm>
              <a:prstGeom prst="roundRect">
                <a:avLst>
                  <a:gd fmla="val 2371" name="adj"/>
                </a:avLst>
              </a:prstGeom>
              <a:solidFill>
                <a:srgbClr val="FFFFFF"/>
              </a:solidFill>
              <a:ln cap="flat" cmpd="sng" w="9525">
                <a:solidFill>
                  <a:srgbClr val="E2E8F0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53" name="Google Shape;153;p18"/>
              <p:cNvSpPr/>
              <p:nvPr/>
            </p:nvSpPr>
            <p:spPr>
              <a:xfrm>
                <a:off x="0" y="0"/>
                <a:ext cx="2409900" cy="38100"/>
              </a:xfrm>
              <a:prstGeom prst="roundRect">
                <a:avLst>
                  <a:gd fmla="val 50000" name="adj"/>
                </a:avLst>
              </a:prstGeom>
              <a:solidFill>
                <a:srgbClr val="2563EB"/>
              </a:solidFill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54" name="Google Shape;154;p18"/>
              <p:cNvSpPr txBox="1"/>
              <p:nvPr/>
            </p:nvSpPr>
            <p:spPr>
              <a:xfrm>
                <a:off x="190500" y="190500"/>
                <a:ext cx="2028900" cy="24765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b="1" lang="en" sz="1500">
                    <a:solidFill>
                      <a:srgbClr val="0F172A"/>
                    </a:solidFill>
                    <a:latin typeface="Inter"/>
                    <a:ea typeface="Inter"/>
                    <a:cs typeface="Inter"/>
                    <a:sym typeface="Inter"/>
                  </a:rPr>
                  <a:t>DDL</a:t>
                </a:r>
                <a:endParaRPr b="1" sz="1500">
                  <a:solidFill>
                    <a:srgbClr val="0F172A"/>
                  </a:solidFill>
                  <a:latin typeface="Inter"/>
                  <a:ea typeface="Inter"/>
                  <a:cs typeface="Inter"/>
                  <a:sym typeface="Inter"/>
                </a:endParaRPr>
              </a:p>
              <a:p>
                <a:pPr indent="0" lvl="0" marL="0" rtl="0" algn="l">
                  <a:spcBef>
                    <a:spcPts val="150"/>
                  </a:spcBef>
                  <a:spcAft>
                    <a:spcPts val="0"/>
                  </a:spcAft>
                  <a:buNone/>
                </a:pPr>
                <a:r>
                  <a:rPr b="0" lang="en" sz="975">
                    <a:solidFill>
                      <a:srgbClr val="2563EB"/>
                    </a:solidFill>
                    <a:latin typeface="Inter SemiBold"/>
                    <a:ea typeface="Inter SemiBold"/>
                    <a:cs typeface="Inter SemiBold"/>
                    <a:sym typeface="Inter SemiBold"/>
                  </a:rPr>
                  <a:t>Data Definition Language</a:t>
                </a:r>
                <a:endParaRPr b="0" sz="975">
                  <a:solidFill>
                    <a:srgbClr val="2563EB"/>
                  </a:solidFill>
                  <a:latin typeface="Inter SemiBold"/>
                  <a:ea typeface="Inter SemiBold"/>
                  <a:cs typeface="Inter SemiBold"/>
                  <a:sym typeface="Inter SemiBold"/>
                </a:endParaRPr>
              </a:p>
              <a:p>
                <a:pPr indent="0" lvl="0" marL="0" rtl="0" algn="l">
                  <a:spcBef>
                    <a:spcPts val="900"/>
                  </a:spcBef>
                  <a:spcAft>
                    <a:spcPts val="0"/>
                  </a:spcAft>
                  <a:buNone/>
                </a:pPr>
                <a:r>
                  <a:rPr b="0" lang="en" sz="1050">
                    <a:solidFill>
                      <a:srgbClr val="475569"/>
                    </a:solidFill>
                    <a:latin typeface="Inter"/>
                    <a:ea typeface="Inter"/>
                    <a:cs typeface="Inter"/>
                    <a:sym typeface="Inter"/>
                  </a:rPr>
                  <a:t>Defines the database structure and schema.</a:t>
                </a:r>
                <a:endParaRPr b="0" sz="1050">
                  <a:solidFill>
                    <a:srgbClr val="475569"/>
                  </a:solidFill>
                  <a:latin typeface="Inter"/>
                  <a:ea typeface="Inter"/>
                  <a:cs typeface="Inter"/>
                  <a:sym typeface="Inter"/>
                </a:endParaRPr>
              </a:p>
              <a:p>
                <a:pPr indent="0" lvl="0" marL="0" rtl="0" algn="l">
                  <a:spcBef>
                    <a:spcPts val="1200"/>
                  </a:spcBef>
                  <a:spcAft>
                    <a:spcPts val="0"/>
                  </a:spcAft>
                  <a:buNone/>
                </a:pPr>
                <a:r>
                  <a:rPr b="0" lang="en" sz="825">
                    <a:solidFill>
                      <a:srgbClr val="475569"/>
                    </a:solidFill>
                    <a:latin typeface="Inter SemiBold"/>
                    <a:ea typeface="Inter SemiBold"/>
                    <a:cs typeface="Inter SemiBold"/>
                    <a:sym typeface="Inter SemiBold"/>
                  </a:rPr>
                  <a:t>Primary Commands</a:t>
                </a:r>
                <a:endParaRPr b="0" sz="825">
                  <a:solidFill>
                    <a:srgbClr val="475569"/>
                  </a:solidFill>
                  <a:latin typeface="Inter SemiBold"/>
                  <a:ea typeface="Inter SemiBold"/>
                  <a:cs typeface="Inter SemiBold"/>
                  <a:sym typeface="Inter SemiBold"/>
                </a:endParaRPr>
              </a:p>
              <a:p>
                <a:pPr indent="0" lvl="0" marL="0" rtl="0" algn="l">
                  <a:spcBef>
                    <a:spcPts val="450"/>
                  </a:spcBef>
                  <a:spcAft>
                    <a:spcPts val="0"/>
                  </a:spcAft>
                  <a:buNone/>
                </a:pPr>
                <a:r>
                  <a:rPr b="0" lang="en" sz="975">
                    <a:solidFill>
                      <a:srgbClr val="0F172A"/>
                    </a:solidFill>
                    <a:highlight>
                      <a:srgbClr val="F8FAFC"/>
                    </a:highlight>
                    <a:latin typeface="Fira Code Medium"/>
                    <a:ea typeface="Fira Code Medium"/>
                    <a:cs typeface="Fira Code Medium"/>
                    <a:sym typeface="Fira Code Medium"/>
                  </a:rPr>
                  <a:t>• CREATE</a:t>
                </a:r>
                <a:endParaRPr b="0" sz="975">
                  <a:solidFill>
                    <a:srgbClr val="0F172A"/>
                  </a:solidFill>
                  <a:highlight>
                    <a:srgbClr val="F8FAFC"/>
                  </a:highlight>
                  <a:latin typeface="Fira Code Medium"/>
                  <a:ea typeface="Fira Code Medium"/>
                  <a:cs typeface="Fira Code Medium"/>
                  <a:sym typeface="Fira Code Medium"/>
                </a:endParaRPr>
              </a:p>
              <a:p>
                <a:pPr indent="0" lvl="0" marL="0" rtl="0" algn="l">
                  <a:spcBef>
                    <a:spcPts val="300"/>
                  </a:spcBef>
                  <a:spcAft>
                    <a:spcPts val="0"/>
                  </a:spcAft>
                  <a:buNone/>
                </a:pPr>
                <a:r>
                  <a:rPr b="0" lang="en" sz="975">
                    <a:solidFill>
                      <a:srgbClr val="0F172A"/>
                    </a:solidFill>
                    <a:highlight>
                      <a:srgbClr val="F8FAFC"/>
                    </a:highlight>
                    <a:latin typeface="Fira Code Medium"/>
                    <a:ea typeface="Fira Code Medium"/>
                    <a:cs typeface="Fira Code Medium"/>
                    <a:sym typeface="Fira Code Medium"/>
                  </a:rPr>
                  <a:t>• ALTER</a:t>
                </a:r>
                <a:endParaRPr b="0" sz="975">
                  <a:solidFill>
                    <a:srgbClr val="0F172A"/>
                  </a:solidFill>
                  <a:highlight>
                    <a:srgbClr val="F8FAFC"/>
                  </a:highlight>
                  <a:latin typeface="Fira Code Medium"/>
                  <a:ea typeface="Fira Code Medium"/>
                  <a:cs typeface="Fira Code Medium"/>
                  <a:sym typeface="Fira Code Medium"/>
                </a:endParaRPr>
              </a:p>
              <a:p>
                <a:pPr indent="0" lvl="0" marL="0" rtl="0" algn="l">
                  <a:spcBef>
                    <a:spcPts val="300"/>
                  </a:spcBef>
                  <a:spcAft>
                    <a:spcPts val="0"/>
                  </a:spcAft>
                  <a:buNone/>
                </a:pPr>
                <a:r>
                  <a:rPr b="0" lang="en" sz="975">
                    <a:solidFill>
                      <a:srgbClr val="0F172A"/>
                    </a:solidFill>
                    <a:highlight>
                      <a:srgbClr val="F8FAFC"/>
                    </a:highlight>
                    <a:latin typeface="Fira Code Medium"/>
                    <a:ea typeface="Fira Code Medium"/>
                    <a:cs typeface="Fira Code Medium"/>
                    <a:sym typeface="Fira Code Medium"/>
                  </a:rPr>
                  <a:t>• DROP</a:t>
                </a:r>
                <a:endParaRPr b="0" sz="975">
                  <a:solidFill>
                    <a:srgbClr val="0F172A"/>
                  </a:solidFill>
                  <a:highlight>
                    <a:srgbClr val="F8FAFC"/>
                  </a:highlight>
                  <a:latin typeface="Fira Code Medium"/>
                  <a:ea typeface="Fira Code Medium"/>
                  <a:cs typeface="Fira Code Medium"/>
                  <a:sym typeface="Fira Code Medium"/>
                </a:endParaRPr>
              </a:p>
            </p:txBody>
          </p:sp>
        </p:grpSp>
        <p:grpSp>
          <p:nvGrpSpPr>
            <p:cNvPr id="155" name="Google Shape;155;p18"/>
            <p:cNvGrpSpPr/>
            <p:nvPr/>
          </p:nvGrpSpPr>
          <p:grpSpPr>
            <a:xfrm>
              <a:off x="2790825" y="0"/>
              <a:ext cx="2409900" cy="2857500"/>
              <a:chOff x="0" y="0"/>
              <a:chExt cx="2409900" cy="2857500"/>
            </a:xfrm>
          </p:grpSpPr>
          <p:sp>
            <p:nvSpPr>
              <p:cNvPr id="156" name="Google Shape;156;p18"/>
              <p:cNvSpPr/>
              <p:nvPr/>
            </p:nvSpPr>
            <p:spPr>
              <a:xfrm>
                <a:off x="0" y="0"/>
                <a:ext cx="2409900" cy="2857500"/>
              </a:xfrm>
              <a:prstGeom prst="roundRect">
                <a:avLst>
                  <a:gd fmla="val 2371" name="adj"/>
                </a:avLst>
              </a:prstGeom>
              <a:solidFill>
                <a:srgbClr val="FFFFFF"/>
              </a:solidFill>
              <a:ln cap="flat" cmpd="sng" w="9525">
                <a:solidFill>
                  <a:srgbClr val="E2E8F0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57" name="Google Shape;157;p18"/>
              <p:cNvSpPr/>
              <p:nvPr/>
            </p:nvSpPr>
            <p:spPr>
              <a:xfrm>
                <a:off x="0" y="0"/>
                <a:ext cx="2409900" cy="38100"/>
              </a:xfrm>
              <a:prstGeom prst="roundRect">
                <a:avLst>
                  <a:gd fmla="val 50000" name="adj"/>
                </a:avLst>
              </a:prstGeom>
              <a:solidFill>
                <a:srgbClr val="2563EB"/>
              </a:solidFill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58" name="Google Shape;158;p18"/>
              <p:cNvSpPr txBox="1"/>
              <p:nvPr/>
            </p:nvSpPr>
            <p:spPr>
              <a:xfrm>
                <a:off x="190500" y="190500"/>
                <a:ext cx="2028900" cy="24765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b="1" lang="en" sz="1500">
                    <a:solidFill>
                      <a:srgbClr val="0F172A"/>
                    </a:solidFill>
                    <a:latin typeface="Inter"/>
                    <a:ea typeface="Inter"/>
                    <a:cs typeface="Inter"/>
                    <a:sym typeface="Inter"/>
                  </a:rPr>
                  <a:t>DML</a:t>
                </a:r>
                <a:endParaRPr b="1" sz="1500">
                  <a:solidFill>
                    <a:srgbClr val="0F172A"/>
                  </a:solidFill>
                  <a:latin typeface="Inter"/>
                  <a:ea typeface="Inter"/>
                  <a:cs typeface="Inter"/>
                  <a:sym typeface="Inter"/>
                </a:endParaRPr>
              </a:p>
              <a:p>
                <a:pPr indent="0" lvl="0" marL="0" rtl="0" algn="l">
                  <a:spcBef>
                    <a:spcPts val="150"/>
                  </a:spcBef>
                  <a:spcAft>
                    <a:spcPts val="0"/>
                  </a:spcAft>
                  <a:buNone/>
                </a:pPr>
                <a:r>
                  <a:rPr b="0" lang="en" sz="975">
                    <a:solidFill>
                      <a:srgbClr val="2563EB"/>
                    </a:solidFill>
                    <a:latin typeface="Inter SemiBold"/>
                    <a:ea typeface="Inter SemiBold"/>
                    <a:cs typeface="Inter SemiBold"/>
                    <a:sym typeface="Inter SemiBold"/>
                  </a:rPr>
                  <a:t>Data Manipulation Language</a:t>
                </a:r>
                <a:endParaRPr b="0" sz="975">
                  <a:solidFill>
                    <a:srgbClr val="2563EB"/>
                  </a:solidFill>
                  <a:latin typeface="Inter SemiBold"/>
                  <a:ea typeface="Inter SemiBold"/>
                  <a:cs typeface="Inter SemiBold"/>
                  <a:sym typeface="Inter SemiBold"/>
                </a:endParaRPr>
              </a:p>
              <a:p>
                <a:pPr indent="0" lvl="0" marL="0" rtl="0" algn="l">
                  <a:spcBef>
                    <a:spcPts val="900"/>
                  </a:spcBef>
                  <a:spcAft>
                    <a:spcPts val="0"/>
                  </a:spcAft>
                  <a:buNone/>
                </a:pPr>
                <a:r>
                  <a:rPr b="0" lang="en" sz="1050">
                    <a:solidFill>
                      <a:srgbClr val="475569"/>
                    </a:solidFill>
                    <a:latin typeface="Inter"/>
                    <a:ea typeface="Inter"/>
                    <a:cs typeface="Inter"/>
                    <a:sym typeface="Inter"/>
                  </a:rPr>
                  <a:t>Modifies the actual records stored within tables.</a:t>
                </a:r>
                <a:endParaRPr b="0" sz="1050">
                  <a:solidFill>
                    <a:srgbClr val="475569"/>
                  </a:solidFill>
                  <a:latin typeface="Inter"/>
                  <a:ea typeface="Inter"/>
                  <a:cs typeface="Inter"/>
                  <a:sym typeface="Inter"/>
                </a:endParaRPr>
              </a:p>
              <a:p>
                <a:pPr indent="0" lvl="0" marL="0" rtl="0" algn="l">
                  <a:spcBef>
                    <a:spcPts val="1200"/>
                  </a:spcBef>
                  <a:spcAft>
                    <a:spcPts val="0"/>
                  </a:spcAft>
                  <a:buNone/>
                </a:pPr>
                <a:r>
                  <a:rPr b="0" lang="en" sz="825">
                    <a:solidFill>
                      <a:srgbClr val="475569"/>
                    </a:solidFill>
                    <a:latin typeface="Inter SemiBold"/>
                    <a:ea typeface="Inter SemiBold"/>
                    <a:cs typeface="Inter SemiBold"/>
                    <a:sym typeface="Inter SemiBold"/>
                  </a:rPr>
                  <a:t>Primary Commands</a:t>
                </a:r>
                <a:endParaRPr b="0" sz="825">
                  <a:solidFill>
                    <a:srgbClr val="475569"/>
                  </a:solidFill>
                  <a:latin typeface="Inter SemiBold"/>
                  <a:ea typeface="Inter SemiBold"/>
                  <a:cs typeface="Inter SemiBold"/>
                  <a:sym typeface="Inter SemiBold"/>
                </a:endParaRPr>
              </a:p>
              <a:p>
                <a:pPr indent="0" lvl="0" marL="0" rtl="0" algn="l">
                  <a:spcBef>
                    <a:spcPts val="450"/>
                  </a:spcBef>
                  <a:spcAft>
                    <a:spcPts val="0"/>
                  </a:spcAft>
                  <a:buNone/>
                </a:pPr>
                <a:r>
                  <a:rPr b="0" lang="en" sz="975">
                    <a:solidFill>
                      <a:srgbClr val="0F172A"/>
                    </a:solidFill>
                    <a:highlight>
                      <a:srgbClr val="F8FAFC"/>
                    </a:highlight>
                    <a:latin typeface="Fira Code Medium"/>
                    <a:ea typeface="Fira Code Medium"/>
                    <a:cs typeface="Fira Code Medium"/>
                    <a:sym typeface="Fira Code Medium"/>
                  </a:rPr>
                  <a:t>• INSERT</a:t>
                </a:r>
                <a:endParaRPr b="0" sz="975">
                  <a:solidFill>
                    <a:srgbClr val="0F172A"/>
                  </a:solidFill>
                  <a:highlight>
                    <a:srgbClr val="F8FAFC"/>
                  </a:highlight>
                  <a:latin typeface="Fira Code Medium"/>
                  <a:ea typeface="Fira Code Medium"/>
                  <a:cs typeface="Fira Code Medium"/>
                  <a:sym typeface="Fira Code Medium"/>
                </a:endParaRPr>
              </a:p>
              <a:p>
                <a:pPr indent="0" lvl="0" marL="0" rtl="0" algn="l">
                  <a:spcBef>
                    <a:spcPts val="300"/>
                  </a:spcBef>
                  <a:spcAft>
                    <a:spcPts val="0"/>
                  </a:spcAft>
                  <a:buNone/>
                </a:pPr>
                <a:r>
                  <a:rPr b="0" lang="en" sz="975">
                    <a:solidFill>
                      <a:srgbClr val="0F172A"/>
                    </a:solidFill>
                    <a:highlight>
                      <a:srgbClr val="F8FAFC"/>
                    </a:highlight>
                    <a:latin typeface="Fira Code Medium"/>
                    <a:ea typeface="Fira Code Medium"/>
                    <a:cs typeface="Fira Code Medium"/>
                    <a:sym typeface="Fira Code Medium"/>
                  </a:rPr>
                  <a:t>• UPDATE</a:t>
                </a:r>
                <a:endParaRPr b="0" sz="975">
                  <a:solidFill>
                    <a:srgbClr val="0F172A"/>
                  </a:solidFill>
                  <a:highlight>
                    <a:srgbClr val="F8FAFC"/>
                  </a:highlight>
                  <a:latin typeface="Fira Code Medium"/>
                  <a:ea typeface="Fira Code Medium"/>
                  <a:cs typeface="Fira Code Medium"/>
                  <a:sym typeface="Fira Code Medium"/>
                </a:endParaRPr>
              </a:p>
              <a:p>
                <a:pPr indent="0" lvl="0" marL="0" rtl="0" algn="l">
                  <a:spcBef>
                    <a:spcPts val="300"/>
                  </a:spcBef>
                  <a:spcAft>
                    <a:spcPts val="0"/>
                  </a:spcAft>
                  <a:buNone/>
                </a:pPr>
                <a:r>
                  <a:rPr b="0" lang="en" sz="975">
                    <a:solidFill>
                      <a:srgbClr val="0F172A"/>
                    </a:solidFill>
                    <a:highlight>
                      <a:srgbClr val="F8FAFC"/>
                    </a:highlight>
                    <a:latin typeface="Fira Code Medium"/>
                    <a:ea typeface="Fira Code Medium"/>
                    <a:cs typeface="Fira Code Medium"/>
                    <a:sym typeface="Fira Code Medium"/>
                  </a:rPr>
                  <a:t>• DELETE</a:t>
                </a:r>
                <a:endParaRPr b="0" sz="975">
                  <a:solidFill>
                    <a:srgbClr val="0F172A"/>
                  </a:solidFill>
                  <a:highlight>
                    <a:srgbClr val="F8FAFC"/>
                  </a:highlight>
                  <a:latin typeface="Fira Code Medium"/>
                  <a:ea typeface="Fira Code Medium"/>
                  <a:cs typeface="Fira Code Medium"/>
                  <a:sym typeface="Fira Code Medium"/>
                </a:endParaRPr>
              </a:p>
            </p:txBody>
          </p:sp>
        </p:grpSp>
        <p:grpSp>
          <p:nvGrpSpPr>
            <p:cNvPr id="159" name="Google Shape;159;p18"/>
            <p:cNvGrpSpPr/>
            <p:nvPr/>
          </p:nvGrpSpPr>
          <p:grpSpPr>
            <a:xfrm>
              <a:off x="5581650" y="0"/>
              <a:ext cx="2409900" cy="2857500"/>
              <a:chOff x="0" y="0"/>
              <a:chExt cx="2409900" cy="2857500"/>
            </a:xfrm>
          </p:grpSpPr>
          <p:sp>
            <p:nvSpPr>
              <p:cNvPr id="160" name="Google Shape;160;p18"/>
              <p:cNvSpPr/>
              <p:nvPr/>
            </p:nvSpPr>
            <p:spPr>
              <a:xfrm>
                <a:off x="0" y="0"/>
                <a:ext cx="2409900" cy="2857500"/>
              </a:xfrm>
              <a:prstGeom prst="roundRect">
                <a:avLst>
                  <a:gd fmla="val 2371" name="adj"/>
                </a:avLst>
              </a:prstGeom>
              <a:solidFill>
                <a:srgbClr val="FFFFFF"/>
              </a:solidFill>
              <a:ln cap="flat" cmpd="sng" w="9525">
                <a:solidFill>
                  <a:srgbClr val="E2E8F0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61" name="Google Shape;161;p18"/>
              <p:cNvSpPr/>
              <p:nvPr/>
            </p:nvSpPr>
            <p:spPr>
              <a:xfrm>
                <a:off x="0" y="0"/>
                <a:ext cx="2409900" cy="38100"/>
              </a:xfrm>
              <a:prstGeom prst="roundRect">
                <a:avLst>
                  <a:gd fmla="val 50000" name="adj"/>
                </a:avLst>
              </a:prstGeom>
              <a:solidFill>
                <a:srgbClr val="2563EB"/>
              </a:solidFill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62" name="Google Shape;162;p18"/>
              <p:cNvSpPr txBox="1"/>
              <p:nvPr/>
            </p:nvSpPr>
            <p:spPr>
              <a:xfrm>
                <a:off x="190500" y="190500"/>
                <a:ext cx="2028900" cy="24765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b="1" lang="en" sz="1500">
                    <a:solidFill>
                      <a:srgbClr val="0F172A"/>
                    </a:solidFill>
                    <a:latin typeface="Inter"/>
                    <a:ea typeface="Inter"/>
                    <a:cs typeface="Inter"/>
                    <a:sym typeface="Inter"/>
                  </a:rPr>
                  <a:t>DQL</a:t>
                </a:r>
                <a:endParaRPr b="1" sz="1500">
                  <a:solidFill>
                    <a:srgbClr val="0F172A"/>
                  </a:solidFill>
                  <a:latin typeface="Inter"/>
                  <a:ea typeface="Inter"/>
                  <a:cs typeface="Inter"/>
                  <a:sym typeface="Inter"/>
                </a:endParaRPr>
              </a:p>
              <a:p>
                <a:pPr indent="0" lvl="0" marL="0" rtl="0" algn="l">
                  <a:spcBef>
                    <a:spcPts val="150"/>
                  </a:spcBef>
                  <a:spcAft>
                    <a:spcPts val="0"/>
                  </a:spcAft>
                  <a:buNone/>
                </a:pPr>
                <a:r>
                  <a:rPr b="0" lang="en" sz="975">
                    <a:solidFill>
                      <a:srgbClr val="2563EB"/>
                    </a:solidFill>
                    <a:latin typeface="Inter SemiBold"/>
                    <a:ea typeface="Inter SemiBold"/>
                    <a:cs typeface="Inter SemiBold"/>
                    <a:sym typeface="Inter SemiBold"/>
                  </a:rPr>
                  <a:t>Data Query Language</a:t>
                </a:r>
                <a:endParaRPr b="0" sz="975">
                  <a:solidFill>
                    <a:srgbClr val="2563EB"/>
                  </a:solidFill>
                  <a:latin typeface="Inter SemiBold"/>
                  <a:ea typeface="Inter SemiBold"/>
                  <a:cs typeface="Inter SemiBold"/>
                  <a:sym typeface="Inter SemiBold"/>
                </a:endParaRPr>
              </a:p>
              <a:p>
                <a:pPr indent="0" lvl="0" marL="0" rtl="0" algn="l">
                  <a:spcBef>
                    <a:spcPts val="900"/>
                  </a:spcBef>
                  <a:spcAft>
                    <a:spcPts val="0"/>
                  </a:spcAft>
                  <a:buNone/>
                </a:pPr>
                <a:r>
                  <a:rPr b="0" lang="en" sz="1050">
                    <a:solidFill>
                      <a:srgbClr val="475569"/>
                    </a:solidFill>
                    <a:latin typeface="Inter"/>
                    <a:ea typeface="Inter"/>
                    <a:cs typeface="Inter"/>
                    <a:sym typeface="Inter"/>
                  </a:rPr>
                  <a:t>Utilized strictly for reading and retrieving stored data.</a:t>
                </a:r>
                <a:endParaRPr b="0" sz="1050">
                  <a:solidFill>
                    <a:srgbClr val="475569"/>
                  </a:solidFill>
                  <a:latin typeface="Inter"/>
                  <a:ea typeface="Inter"/>
                  <a:cs typeface="Inter"/>
                  <a:sym typeface="Inter"/>
                </a:endParaRPr>
              </a:p>
              <a:p>
                <a:pPr indent="0" lvl="0" marL="0" rtl="0" algn="l">
                  <a:spcBef>
                    <a:spcPts val="1200"/>
                  </a:spcBef>
                  <a:spcAft>
                    <a:spcPts val="0"/>
                  </a:spcAft>
                  <a:buNone/>
                </a:pPr>
                <a:r>
                  <a:rPr b="0" lang="en" sz="825">
                    <a:solidFill>
                      <a:srgbClr val="475569"/>
                    </a:solidFill>
                    <a:latin typeface="Inter SemiBold"/>
                    <a:ea typeface="Inter SemiBold"/>
                    <a:cs typeface="Inter SemiBold"/>
                    <a:sym typeface="Inter SemiBold"/>
                  </a:rPr>
                  <a:t>Primary Commands</a:t>
                </a:r>
                <a:endParaRPr b="0" sz="825">
                  <a:solidFill>
                    <a:srgbClr val="475569"/>
                  </a:solidFill>
                  <a:latin typeface="Inter SemiBold"/>
                  <a:ea typeface="Inter SemiBold"/>
                  <a:cs typeface="Inter SemiBold"/>
                  <a:sym typeface="Inter SemiBold"/>
                </a:endParaRPr>
              </a:p>
              <a:p>
                <a:pPr indent="0" lvl="0" marL="0" rtl="0" algn="l">
                  <a:spcBef>
                    <a:spcPts val="450"/>
                  </a:spcBef>
                  <a:spcAft>
                    <a:spcPts val="0"/>
                  </a:spcAft>
                  <a:buNone/>
                </a:pPr>
                <a:r>
                  <a:rPr b="0" lang="en" sz="975">
                    <a:solidFill>
                      <a:srgbClr val="0F172A"/>
                    </a:solidFill>
                    <a:highlight>
                      <a:srgbClr val="F8FAFC"/>
                    </a:highlight>
                    <a:latin typeface="Fira Code Medium"/>
                    <a:ea typeface="Fira Code Medium"/>
                    <a:cs typeface="Fira Code Medium"/>
                    <a:sym typeface="Fira Code Medium"/>
                  </a:rPr>
                  <a:t>• SELECT</a:t>
                </a:r>
                <a:endParaRPr b="0" sz="975">
                  <a:solidFill>
                    <a:srgbClr val="0F172A"/>
                  </a:solidFill>
                  <a:highlight>
                    <a:srgbClr val="F8FAFC"/>
                  </a:highlight>
                  <a:latin typeface="Fira Code Medium"/>
                  <a:ea typeface="Fira Code Medium"/>
                  <a:cs typeface="Fira Code Medium"/>
                  <a:sym typeface="Fira Code Medium"/>
                </a:endParaRPr>
              </a:p>
            </p:txBody>
          </p:sp>
        </p:grpSp>
      </p:grp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6" name="Shape 1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7" name="Google Shape;167;p19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8" name="Google Shape;168;p19"/>
          <p:cNvSpPr/>
          <p:nvPr/>
        </p:nvSpPr>
        <p:spPr>
          <a:xfrm>
            <a:off x="590550" y="381000"/>
            <a:ext cx="190500" cy="190500"/>
          </a:xfrm>
          <a:custGeom>
            <a:rect b="b" l="l" r="r" t="t"/>
            <a:pathLst>
              <a:path extrusionOk="0" h="120000" w="120000">
                <a:moveTo>
                  <a:pt x="60000" y="0"/>
                </a:moveTo>
                <a:cubicBezTo>
                  <a:pt x="26880" y="0"/>
                  <a:pt x="0" y="26880"/>
                  <a:pt x="0" y="60000"/>
                </a:cubicBezTo>
                <a:lnTo>
                  <a:pt x="26880" y="120000"/>
                </a:lnTo>
                <a:lnTo>
                  <a:pt x="60000" y="120000"/>
                </a:lnTo>
                <a:lnTo>
                  <a:pt x="120000" y="93120"/>
                </a:lnTo>
                <a:lnTo>
                  <a:pt x="120000" y="60000"/>
                </a:lnTo>
                <a:lnTo>
                  <a:pt x="93120" y="0"/>
                </a:lnTo>
                <a:lnTo>
                  <a:pt x="60000" y="0"/>
                </a:lnTo>
                <a:close/>
                <a:moveTo>
                  <a:pt x="60000" y="108000"/>
                </a:moveTo>
                <a:cubicBezTo>
                  <a:pt x="33540" y="108000"/>
                  <a:pt x="12000" y="86460"/>
                  <a:pt x="12000" y="60000"/>
                </a:cubicBezTo>
                <a:lnTo>
                  <a:pt x="33540" y="12000"/>
                </a:lnTo>
                <a:lnTo>
                  <a:pt x="60000" y="12000"/>
                </a:lnTo>
                <a:lnTo>
                  <a:pt x="108000" y="33540"/>
                </a:lnTo>
                <a:lnTo>
                  <a:pt x="108000" y="60000"/>
                </a:lnTo>
                <a:lnTo>
                  <a:pt x="86460" y="108000"/>
                </a:lnTo>
                <a:lnTo>
                  <a:pt x="60000" y="108000"/>
                </a:lnTo>
                <a:close/>
                <a:moveTo>
                  <a:pt x="54000" y="30000"/>
                </a:moveTo>
                <a:lnTo>
                  <a:pt x="66000" y="30000"/>
                </a:lnTo>
                <a:lnTo>
                  <a:pt x="66000" y="66000"/>
                </a:lnTo>
                <a:lnTo>
                  <a:pt x="54000" y="66000"/>
                </a:lnTo>
                <a:close/>
                <a:moveTo>
                  <a:pt x="54000" y="78000"/>
                </a:moveTo>
                <a:lnTo>
                  <a:pt x="66000" y="78000"/>
                </a:lnTo>
                <a:lnTo>
                  <a:pt x="66000" y="90000"/>
                </a:lnTo>
                <a:lnTo>
                  <a:pt x="54000" y="90000"/>
                </a:lnTo>
                <a:close/>
              </a:path>
            </a:pathLst>
          </a:custGeom>
          <a:solidFill>
            <a:srgbClr val="2563EB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9" name="Google Shape;169;p19"/>
          <p:cNvSpPr txBox="1"/>
          <p:nvPr/>
        </p:nvSpPr>
        <p:spPr>
          <a:xfrm>
            <a:off x="914400" y="361950"/>
            <a:ext cx="70866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" sz="900">
                <a:solidFill>
                  <a:srgbClr val="475569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MAC 250: DATABASE ARCHITECTURE &amp; ENGINEERING</a:t>
            </a:r>
            <a:endParaRPr b="0" sz="900">
              <a:solidFill>
                <a:srgbClr val="475569"/>
              </a:solidFill>
              <a:latin typeface="Inter SemiBold"/>
              <a:ea typeface="Inter SemiBold"/>
              <a:cs typeface="Inter SemiBold"/>
              <a:sym typeface="Inter SemiBold"/>
            </a:endParaRPr>
          </a:p>
        </p:txBody>
      </p:sp>
      <p:sp>
        <p:nvSpPr>
          <p:cNvPr id="170" name="Google Shape;170;p19"/>
          <p:cNvSpPr/>
          <p:nvPr/>
        </p:nvSpPr>
        <p:spPr>
          <a:xfrm>
            <a:off x="571500" y="704850"/>
            <a:ext cx="8001000" cy="9600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1" name="Google Shape;171;p19"/>
          <p:cNvSpPr/>
          <p:nvPr/>
        </p:nvSpPr>
        <p:spPr>
          <a:xfrm>
            <a:off x="571500" y="704850"/>
            <a:ext cx="1143000" cy="1920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2" name="Google Shape;172;p19"/>
          <p:cNvSpPr txBox="1"/>
          <p:nvPr/>
        </p:nvSpPr>
        <p:spPr>
          <a:xfrm>
            <a:off x="571500" y="914400"/>
            <a:ext cx="8001000" cy="419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400">
                <a:solidFill>
                  <a:srgbClr val="0F172A"/>
                </a:solidFill>
                <a:latin typeface="Inter"/>
                <a:ea typeface="Inter"/>
                <a:cs typeface="Inter"/>
                <a:sym typeface="Inter"/>
              </a:rPr>
              <a:t>Introduction to DDL</a:t>
            </a:r>
            <a:endParaRPr b="1" sz="2400">
              <a:solidFill>
                <a:srgbClr val="0F172A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grpSp>
        <p:nvGrpSpPr>
          <p:cNvPr id="173" name="Google Shape;173;p19"/>
          <p:cNvGrpSpPr/>
          <p:nvPr/>
        </p:nvGrpSpPr>
        <p:grpSpPr>
          <a:xfrm>
            <a:off x="571500" y="1428750"/>
            <a:ext cx="8001000" cy="1009800"/>
            <a:chOff x="0" y="0"/>
            <a:chExt cx="8001000" cy="1009800"/>
          </a:xfrm>
        </p:grpSpPr>
        <p:sp>
          <p:nvSpPr>
            <p:cNvPr id="174" name="Google Shape;174;p19"/>
            <p:cNvSpPr/>
            <p:nvPr/>
          </p:nvSpPr>
          <p:spPr>
            <a:xfrm>
              <a:off x="0" y="0"/>
              <a:ext cx="8001000" cy="1009800"/>
            </a:xfrm>
            <a:prstGeom prst="roundRect">
              <a:avLst>
                <a:gd fmla="val 7547" name="adj"/>
              </a:avLst>
            </a:prstGeom>
            <a:solidFill>
              <a:srgbClr val="F0F9FF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5" name="Google Shape;175;p19"/>
            <p:cNvSpPr/>
            <p:nvPr/>
          </p:nvSpPr>
          <p:spPr>
            <a:xfrm>
              <a:off x="0" y="0"/>
              <a:ext cx="76200" cy="1009800"/>
            </a:xfrm>
            <a:custGeom>
              <a:rect b="b" l="l" r="r" t="t"/>
              <a:pathLst>
                <a:path extrusionOk="0" h="120000" w="120000">
                  <a:moveTo>
                    <a:pt x="0" y="9057"/>
                  </a:moveTo>
                  <a:quadBezTo>
                    <a:pt x="0" y="0"/>
                    <a:pt x="120000" y="0"/>
                  </a:quadBezTo>
                  <a:lnTo>
                    <a:pt x="120000" y="120000"/>
                  </a:lnTo>
                  <a:lnTo>
                    <a:pt x="120000" y="120000"/>
                  </a:lnTo>
                  <a:quadBezTo>
                    <a:pt x="0" y="120000"/>
                    <a:pt x="0" y="110943"/>
                  </a:quadBezTo>
                  <a:close/>
                </a:path>
              </a:pathLst>
            </a:custGeom>
            <a:solidFill>
              <a:srgbClr val="2563EB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6" name="Google Shape;176;p19"/>
            <p:cNvSpPr txBox="1"/>
            <p:nvPr/>
          </p:nvSpPr>
          <p:spPr>
            <a:xfrm>
              <a:off x="266700" y="152400"/>
              <a:ext cx="7467600" cy="705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lang="en" sz="1500">
                  <a:solidFill>
                    <a:srgbClr val="2563EB"/>
                  </a:solidFill>
                  <a:latin typeface="Inter Medium"/>
                  <a:ea typeface="Inter Medium"/>
                  <a:cs typeface="Inter Medium"/>
                  <a:sym typeface="Inter Medium"/>
                </a:rPr>
                <a:t>Primary Purpose</a:t>
              </a:r>
              <a:endParaRPr b="0" sz="1500">
                <a:solidFill>
                  <a:srgbClr val="2563EB"/>
                </a:solidFill>
                <a:latin typeface="Inter Medium"/>
                <a:ea typeface="Inter Medium"/>
                <a:cs typeface="Inter Medium"/>
                <a:sym typeface="Inter Medium"/>
              </a:endParaRPr>
            </a:p>
            <a:p>
              <a:pPr indent="0" lvl="0" marL="0" rtl="0" algn="l">
                <a:spcBef>
                  <a:spcPts val="450"/>
                </a:spcBef>
                <a:spcAft>
                  <a:spcPts val="0"/>
                </a:spcAft>
                <a:buNone/>
              </a:pPr>
              <a:r>
                <a:rPr b="0" lang="en" sz="1200">
                  <a:solidFill>
                    <a:srgbClr val="475569"/>
                  </a:solidFill>
                  <a:latin typeface="Inter"/>
                  <a:ea typeface="Inter"/>
                  <a:cs typeface="Inter"/>
                  <a:sym typeface="Inter"/>
                </a:rPr>
                <a:t>Data Definition Language is used to define, modify, or destroy database structures, which includes tables, views, and indexes.</a:t>
              </a:r>
              <a:endParaRPr b="0" sz="1200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endParaRPr>
            </a:p>
          </p:txBody>
        </p:sp>
      </p:grpSp>
      <p:sp>
        <p:nvSpPr>
          <p:cNvPr id="177" name="Google Shape;177;p19"/>
          <p:cNvSpPr txBox="1"/>
          <p:nvPr/>
        </p:nvSpPr>
        <p:spPr>
          <a:xfrm>
            <a:off x="571500" y="2667000"/>
            <a:ext cx="80010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" sz="900">
                <a:solidFill>
                  <a:srgbClr val="2563EB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CORE OPERATIONS &amp; COMMANDS</a:t>
            </a:r>
            <a:endParaRPr b="0" sz="900">
              <a:solidFill>
                <a:srgbClr val="2563EB"/>
              </a:solidFill>
              <a:latin typeface="Inter SemiBold"/>
              <a:ea typeface="Inter SemiBold"/>
              <a:cs typeface="Inter SemiBold"/>
              <a:sym typeface="Inter SemiBold"/>
            </a:endParaRPr>
          </a:p>
        </p:txBody>
      </p:sp>
      <p:grpSp>
        <p:nvGrpSpPr>
          <p:cNvPr id="178" name="Google Shape;178;p19"/>
          <p:cNvGrpSpPr/>
          <p:nvPr/>
        </p:nvGrpSpPr>
        <p:grpSpPr>
          <a:xfrm>
            <a:off x="571500" y="2971800"/>
            <a:ext cx="7991550" cy="1619100"/>
            <a:chOff x="0" y="0"/>
            <a:chExt cx="7991550" cy="1619100"/>
          </a:xfrm>
        </p:grpSpPr>
        <p:grpSp>
          <p:nvGrpSpPr>
            <p:cNvPr id="179" name="Google Shape;179;p19"/>
            <p:cNvGrpSpPr/>
            <p:nvPr/>
          </p:nvGrpSpPr>
          <p:grpSpPr>
            <a:xfrm>
              <a:off x="0" y="0"/>
              <a:ext cx="2409900" cy="1619100"/>
              <a:chOff x="0" y="0"/>
              <a:chExt cx="2409900" cy="1619100"/>
            </a:xfrm>
          </p:grpSpPr>
          <p:sp>
            <p:nvSpPr>
              <p:cNvPr id="180" name="Google Shape;180;p19"/>
              <p:cNvSpPr/>
              <p:nvPr/>
            </p:nvSpPr>
            <p:spPr>
              <a:xfrm>
                <a:off x="0" y="0"/>
                <a:ext cx="2409900" cy="1619100"/>
              </a:xfrm>
              <a:prstGeom prst="roundRect">
                <a:avLst>
                  <a:gd fmla="val 3529" name="adj"/>
                </a:avLst>
              </a:prstGeom>
              <a:solidFill>
                <a:srgbClr val="FFFFFF"/>
              </a:solidFill>
              <a:ln cap="flat" cmpd="sng" w="9525">
                <a:solidFill>
                  <a:srgbClr val="E2E8F0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81" name="Google Shape;181;p19"/>
              <p:cNvSpPr/>
              <p:nvPr/>
            </p:nvSpPr>
            <p:spPr>
              <a:xfrm>
                <a:off x="0" y="0"/>
                <a:ext cx="2409900" cy="38100"/>
              </a:xfrm>
              <a:prstGeom prst="roundRect">
                <a:avLst>
                  <a:gd fmla="val 50000" name="adj"/>
                </a:avLst>
              </a:prstGeom>
              <a:solidFill>
                <a:srgbClr val="2563EB"/>
              </a:solidFill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82" name="Google Shape;182;p19"/>
              <p:cNvSpPr txBox="1"/>
              <p:nvPr/>
            </p:nvSpPr>
            <p:spPr>
              <a:xfrm>
                <a:off x="190500" y="190500"/>
                <a:ext cx="2028900" cy="12384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b="1" lang="en" sz="1050">
                    <a:solidFill>
                      <a:srgbClr val="2563EB"/>
                    </a:solidFill>
                    <a:latin typeface="Fira Code"/>
                    <a:ea typeface="Fira Code"/>
                    <a:cs typeface="Fira Code"/>
                    <a:sym typeface="Fira Code"/>
                  </a:rPr>
                  <a:t>CREATE TABLE</a:t>
                </a:r>
                <a:endParaRPr b="1" sz="1050">
                  <a:solidFill>
                    <a:srgbClr val="2563EB"/>
                  </a:solidFill>
                  <a:latin typeface="Fira Code"/>
                  <a:ea typeface="Fira Code"/>
                  <a:cs typeface="Fira Code"/>
                  <a:sym typeface="Fira Code"/>
                </a:endParaRPr>
              </a:p>
              <a:p>
                <a:pPr indent="0" lvl="0" marL="0" rtl="0" algn="l">
                  <a:spcBef>
                    <a:spcPts val="900"/>
                  </a:spcBef>
                  <a:spcAft>
                    <a:spcPts val="0"/>
                  </a:spcAft>
                  <a:buNone/>
                </a:pPr>
                <a:r>
                  <a:rPr b="0" lang="en" sz="1050">
                    <a:solidFill>
                      <a:srgbClr val="475569"/>
                    </a:solidFill>
                    <a:latin typeface="Inter"/>
                    <a:ea typeface="Inter"/>
                    <a:cs typeface="Inter"/>
                    <a:sym typeface="Inter"/>
                  </a:rPr>
                  <a:t>Establishes new structures in the database system.</a:t>
                </a:r>
                <a:endParaRPr b="0" sz="1050">
                  <a:solidFill>
                    <a:srgbClr val="475569"/>
                  </a:solidFill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</p:grpSp>
        <p:grpSp>
          <p:nvGrpSpPr>
            <p:cNvPr id="183" name="Google Shape;183;p19"/>
            <p:cNvGrpSpPr/>
            <p:nvPr/>
          </p:nvGrpSpPr>
          <p:grpSpPr>
            <a:xfrm>
              <a:off x="2790825" y="0"/>
              <a:ext cx="2409900" cy="1619100"/>
              <a:chOff x="0" y="0"/>
              <a:chExt cx="2409900" cy="1619100"/>
            </a:xfrm>
          </p:grpSpPr>
          <p:sp>
            <p:nvSpPr>
              <p:cNvPr id="184" name="Google Shape;184;p19"/>
              <p:cNvSpPr/>
              <p:nvPr/>
            </p:nvSpPr>
            <p:spPr>
              <a:xfrm>
                <a:off x="0" y="0"/>
                <a:ext cx="2409900" cy="1619100"/>
              </a:xfrm>
              <a:prstGeom prst="roundRect">
                <a:avLst>
                  <a:gd fmla="val 3529" name="adj"/>
                </a:avLst>
              </a:prstGeom>
              <a:solidFill>
                <a:srgbClr val="FFFFFF"/>
              </a:solidFill>
              <a:ln cap="flat" cmpd="sng" w="9525">
                <a:solidFill>
                  <a:srgbClr val="E2E8F0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85" name="Google Shape;185;p19"/>
              <p:cNvSpPr/>
              <p:nvPr/>
            </p:nvSpPr>
            <p:spPr>
              <a:xfrm>
                <a:off x="0" y="0"/>
                <a:ext cx="2409900" cy="38100"/>
              </a:xfrm>
              <a:prstGeom prst="roundRect">
                <a:avLst>
                  <a:gd fmla="val 50000" name="adj"/>
                </a:avLst>
              </a:prstGeom>
              <a:solidFill>
                <a:srgbClr val="2563EB"/>
              </a:solidFill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86" name="Google Shape;186;p19"/>
              <p:cNvSpPr txBox="1"/>
              <p:nvPr/>
            </p:nvSpPr>
            <p:spPr>
              <a:xfrm>
                <a:off x="190500" y="190500"/>
                <a:ext cx="2028900" cy="12384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b="1" lang="en" sz="1050">
                    <a:solidFill>
                      <a:srgbClr val="2563EB"/>
                    </a:solidFill>
                    <a:latin typeface="Fira Code"/>
                    <a:ea typeface="Fira Code"/>
                    <a:cs typeface="Fira Code"/>
                    <a:sym typeface="Fira Code"/>
                  </a:rPr>
                  <a:t>ALTER TABLE</a:t>
                </a:r>
                <a:endParaRPr b="1" sz="1050">
                  <a:solidFill>
                    <a:srgbClr val="2563EB"/>
                  </a:solidFill>
                  <a:latin typeface="Fira Code"/>
                  <a:ea typeface="Fira Code"/>
                  <a:cs typeface="Fira Code"/>
                  <a:sym typeface="Fira Code"/>
                </a:endParaRPr>
              </a:p>
              <a:p>
                <a:pPr indent="0" lvl="0" marL="0" rtl="0" algn="l">
                  <a:spcBef>
                    <a:spcPts val="900"/>
                  </a:spcBef>
                  <a:spcAft>
                    <a:spcPts val="0"/>
                  </a:spcAft>
                  <a:buNone/>
                </a:pPr>
                <a:r>
                  <a:rPr b="0" lang="en" sz="1050">
                    <a:solidFill>
                      <a:srgbClr val="475569"/>
                    </a:solidFill>
                    <a:latin typeface="Inter"/>
                    <a:ea typeface="Inter"/>
                    <a:cs typeface="Inter"/>
                    <a:sym typeface="Inter"/>
                  </a:rPr>
                  <a:t>Modifies existing schemas within the database.</a:t>
                </a:r>
                <a:endParaRPr b="0" sz="1050">
                  <a:solidFill>
                    <a:srgbClr val="475569"/>
                  </a:solidFill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</p:grpSp>
        <p:grpSp>
          <p:nvGrpSpPr>
            <p:cNvPr id="187" name="Google Shape;187;p19"/>
            <p:cNvGrpSpPr/>
            <p:nvPr/>
          </p:nvGrpSpPr>
          <p:grpSpPr>
            <a:xfrm>
              <a:off x="5581650" y="0"/>
              <a:ext cx="2409900" cy="1619100"/>
              <a:chOff x="0" y="0"/>
              <a:chExt cx="2409900" cy="1619100"/>
            </a:xfrm>
          </p:grpSpPr>
          <p:sp>
            <p:nvSpPr>
              <p:cNvPr id="188" name="Google Shape;188;p19"/>
              <p:cNvSpPr/>
              <p:nvPr/>
            </p:nvSpPr>
            <p:spPr>
              <a:xfrm>
                <a:off x="0" y="0"/>
                <a:ext cx="2409900" cy="1619100"/>
              </a:xfrm>
              <a:prstGeom prst="roundRect">
                <a:avLst>
                  <a:gd fmla="val 3529" name="adj"/>
                </a:avLst>
              </a:prstGeom>
              <a:solidFill>
                <a:srgbClr val="FFFFFF"/>
              </a:solidFill>
              <a:ln cap="flat" cmpd="sng" w="9525">
                <a:solidFill>
                  <a:srgbClr val="E2E8F0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89" name="Google Shape;189;p19"/>
              <p:cNvSpPr/>
              <p:nvPr/>
            </p:nvSpPr>
            <p:spPr>
              <a:xfrm>
                <a:off x="0" y="0"/>
                <a:ext cx="2409900" cy="38100"/>
              </a:xfrm>
              <a:prstGeom prst="roundRect">
                <a:avLst>
                  <a:gd fmla="val 50000" name="adj"/>
                </a:avLst>
              </a:prstGeom>
              <a:solidFill>
                <a:srgbClr val="2563EB"/>
              </a:solidFill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90" name="Google Shape;190;p19"/>
              <p:cNvSpPr txBox="1"/>
              <p:nvPr/>
            </p:nvSpPr>
            <p:spPr>
              <a:xfrm>
                <a:off x="190500" y="190500"/>
                <a:ext cx="2028900" cy="12384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b="1" lang="en" sz="1050">
                    <a:solidFill>
                      <a:srgbClr val="2563EB"/>
                    </a:solidFill>
                    <a:latin typeface="Fira Code"/>
                    <a:ea typeface="Fira Code"/>
                    <a:cs typeface="Fira Code"/>
                    <a:sym typeface="Fira Code"/>
                  </a:rPr>
                  <a:t>DROP TABLE</a:t>
                </a:r>
                <a:endParaRPr b="1" sz="1050">
                  <a:solidFill>
                    <a:srgbClr val="2563EB"/>
                  </a:solidFill>
                  <a:latin typeface="Fira Code"/>
                  <a:ea typeface="Fira Code"/>
                  <a:cs typeface="Fira Code"/>
                  <a:sym typeface="Fira Code"/>
                </a:endParaRPr>
              </a:p>
              <a:p>
                <a:pPr indent="0" lvl="0" marL="0" rtl="0" algn="l">
                  <a:spcBef>
                    <a:spcPts val="900"/>
                  </a:spcBef>
                  <a:spcAft>
                    <a:spcPts val="0"/>
                  </a:spcAft>
                  <a:buNone/>
                </a:pPr>
                <a:r>
                  <a:rPr b="0" lang="en" sz="1050">
                    <a:solidFill>
                      <a:srgbClr val="475569"/>
                    </a:solidFill>
                    <a:latin typeface="Inter"/>
                    <a:ea typeface="Inter"/>
                    <a:cs typeface="Inter"/>
                    <a:sym typeface="Inter"/>
                  </a:rPr>
                  <a:t>Permanently removes structures from the database system.</a:t>
                </a:r>
                <a:endParaRPr b="0" sz="1050">
                  <a:solidFill>
                    <a:srgbClr val="475569"/>
                  </a:solidFill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</p:grpSp>
      </p:grp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8FAFC"/>
        </a:solidFill>
      </p:bgPr>
    </p:bg>
    <p:spTree>
      <p:nvGrpSpPr>
        <p:cNvPr id="194" name="Shape 1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5" name="Google Shape;195;p20"/>
          <p:cNvSpPr/>
          <p:nvPr/>
        </p:nvSpPr>
        <p:spPr>
          <a:xfrm>
            <a:off x="590550" y="361950"/>
            <a:ext cx="190500" cy="190500"/>
          </a:xfrm>
          <a:custGeom>
            <a:rect b="b" l="l" r="r" t="t"/>
            <a:pathLst>
              <a:path extrusionOk="0" h="120000" w="120000">
                <a:moveTo>
                  <a:pt x="60000" y="0"/>
                </a:moveTo>
                <a:cubicBezTo>
                  <a:pt x="26880" y="0"/>
                  <a:pt x="0" y="26880"/>
                  <a:pt x="0" y="60000"/>
                </a:cubicBezTo>
                <a:lnTo>
                  <a:pt x="26880" y="120000"/>
                </a:lnTo>
                <a:lnTo>
                  <a:pt x="60000" y="120000"/>
                </a:lnTo>
                <a:lnTo>
                  <a:pt x="120000" y="93120"/>
                </a:lnTo>
                <a:lnTo>
                  <a:pt x="120000" y="60000"/>
                </a:lnTo>
                <a:lnTo>
                  <a:pt x="93120" y="0"/>
                </a:lnTo>
                <a:lnTo>
                  <a:pt x="60000" y="0"/>
                </a:lnTo>
                <a:close/>
                <a:moveTo>
                  <a:pt x="60000" y="108000"/>
                </a:moveTo>
                <a:cubicBezTo>
                  <a:pt x="33540" y="108000"/>
                  <a:pt x="12000" y="86460"/>
                  <a:pt x="12000" y="60000"/>
                </a:cubicBezTo>
                <a:lnTo>
                  <a:pt x="33540" y="12000"/>
                </a:lnTo>
                <a:lnTo>
                  <a:pt x="60000" y="12000"/>
                </a:lnTo>
                <a:lnTo>
                  <a:pt x="108000" y="33540"/>
                </a:lnTo>
                <a:lnTo>
                  <a:pt x="108000" y="60000"/>
                </a:lnTo>
                <a:lnTo>
                  <a:pt x="86460" y="108000"/>
                </a:lnTo>
                <a:lnTo>
                  <a:pt x="60000" y="108000"/>
                </a:lnTo>
                <a:close/>
                <a:moveTo>
                  <a:pt x="54000" y="30000"/>
                </a:moveTo>
                <a:lnTo>
                  <a:pt x="66000" y="30000"/>
                </a:lnTo>
                <a:lnTo>
                  <a:pt x="66000" y="66000"/>
                </a:lnTo>
                <a:lnTo>
                  <a:pt x="54000" y="66000"/>
                </a:lnTo>
                <a:close/>
                <a:moveTo>
                  <a:pt x="54000" y="78000"/>
                </a:moveTo>
                <a:lnTo>
                  <a:pt x="66000" y="78000"/>
                </a:lnTo>
                <a:lnTo>
                  <a:pt x="66000" y="90000"/>
                </a:lnTo>
                <a:lnTo>
                  <a:pt x="54000" y="90000"/>
                </a:lnTo>
                <a:close/>
              </a:path>
            </a:pathLst>
          </a:custGeom>
          <a:solidFill>
            <a:srgbClr val="2563EB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6" name="Google Shape;196;p20"/>
          <p:cNvSpPr txBox="1"/>
          <p:nvPr/>
        </p:nvSpPr>
        <p:spPr>
          <a:xfrm>
            <a:off x="876300" y="342900"/>
            <a:ext cx="70866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" sz="900">
                <a:solidFill>
                  <a:srgbClr val="475569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MODULE 2: IMPLEMENTATION</a:t>
            </a:r>
            <a:endParaRPr b="0" sz="900">
              <a:solidFill>
                <a:srgbClr val="475569"/>
              </a:solidFill>
              <a:latin typeface="Inter SemiBold"/>
              <a:ea typeface="Inter SemiBold"/>
              <a:cs typeface="Inter SemiBold"/>
              <a:sym typeface="Inter SemiBold"/>
            </a:endParaRPr>
          </a:p>
        </p:txBody>
      </p:sp>
      <p:sp>
        <p:nvSpPr>
          <p:cNvPr id="197" name="Google Shape;197;p20"/>
          <p:cNvSpPr txBox="1"/>
          <p:nvPr/>
        </p:nvSpPr>
        <p:spPr>
          <a:xfrm>
            <a:off x="571500" y="714375"/>
            <a:ext cx="8001000" cy="714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100">
                <a:solidFill>
                  <a:srgbClr val="0F172A"/>
                </a:solidFill>
                <a:latin typeface="Inter"/>
                <a:ea typeface="Inter"/>
                <a:cs typeface="Inter"/>
                <a:sym typeface="Inter"/>
              </a:rPr>
              <a:t>Translating DBML to SQL</a:t>
            </a:r>
            <a:endParaRPr b="1" sz="2100">
              <a:solidFill>
                <a:srgbClr val="0F172A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0" lvl="0" marL="0" rtl="0" algn="l">
              <a:spcBef>
                <a:spcPts val="450"/>
              </a:spcBef>
              <a:spcAft>
                <a:spcPts val="0"/>
              </a:spcAft>
              <a:buNone/>
            </a:pPr>
            <a:r>
              <a:rPr b="0" lang="en" sz="1350">
                <a:solidFill>
                  <a:srgbClr val="2563EB"/>
                </a:solidFill>
                <a:latin typeface="Inter Medium"/>
                <a:ea typeface="Inter Medium"/>
                <a:cs typeface="Inter Medium"/>
                <a:sym typeface="Inter Medium"/>
              </a:rPr>
              <a:t>Mapping conceptual design to physical syntax</a:t>
            </a:r>
            <a:endParaRPr b="0" sz="1350">
              <a:solidFill>
                <a:srgbClr val="2563EB"/>
              </a:solidFill>
              <a:latin typeface="Inter Medium"/>
              <a:ea typeface="Inter Medium"/>
              <a:cs typeface="Inter Medium"/>
              <a:sym typeface="Inter Medium"/>
            </a:endParaRPr>
          </a:p>
        </p:txBody>
      </p:sp>
      <p:grpSp>
        <p:nvGrpSpPr>
          <p:cNvPr id="198" name="Google Shape;198;p20"/>
          <p:cNvGrpSpPr/>
          <p:nvPr/>
        </p:nvGrpSpPr>
        <p:grpSpPr>
          <a:xfrm>
            <a:off x="571500" y="1571625"/>
            <a:ext cx="8001000" cy="2000100"/>
            <a:chOff x="0" y="0"/>
            <a:chExt cx="8001000" cy="2000100"/>
          </a:xfrm>
        </p:grpSpPr>
        <p:grpSp>
          <p:nvGrpSpPr>
            <p:cNvPr id="199" name="Google Shape;199;p20"/>
            <p:cNvGrpSpPr/>
            <p:nvPr/>
          </p:nvGrpSpPr>
          <p:grpSpPr>
            <a:xfrm>
              <a:off x="0" y="0"/>
              <a:ext cx="3810000" cy="2000100"/>
              <a:chOff x="0" y="0"/>
              <a:chExt cx="3810000" cy="2000100"/>
            </a:xfrm>
          </p:grpSpPr>
          <p:sp>
            <p:nvSpPr>
              <p:cNvPr id="200" name="Google Shape;200;p20"/>
              <p:cNvSpPr/>
              <p:nvPr/>
            </p:nvSpPr>
            <p:spPr>
              <a:xfrm>
                <a:off x="0" y="0"/>
                <a:ext cx="3810000" cy="2000100"/>
              </a:xfrm>
              <a:prstGeom prst="roundRect">
                <a:avLst>
                  <a:gd fmla="val 2857" name="adj"/>
                </a:avLst>
              </a:prstGeom>
              <a:solidFill>
                <a:srgbClr val="FFFFFF"/>
              </a:solidFill>
              <a:ln cap="flat" cmpd="sng" w="9525">
                <a:solidFill>
                  <a:srgbClr val="E2E8F0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01" name="Google Shape;201;p20"/>
              <p:cNvSpPr/>
              <p:nvPr/>
            </p:nvSpPr>
            <p:spPr>
              <a:xfrm>
                <a:off x="0" y="0"/>
                <a:ext cx="38100" cy="2000100"/>
              </a:xfrm>
              <a:prstGeom prst="roundRect">
                <a:avLst>
                  <a:gd fmla="val 50000" name="adj"/>
                </a:avLst>
              </a:prstGeom>
              <a:solidFill>
                <a:srgbClr val="2563EB"/>
              </a:solidFill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02" name="Google Shape;202;p20"/>
              <p:cNvSpPr txBox="1"/>
              <p:nvPr/>
            </p:nvSpPr>
            <p:spPr>
              <a:xfrm>
                <a:off x="228600" y="190500"/>
                <a:ext cx="3352800" cy="16191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b="0" lang="en" sz="975">
                    <a:solidFill>
                      <a:srgbClr val="2563EB"/>
                    </a:solidFill>
                    <a:latin typeface="Inter SemiBold"/>
                    <a:ea typeface="Inter SemiBold"/>
                    <a:cs typeface="Inter SemiBold"/>
                    <a:sym typeface="Inter SemiBold"/>
                  </a:rPr>
                  <a:t>WEEK 5: DBML (CONCEPTUAL)</a:t>
                </a:r>
                <a:endParaRPr b="0" sz="975">
                  <a:solidFill>
                    <a:srgbClr val="2563EB"/>
                  </a:solidFill>
                  <a:latin typeface="Inter SemiBold"/>
                  <a:ea typeface="Inter SemiBold"/>
                  <a:cs typeface="Inter SemiBold"/>
                  <a:sym typeface="Inter SemiBold"/>
                </a:endParaRPr>
              </a:p>
              <a:p>
                <a:pPr indent="0" lvl="0" marL="0" rtl="0" algn="l">
                  <a:spcBef>
                    <a:spcPts val="1200"/>
                  </a:spcBef>
                  <a:spcAft>
                    <a:spcPts val="0"/>
                  </a:spcAft>
                  <a:buNone/>
                </a:pPr>
                <a:r>
                  <a:rPr b="0" lang="en" sz="1050">
                    <a:solidFill>
                      <a:srgbClr val="0F172A"/>
                    </a:solidFill>
                    <a:latin typeface="Fira Code Medium"/>
                    <a:ea typeface="Fira Code Medium"/>
                    <a:cs typeface="Fira Code Medium"/>
                    <a:sym typeface="Fira Code Medium"/>
                  </a:rPr>
                  <a:t>Table Users {</a:t>
                </a:r>
                <a:endParaRPr b="0" sz="1050">
                  <a:solidFill>
                    <a:srgbClr val="0F172A"/>
                  </a:solidFill>
                  <a:latin typeface="Fira Code Medium"/>
                  <a:ea typeface="Fira Code Medium"/>
                  <a:cs typeface="Fira Code Medium"/>
                  <a:sym typeface="Fira Code Medium"/>
                </a:endParaRPr>
              </a:p>
              <a:p>
                <a:pPr indent="0" lvl="0" marL="0" rtl="0" algn="l">
                  <a:spcBef>
                    <a:spcPts val="600"/>
                  </a:spcBef>
                  <a:spcAft>
                    <a:spcPts val="0"/>
                  </a:spcAft>
                  <a:buNone/>
                </a:pPr>
                <a:r>
                  <a:rPr b="0" lang="en" sz="1050">
                    <a:solidFill>
                      <a:srgbClr val="0F172A"/>
                    </a:solidFill>
                    <a:latin typeface="Fira Code Medium"/>
                    <a:ea typeface="Fira Code Medium"/>
                    <a:cs typeface="Fira Code Medium"/>
                    <a:sym typeface="Fira Code Medium"/>
                  </a:rPr>
                  <a:t>  UserID int [pk]</a:t>
                </a:r>
                <a:endParaRPr b="0" sz="1050">
                  <a:solidFill>
                    <a:srgbClr val="0F172A"/>
                  </a:solidFill>
                  <a:latin typeface="Fira Code Medium"/>
                  <a:ea typeface="Fira Code Medium"/>
                  <a:cs typeface="Fira Code Medium"/>
                  <a:sym typeface="Fira Code Medium"/>
                </a:endParaRPr>
              </a:p>
              <a:p>
                <a:pPr indent="0" lvl="0" marL="0" rtl="0" algn="l">
                  <a:spcBef>
                    <a:spcPts val="600"/>
                  </a:spcBef>
                  <a:spcAft>
                    <a:spcPts val="0"/>
                  </a:spcAft>
                  <a:buNone/>
                </a:pPr>
                <a:r>
                  <a:rPr b="0" lang="en" sz="1050">
                    <a:solidFill>
                      <a:srgbClr val="0F172A"/>
                    </a:solidFill>
                    <a:latin typeface="Fira Code Medium"/>
                    <a:ea typeface="Fira Code Medium"/>
                    <a:cs typeface="Fira Code Medium"/>
                    <a:sym typeface="Fira Code Medium"/>
                  </a:rPr>
                  <a:t>  Username varchar</a:t>
                </a:r>
                <a:endParaRPr b="0" sz="1050">
                  <a:solidFill>
                    <a:srgbClr val="0F172A"/>
                  </a:solidFill>
                  <a:latin typeface="Fira Code Medium"/>
                  <a:ea typeface="Fira Code Medium"/>
                  <a:cs typeface="Fira Code Medium"/>
                  <a:sym typeface="Fira Code Medium"/>
                </a:endParaRPr>
              </a:p>
              <a:p>
                <a:pPr indent="0" lvl="0" marL="0" rtl="0" algn="l">
                  <a:spcBef>
                    <a:spcPts val="600"/>
                  </a:spcBef>
                  <a:spcAft>
                    <a:spcPts val="0"/>
                  </a:spcAft>
                  <a:buNone/>
                </a:pPr>
                <a:r>
                  <a:rPr b="0" lang="en" sz="1050">
                    <a:solidFill>
                      <a:srgbClr val="0F172A"/>
                    </a:solidFill>
                    <a:latin typeface="Fira Code Medium"/>
                    <a:ea typeface="Fira Code Medium"/>
                    <a:cs typeface="Fira Code Medium"/>
                    <a:sym typeface="Fira Code Medium"/>
                  </a:rPr>
                  <a:t>}</a:t>
                </a:r>
                <a:endParaRPr b="0" sz="1050">
                  <a:solidFill>
                    <a:srgbClr val="0F172A"/>
                  </a:solidFill>
                  <a:latin typeface="Fira Code Medium"/>
                  <a:ea typeface="Fira Code Medium"/>
                  <a:cs typeface="Fira Code Medium"/>
                  <a:sym typeface="Fira Code Medium"/>
                </a:endParaRPr>
              </a:p>
            </p:txBody>
          </p:sp>
        </p:grpSp>
        <p:grpSp>
          <p:nvGrpSpPr>
            <p:cNvPr id="203" name="Google Shape;203;p20"/>
            <p:cNvGrpSpPr/>
            <p:nvPr/>
          </p:nvGrpSpPr>
          <p:grpSpPr>
            <a:xfrm>
              <a:off x="4191000" y="0"/>
              <a:ext cx="3810000" cy="2000100"/>
              <a:chOff x="0" y="0"/>
              <a:chExt cx="3810000" cy="2000100"/>
            </a:xfrm>
          </p:grpSpPr>
          <p:sp>
            <p:nvSpPr>
              <p:cNvPr id="204" name="Google Shape;204;p20"/>
              <p:cNvSpPr/>
              <p:nvPr/>
            </p:nvSpPr>
            <p:spPr>
              <a:xfrm>
                <a:off x="0" y="0"/>
                <a:ext cx="3810000" cy="2000100"/>
              </a:xfrm>
              <a:prstGeom prst="roundRect">
                <a:avLst>
                  <a:gd fmla="val 2857" name="adj"/>
                </a:avLst>
              </a:prstGeom>
              <a:solidFill>
                <a:srgbClr val="FFFFFF"/>
              </a:solidFill>
              <a:ln cap="flat" cmpd="sng" w="9525">
                <a:solidFill>
                  <a:srgbClr val="E2E8F0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05" name="Google Shape;205;p20"/>
              <p:cNvSpPr/>
              <p:nvPr/>
            </p:nvSpPr>
            <p:spPr>
              <a:xfrm>
                <a:off x="0" y="0"/>
                <a:ext cx="38100" cy="2000100"/>
              </a:xfrm>
              <a:prstGeom prst="roundRect">
                <a:avLst>
                  <a:gd fmla="val 50000" name="adj"/>
                </a:avLst>
              </a:prstGeom>
              <a:solidFill>
                <a:srgbClr val="0F172A"/>
              </a:solidFill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06" name="Google Shape;206;p20"/>
              <p:cNvSpPr txBox="1"/>
              <p:nvPr/>
            </p:nvSpPr>
            <p:spPr>
              <a:xfrm>
                <a:off x="228600" y="190500"/>
                <a:ext cx="3352800" cy="16191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b="0" lang="en" sz="975">
                    <a:solidFill>
                      <a:srgbClr val="0F172A"/>
                    </a:solidFill>
                    <a:latin typeface="Inter SemiBold"/>
                    <a:ea typeface="Inter SemiBold"/>
                    <a:cs typeface="Inter SemiBold"/>
                    <a:sym typeface="Inter SemiBold"/>
                  </a:rPr>
                  <a:t>WEEK 6: SQL (PHYSICAL SYNTAX)</a:t>
                </a:r>
                <a:endParaRPr b="0" sz="975">
                  <a:solidFill>
                    <a:srgbClr val="0F172A"/>
                  </a:solidFill>
                  <a:latin typeface="Inter SemiBold"/>
                  <a:ea typeface="Inter SemiBold"/>
                  <a:cs typeface="Inter SemiBold"/>
                  <a:sym typeface="Inter SemiBold"/>
                </a:endParaRPr>
              </a:p>
              <a:p>
                <a:pPr indent="0" lvl="0" marL="0" rtl="0" algn="l">
                  <a:spcBef>
                    <a:spcPts val="1200"/>
                  </a:spcBef>
                  <a:spcAft>
                    <a:spcPts val="0"/>
                  </a:spcAft>
                  <a:buNone/>
                </a:pPr>
                <a:r>
                  <a:rPr b="0" lang="en" sz="1050">
                    <a:solidFill>
                      <a:srgbClr val="0F172A"/>
                    </a:solidFill>
                    <a:latin typeface="Fira Code Medium"/>
                    <a:ea typeface="Fira Code Medium"/>
                    <a:cs typeface="Fira Code Medium"/>
                    <a:sym typeface="Fira Code Medium"/>
                  </a:rPr>
                  <a:t>CREATE TABLE Users (</a:t>
                </a:r>
                <a:endParaRPr b="0" sz="1050">
                  <a:solidFill>
                    <a:srgbClr val="0F172A"/>
                  </a:solidFill>
                  <a:latin typeface="Fira Code Medium"/>
                  <a:ea typeface="Fira Code Medium"/>
                  <a:cs typeface="Fira Code Medium"/>
                  <a:sym typeface="Fira Code Medium"/>
                </a:endParaRPr>
              </a:p>
              <a:p>
                <a:pPr indent="0" lvl="0" marL="0" rtl="0" algn="l">
                  <a:spcBef>
                    <a:spcPts val="600"/>
                  </a:spcBef>
                  <a:spcAft>
                    <a:spcPts val="0"/>
                  </a:spcAft>
                  <a:buNone/>
                </a:pPr>
                <a:r>
                  <a:rPr b="0" lang="en" sz="1050">
                    <a:solidFill>
                      <a:srgbClr val="0F172A"/>
                    </a:solidFill>
                    <a:latin typeface="Fira Code Medium"/>
                    <a:ea typeface="Fira Code Medium"/>
                    <a:cs typeface="Fira Code Medium"/>
                    <a:sym typeface="Fira Code Medium"/>
                  </a:rPr>
                  <a:t>  UserID INT PRIMARY KEY,</a:t>
                </a:r>
                <a:endParaRPr b="0" sz="1050">
                  <a:solidFill>
                    <a:srgbClr val="0F172A"/>
                  </a:solidFill>
                  <a:latin typeface="Fira Code Medium"/>
                  <a:ea typeface="Fira Code Medium"/>
                  <a:cs typeface="Fira Code Medium"/>
                  <a:sym typeface="Fira Code Medium"/>
                </a:endParaRPr>
              </a:p>
              <a:p>
                <a:pPr indent="0" lvl="0" marL="0" rtl="0" algn="l">
                  <a:spcBef>
                    <a:spcPts val="600"/>
                  </a:spcBef>
                  <a:spcAft>
                    <a:spcPts val="0"/>
                  </a:spcAft>
                  <a:buNone/>
                </a:pPr>
                <a:r>
                  <a:rPr b="0" lang="en" sz="1050">
                    <a:solidFill>
                      <a:srgbClr val="0F172A"/>
                    </a:solidFill>
                    <a:latin typeface="Fira Code Medium"/>
                    <a:ea typeface="Fira Code Medium"/>
                    <a:cs typeface="Fira Code Medium"/>
                    <a:sym typeface="Fira Code Medium"/>
                  </a:rPr>
                  <a:t>  Username VARCHAR(50)</a:t>
                </a:r>
                <a:endParaRPr b="0" sz="1050">
                  <a:solidFill>
                    <a:srgbClr val="0F172A"/>
                  </a:solidFill>
                  <a:latin typeface="Fira Code Medium"/>
                  <a:ea typeface="Fira Code Medium"/>
                  <a:cs typeface="Fira Code Medium"/>
                  <a:sym typeface="Fira Code Medium"/>
                </a:endParaRPr>
              </a:p>
              <a:p>
                <a:pPr indent="0" lvl="0" marL="0" rtl="0" algn="l">
                  <a:spcBef>
                    <a:spcPts val="600"/>
                  </a:spcBef>
                  <a:spcAft>
                    <a:spcPts val="0"/>
                  </a:spcAft>
                  <a:buNone/>
                </a:pPr>
                <a:r>
                  <a:rPr b="0" lang="en" sz="1050">
                    <a:solidFill>
                      <a:srgbClr val="0F172A"/>
                    </a:solidFill>
                    <a:latin typeface="Fira Code Medium"/>
                    <a:ea typeface="Fira Code Medium"/>
                    <a:cs typeface="Fira Code Medium"/>
                    <a:sym typeface="Fira Code Medium"/>
                  </a:rPr>
                  <a:t>);</a:t>
                </a:r>
                <a:endParaRPr b="0" sz="1050">
                  <a:solidFill>
                    <a:srgbClr val="0F172A"/>
                  </a:solidFill>
                  <a:latin typeface="Fira Code Medium"/>
                  <a:ea typeface="Fira Code Medium"/>
                  <a:cs typeface="Fira Code Medium"/>
                  <a:sym typeface="Fira Code Medium"/>
                </a:endParaRPr>
              </a:p>
            </p:txBody>
          </p:sp>
        </p:grpSp>
      </p:grpSp>
      <p:grpSp>
        <p:nvGrpSpPr>
          <p:cNvPr id="207" name="Google Shape;207;p20"/>
          <p:cNvGrpSpPr/>
          <p:nvPr/>
        </p:nvGrpSpPr>
        <p:grpSpPr>
          <a:xfrm>
            <a:off x="571500" y="3810000"/>
            <a:ext cx="8001000" cy="800100"/>
            <a:chOff x="0" y="0"/>
            <a:chExt cx="8001000" cy="800100"/>
          </a:xfrm>
        </p:grpSpPr>
        <p:sp>
          <p:nvSpPr>
            <p:cNvPr id="208" name="Google Shape;208;p20"/>
            <p:cNvSpPr/>
            <p:nvPr/>
          </p:nvSpPr>
          <p:spPr>
            <a:xfrm>
              <a:off x="0" y="0"/>
              <a:ext cx="8001000" cy="800100"/>
            </a:xfrm>
            <a:prstGeom prst="roundRect">
              <a:avLst>
                <a:gd fmla="val 9523" name="adj"/>
              </a:avLst>
            </a:prstGeom>
            <a:solidFill>
              <a:srgbClr val="F0F9FF"/>
            </a:solidFill>
            <a:ln cap="flat" cmpd="sng" w="9525">
              <a:solidFill>
                <a:srgbClr val="BAE6FD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09" name="Google Shape;209;p20"/>
            <p:cNvSpPr/>
            <p:nvPr/>
          </p:nvSpPr>
          <p:spPr>
            <a:xfrm>
              <a:off x="0" y="0"/>
              <a:ext cx="76200" cy="800100"/>
            </a:xfrm>
            <a:custGeom>
              <a:rect b="b" l="l" r="r" t="t"/>
              <a:pathLst>
                <a:path extrusionOk="0" h="120000" w="120000">
                  <a:moveTo>
                    <a:pt x="0" y="11429"/>
                  </a:moveTo>
                  <a:quadBezTo>
                    <a:pt x="0" y="0"/>
                    <a:pt x="120000" y="0"/>
                  </a:quadBezTo>
                  <a:lnTo>
                    <a:pt x="120000" y="120000"/>
                  </a:lnTo>
                  <a:lnTo>
                    <a:pt x="120000" y="120000"/>
                  </a:lnTo>
                  <a:quadBezTo>
                    <a:pt x="0" y="120000"/>
                    <a:pt x="0" y="108571"/>
                  </a:quadBezTo>
                  <a:close/>
                </a:path>
              </a:pathLst>
            </a:custGeom>
            <a:solidFill>
              <a:srgbClr val="2563EB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10" name="Google Shape;210;p20"/>
            <p:cNvSpPr txBox="1"/>
            <p:nvPr/>
          </p:nvSpPr>
          <p:spPr>
            <a:xfrm>
              <a:off x="266700" y="171450"/>
              <a:ext cx="7467600" cy="45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lang="en" sz="1125">
                  <a:solidFill>
                    <a:srgbClr val="0F172A"/>
                  </a:solidFill>
                  <a:latin typeface="Inter Medium"/>
                  <a:ea typeface="Inter Medium"/>
                  <a:cs typeface="Inter Medium"/>
                  <a:sym typeface="Inter Medium"/>
                </a:rPr>
                <a:t>The structural logic remains identical across both formats, requiring only specific syntax adjustments and explicit data length constraints for physical database execution.</a:t>
              </a:r>
              <a:endParaRPr b="0" sz="1125">
                <a:solidFill>
                  <a:srgbClr val="0F172A"/>
                </a:solidFill>
                <a:latin typeface="Inter Medium"/>
                <a:ea typeface="Inter Medium"/>
                <a:cs typeface="Inter Medium"/>
                <a:sym typeface="Inter Medium"/>
              </a:endParaRPr>
            </a:p>
          </p:txBody>
        </p:sp>
      </p:grp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14" name="Shape 2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15" name="Google Shape;215;p21"/>
          <p:cNvGrpSpPr/>
          <p:nvPr/>
        </p:nvGrpSpPr>
        <p:grpSpPr>
          <a:xfrm>
            <a:off x="0" y="0"/>
            <a:ext cx="9144000" cy="5143500"/>
            <a:chOff x="0" y="0"/>
            <a:chExt cx="9144000" cy="5143500"/>
          </a:xfrm>
        </p:grpSpPr>
        <p:sp>
          <p:nvSpPr>
            <p:cNvPr id="216" name="Google Shape;216;p21"/>
            <p:cNvSpPr/>
            <p:nvPr/>
          </p:nvSpPr>
          <p:spPr>
            <a:xfrm>
              <a:off x="0" y="0"/>
              <a:ext cx="9144000" cy="5143500"/>
            </a:xfrm>
            <a:prstGeom prst="rect">
              <a:avLst/>
            </a:prstGeom>
            <a:solidFill>
              <a:srgbClr val="F8FAFC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17" name="Google Shape;217;p21"/>
            <p:cNvSpPr/>
            <p:nvPr/>
          </p:nvSpPr>
          <p:spPr>
            <a:xfrm>
              <a:off x="590550" y="400050"/>
              <a:ext cx="190500" cy="190500"/>
            </a:xfrm>
            <a:custGeom>
              <a:rect b="b" l="l" r="r" t="t"/>
              <a:pathLst>
                <a:path extrusionOk="0" h="120000" w="120000">
                  <a:moveTo>
                    <a:pt x="60000" y="0"/>
                  </a:moveTo>
                  <a:cubicBezTo>
                    <a:pt x="26880" y="0"/>
                    <a:pt x="0" y="26880"/>
                    <a:pt x="0" y="60000"/>
                  </a:cubicBezTo>
                  <a:lnTo>
                    <a:pt x="26880" y="120000"/>
                  </a:lnTo>
                  <a:lnTo>
                    <a:pt x="60000" y="120000"/>
                  </a:lnTo>
                  <a:lnTo>
                    <a:pt x="120000" y="93120"/>
                  </a:lnTo>
                  <a:lnTo>
                    <a:pt x="120000" y="60000"/>
                  </a:lnTo>
                  <a:lnTo>
                    <a:pt x="93120" y="0"/>
                  </a:lnTo>
                  <a:lnTo>
                    <a:pt x="60000" y="0"/>
                  </a:lnTo>
                  <a:close/>
                  <a:moveTo>
                    <a:pt x="60000" y="108000"/>
                  </a:moveTo>
                  <a:cubicBezTo>
                    <a:pt x="33540" y="108000"/>
                    <a:pt x="12000" y="86460"/>
                    <a:pt x="12000" y="60000"/>
                  </a:cubicBezTo>
                  <a:lnTo>
                    <a:pt x="33540" y="12000"/>
                  </a:lnTo>
                  <a:lnTo>
                    <a:pt x="60000" y="12000"/>
                  </a:lnTo>
                  <a:lnTo>
                    <a:pt x="108000" y="33540"/>
                  </a:lnTo>
                  <a:lnTo>
                    <a:pt x="108000" y="60000"/>
                  </a:lnTo>
                  <a:lnTo>
                    <a:pt x="86460" y="108000"/>
                  </a:lnTo>
                  <a:lnTo>
                    <a:pt x="60000" y="108000"/>
                  </a:lnTo>
                  <a:close/>
                  <a:moveTo>
                    <a:pt x="54000" y="30000"/>
                  </a:moveTo>
                  <a:lnTo>
                    <a:pt x="66000" y="30000"/>
                  </a:lnTo>
                  <a:lnTo>
                    <a:pt x="66000" y="66000"/>
                  </a:lnTo>
                  <a:lnTo>
                    <a:pt x="54000" y="66000"/>
                  </a:lnTo>
                  <a:close/>
                  <a:moveTo>
                    <a:pt x="54000" y="78000"/>
                  </a:moveTo>
                  <a:lnTo>
                    <a:pt x="66000" y="78000"/>
                  </a:lnTo>
                  <a:lnTo>
                    <a:pt x="66000" y="90000"/>
                  </a:lnTo>
                  <a:lnTo>
                    <a:pt x="54000" y="90000"/>
                  </a:lnTo>
                  <a:close/>
                </a:path>
              </a:pathLst>
            </a:custGeom>
            <a:solidFill>
              <a:srgbClr val="2563EB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18" name="Google Shape;218;p21"/>
            <p:cNvSpPr txBox="1"/>
            <p:nvPr/>
          </p:nvSpPr>
          <p:spPr>
            <a:xfrm>
              <a:off x="914400" y="400050"/>
              <a:ext cx="7086600" cy="2286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lang="en" sz="900">
                  <a:solidFill>
                    <a:srgbClr val="475569"/>
                  </a:solidFill>
                  <a:latin typeface="Inter SemiBold"/>
                  <a:ea typeface="Inter SemiBold"/>
                  <a:cs typeface="Inter SemiBold"/>
                  <a:sym typeface="Inter SemiBold"/>
                </a:rPr>
                <a:t>MODULE 2: IMPLEMENTATION</a:t>
              </a:r>
              <a:endParaRPr b="0" sz="900">
                <a:solidFill>
                  <a:srgbClr val="475569"/>
                </a:solidFill>
                <a:latin typeface="Inter SemiBold"/>
                <a:ea typeface="Inter SemiBold"/>
                <a:cs typeface="Inter SemiBold"/>
                <a:sym typeface="Inter SemiBold"/>
              </a:endParaRPr>
            </a:p>
          </p:txBody>
        </p:sp>
      </p:grpSp>
      <p:sp>
        <p:nvSpPr>
          <p:cNvPr id="219" name="Google Shape;219;p21"/>
          <p:cNvSpPr txBox="1"/>
          <p:nvPr/>
        </p:nvSpPr>
        <p:spPr>
          <a:xfrm>
            <a:off x="571500" y="809625"/>
            <a:ext cx="8001000" cy="666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400">
                <a:solidFill>
                  <a:srgbClr val="0F172A"/>
                </a:solidFill>
                <a:latin typeface="Inter"/>
                <a:ea typeface="Inter"/>
                <a:cs typeface="Inter"/>
                <a:sym typeface="Inter"/>
              </a:rPr>
              <a:t>CREATE TABLE Syntax</a:t>
            </a:r>
            <a:endParaRPr b="1" sz="2400">
              <a:solidFill>
                <a:srgbClr val="0F172A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0" lvl="0" marL="0" rtl="0" algn="l">
              <a:spcBef>
                <a:spcPts val="300"/>
              </a:spcBef>
              <a:spcAft>
                <a:spcPts val="0"/>
              </a:spcAft>
              <a:buNone/>
            </a:pPr>
            <a:r>
              <a:rPr b="0" lang="en" sz="1500">
                <a:solidFill>
                  <a:srgbClr val="2563EB"/>
                </a:solidFill>
                <a:latin typeface="Inter Medium"/>
                <a:ea typeface="Inter Medium"/>
                <a:cs typeface="Inter Medium"/>
                <a:sym typeface="Inter Medium"/>
              </a:rPr>
              <a:t>Structural breakdown and key rules</a:t>
            </a:r>
            <a:endParaRPr b="0" sz="1500">
              <a:solidFill>
                <a:srgbClr val="2563EB"/>
              </a:solidFill>
              <a:latin typeface="Inter Medium"/>
              <a:ea typeface="Inter Medium"/>
              <a:cs typeface="Inter Medium"/>
              <a:sym typeface="Inter Medium"/>
            </a:endParaRPr>
          </a:p>
        </p:txBody>
      </p:sp>
      <p:grpSp>
        <p:nvGrpSpPr>
          <p:cNvPr id="220" name="Google Shape;220;p21"/>
          <p:cNvGrpSpPr/>
          <p:nvPr/>
        </p:nvGrpSpPr>
        <p:grpSpPr>
          <a:xfrm>
            <a:off x="571500" y="1571625"/>
            <a:ext cx="8001000" cy="1714500"/>
            <a:chOff x="0" y="0"/>
            <a:chExt cx="8001000" cy="1714500"/>
          </a:xfrm>
        </p:grpSpPr>
        <p:sp>
          <p:nvSpPr>
            <p:cNvPr id="221" name="Google Shape;221;p21"/>
            <p:cNvSpPr/>
            <p:nvPr/>
          </p:nvSpPr>
          <p:spPr>
            <a:xfrm>
              <a:off x="0" y="0"/>
              <a:ext cx="8001000" cy="1714500"/>
            </a:xfrm>
            <a:prstGeom prst="roundRect">
              <a:avLst>
                <a:gd fmla="val 3333" name="adj"/>
              </a:avLst>
            </a:prstGeom>
            <a:solidFill>
              <a:srgbClr val="FFFFFF"/>
            </a:solidFill>
            <a:ln cap="flat" cmpd="sng" w="9525">
              <a:solidFill>
                <a:srgbClr val="CBD5E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22" name="Google Shape;222;p21"/>
            <p:cNvSpPr/>
            <p:nvPr/>
          </p:nvSpPr>
          <p:spPr>
            <a:xfrm>
              <a:off x="0" y="0"/>
              <a:ext cx="57300" cy="1714500"/>
            </a:xfrm>
            <a:prstGeom prst="roundRect">
              <a:avLst>
                <a:gd fmla="val 50000" name="adj"/>
              </a:avLst>
            </a:prstGeom>
            <a:solidFill>
              <a:srgbClr val="2563EB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23" name="Google Shape;223;p21"/>
            <p:cNvSpPr txBox="1"/>
            <p:nvPr/>
          </p:nvSpPr>
          <p:spPr>
            <a:xfrm>
              <a:off x="266700" y="190500"/>
              <a:ext cx="7467600" cy="13335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" sz="1125">
                  <a:solidFill>
                    <a:srgbClr val="2563EB"/>
                  </a:solidFill>
                  <a:latin typeface="Fira Code"/>
                  <a:ea typeface="Fira Code"/>
                  <a:cs typeface="Fira Code"/>
                  <a:sym typeface="Fira Code"/>
                </a:rPr>
                <a:t>CREATE TABLE</a:t>
              </a:r>
              <a:r>
                <a:rPr b="0" lang="en" sz="1125">
                  <a:solidFill>
                    <a:srgbClr val="0F172A"/>
                  </a:solidFill>
                  <a:latin typeface="Fira Code Medium"/>
                  <a:ea typeface="Fira Code Medium"/>
                  <a:cs typeface="Fira Code Medium"/>
                  <a:sym typeface="Fira Code Medium"/>
                </a:rPr>
                <a:t> </a:t>
              </a:r>
              <a:r>
                <a:rPr b="0" i="1" lang="en" sz="1125">
                  <a:solidFill>
                    <a:srgbClr val="0F172A"/>
                  </a:solidFill>
                  <a:latin typeface="Fira Code Medium"/>
                  <a:ea typeface="Fira Code Medium"/>
                  <a:cs typeface="Fira Code Medium"/>
                  <a:sym typeface="Fira Code Medium"/>
                </a:rPr>
                <a:t>table_name</a:t>
              </a:r>
              <a:r>
                <a:rPr b="0" lang="en" sz="1125">
                  <a:solidFill>
                    <a:srgbClr val="0F172A"/>
                  </a:solidFill>
                  <a:latin typeface="Fira Code Medium"/>
                  <a:ea typeface="Fira Code Medium"/>
                  <a:cs typeface="Fira Code Medium"/>
                  <a:sym typeface="Fira Code Medium"/>
                </a:rPr>
                <a:t> </a:t>
              </a:r>
              <a:r>
                <a:rPr b="1" lang="en" sz="1125">
                  <a:solidFill>
                    <a:srgbClr val="64748B"/>
                  </a:solidFill>
                  <a:latin typeface="Fira Code"/>
                  <a:ea typeface="Fira Code"/>
                  <a:cs typeface="Fira Code"/>
                  <a:sym typeface="Fira Code"/>
                </a:rPr>
                <a:t>(</a:t>
              </a:r>
              <a:endParaRPr b="0" sz="1125">
                <a:solidFill>
                  <a:srgbClr val="0F172A"/>
                </a:solidFill>
                <a:latin typeface="Fira Code Medium"/>
                <a:ea typeface="Fira Code Medium"/>
                <a:cs typeface="Fira Code Medium"/>
                <a:sym typeface="Fira Code Medium"/>
              </a:endParaRPr>
            </a:p>
            <a:p>
              <a:pPr indent="0" lvl="0" marL="0" rtl="0" algn="l">
                <a:spcBef>
                  <a:spcPts val="900"/>
                </a:spcBef>
                <a:spcAft>
                  <a:spcPts val="0"/>
                </a:spcAft>
                <a:buNone/>
              </a:pPr>
              <a:r>
                <a:rPr b="0" i="1" lang="en" sz="1125">
                  <a:solidFill>
                    <a:srgbClr val="0F172A"/>
                  </a:solidFill>
                  <a:latin typeface="Fira Code Medium"/>
                  <a:ea typeface="Fira Code Medium"/>
                  <a:cs typeface="Fira Code Medium"/>
                  <a:sym typeface="Fira Code Medium"/>
                </a:rPr>
                <a:t>column1_name</a:t>
              </a:r>
              <a:r>
                <a:rPr b="0" lang="en" sz="1125">
                  <a:solidFill>
                    <a:srgbClr val="0F172A"/>
                  </a:solidFill>
                  <a:latin typeface="Fira Code Medium"/>
                  <a:ea typeface="Fira Code Medium"/>
                  <a:cs typeface="Fira Code Medium"/>
                  <a:sym typeface="Fira Code Medium"/>
                </a:rPr>
                <a:t> </a:t>
              </a:r>
              <a:r>
                <a:rPr b="0" lang="en" sz="1125">
                  <a:solidFill>
                    <a:srgbClr val="0D9488"/>
                  </a:solidFill>
                  <a:latin typeface="Fira Code SemiBold"/>
                  <a:ea typeface="Fira Code SemiBold"/>
                  <a:cs typeface="Fira Code SemiBold"/>
                  <a:sym typeface="Fira Code SemiBold"/>
                </a:rPr>
                <a:t>DATA_TYPE</a:t>
              </a:r>
              <a:r>
                <a:rPr b="0" lang="en" sz="1125">
                  <a:solidFill>
                    <a:srgbClr val="0F172A"/>
                  </a:solidFill>
                  <a:latin typeface="Fira Code Medium"/>
                  <a:ea typeface="Fira Code Medium"/>
                  <a:cs typeface="Fira Code Medium"/>
                  <a:sym typeface="Fira Code Medium"/>
                </a:rPr>
                <a:t> </a:t>
              </a:r>
              <a:r>
                <a:rPr b="0" lang="en" sz="1125">
                  <a:solidFill>
                    <a:srgbClr val="D97706"/>
                  </a:solidFill>
                  <a:latin typeface="Fira Code SemiBold"/>
                  <a:ea typeface="Fira Code SemiBold"/>
                  <a:cs typeface="Fira Code SemiBold"/>
                  <a:sym typeface="Fira Code SemiBold"/>
                </a:rPr>
                <a:t>CONSTRAINTS</a:t>
              </a:r>
              <a:r>
                <a:rPr b="1" lang="en" sz="1125">
                  <a:solidFill>
                    <a:srgbClr val="64748B"/>
                  </a:solidFill>
                  <a:latin typeface="Fira Code"/>
                  <a:ea typeface="Fira Code"/>
                  <a:cs typeface="Fira Code"/>
                  <a:sym typeface="Fira Code"/>
                </a:rPr>
                <a:t>,</a:t>
              </a:r>
              <a:endParaRPr b="0" sz="1125">
                <a:solidFill>
                  <a:srgbClr val="0F172A"/>
                </a:solidFill>
                <a:latin typeface="Fira Code Medium"/>
                <a:ea typeface="Fira Code Medium"/>
                <a:cs typeface="Fira Code Medium"/>
                <a:sym typeface="Fira Code Medium"/>
              </a:endParaRPr>
            </a:p>
            <a:p>
              <a:pPr indent="0" lvl="0" marL="0" rtl="0" algn="l">
                <a:spcBef>
                  <a:spcPts val="600"/>
                </a:spcBef>
                <a:spcAft>
                  <a:spcPts val="0"/>
                </a:spcAft>
                <a:buNone/>
              </a:pPr>
              <a:r>
                <a:rPr b="0" i="1" lang="en" sz="1125">
                  <a:solidFill>
                    <a:srgbClr val="0F172A"/>
                  </a:solidFill>
                  <a:latin typeface="Fira Code Medium"/>
                  <a:ea typeface="Fira Code Medium"/>
                  <a:cs typeface="Fira Code Medium"/>
                  <a:sym typeface="Fira Code Medium"/>
                </a:rPr>
                <a:t>column2_name</a:t>
              </a:r>
              <a:r>
                <a:rPr b="0" lang="en" sz="1125">
                  <a:solidFill>
                    <a:srgbClr val="0F172A"/>
                  </a:solidFill>
                  <a:latin typeface="Fira Code Medium"/>
                  <a:ea typeface="Fira Code Medium"/>
                  <a:cs typeface="Fira Code Medium"/>
                  <a:sym typeface="Fira Code Medium"/>
                </a:rPr>
                <a:t> </a:t>
              </a:r>
              <a:r>
                <a:rPr b="0" lang="en" sz="1125">
                  <a:solidFill>
                    <a:srgbClr val="0D9488"/>
                  </a:solidFill>
                  <a:latin typeface="Fira Code SemiBold"/>
                  <a:ea typeface="Fira Code SemiBold"/>
                  <a:cs typeface="Fira Code SemiBold"/>
                  <a:sym typeface="Fira Code SemiBold"/>
                </a:rPr>
                <a:t>DATA_TYPE</a:t>
              </a:r>
              <a:r>
                <a:rPr b="0" lang="en" sz="1125">
                  <a:solidFill>
                    <a:srgbClr val="0F172A"/>
                  </a:solidFill>
                  <a:latin typeface="Fira Code Medium"/>
                  <a:ea typeface="Fira Code Medium"/>
                  <a:cs typeface="Fira Code Medium"/>
                  <a:sym typeface="Fira Code Medium"/>
                </a:rPr>
                <a:t> </a:t>
              </a:r>
              <a:r>
                <a:rPr b="0" lang="en" sz="1125">
                  <a:solidFill>
                    <a:srgbClr val="D97706"/>
                  </a:solidFill>
                  <a:latin typeface="Fira Code SemiBold"/>
                  <a:ea typeface="Fira Code SemiBold"/>
                  <a:cs typeface="Fira Code SemiBold"/>
                  <a:sym typeface="Fira Code SemiBold"/>
                </a:rPr>
                <a:t>CONSTRAINTS</a:t>
              </a:r>
              <a:r>
                <a:rPr b="1" lang="en" sz="1125">
                  <a:solidFill>
                    <a:srgbClr val="64748B"/>
                  </a:solidFill>
                  <a:latin typeface="Fira Code"/>
                  <a:ea typeface="Fira Code"/>
                  <a:cs typeface="Fira Code"/>
                  <a:sym typeface="Fira Code"/>
                </a:rPr>
                <a:t>,</a:t>
              </a:r>
              <a:endParaRPr b="0" sz="1125">
                <a:solidFill>
                  <a:srgbClr val="0F172A"/>
                </a:solidFill>
                <a:latin typeface="Fira Code Medium"/>
                <a:ea typeface="Fira Code Medium"/>
                <a:cs typeface="Fira Code Medium"/>
                <a:sym typeface="Fira Code Medium"/>
              </a:endParaRPr>
            </a:p>
            <a:p>
              <a:pPr indent="0" lvl="0" marL="0" rtl="0" algn="l">
                <a:spcBef>
                  <a:spcPts val="600"/>
                </a:spcBef>
                <a:spcAft>
                  <a:spcPts val="0"/>
                </a:spcAft>
                <a:buNone/>
              </a:pPr>
              <a:r>
                <a:rPr b="1" lang="en" sz="1125">
                  <a:solidFill>
                    <a:srgbClr val="64748B"/>
                  </a:solidFill>
                  <a:latin typeface="Fira Code"/>
                  <a:ea typeface="Fira Code"/>
                  <a:cs typeface="Fira Code"/>
                  <a:sym typeface="Fira Code"/>
                </a:rPr>
                <a:t>...</a:t>
              </a:r>
              <a:endParaRPr b="0" sz="1125">
                <a:solidFill>
                  <a:srgbClr val="94A3B8"/>
                </a:solidFill>
                <a:latin typeface="Fira Code Medium"/>
                <a:ea typeface="Fira Code Medium"/>
                <a:cs typeface="Fira Code Medium"/>
                <a:sym typeface="Fira Code Medium"/>
              </a:endParaRPr>
            </a:p>
            <a:p>
              <a:pPr indent="0" lvl="0" marL="0" rtl="0" algn="l">
                <a:spcBef>
                  <a:spcPts val="900"/>
                </a:spcBef>
                <a:spcAft>
                  <a:spcPts val="0"/>
                </a:spcAft>
                <a:buNone/>
              </a:pPr>
              <a:r>
                <a:rPr b="1" lang="en" sz="1125">
                  <a:solidFill>
                    <a:srgbClr val="64748B"/>
                  </a:solidFill>
                  <a:latin typeface="Fira Code"/>
                  <a:ea typeface="Fira Code"/>
                  <a:cs typeface="Fira Code"/>
                  <a:sym typeface="Fira Code"/>
                </a:rPr>
                <a:t>);</a:t>
              </a:r>
              <a:endParaRPr b="0" sz="1125">
                <a:solidFill>
                  <a:srgbClr val="0F172A"/>
                </a:solidFill>
                <a:latin typeface="Fira Code Medium"/>
                <a:ea typeface="Fira Code Medium"/>
                <a:cs typeface="Fira Code Medium"/>
                <a:sym typeface="Fira Code Medium"/>
              </a:endParaRPr>
            </a:p>
          </p:txBody>
        </p:sp>
      </p:grpSp>
      <p:grpSp>
        <p:nvGrpSpPr>
          <p:cNvPr id="224" name="Google Shape;224;p21"/>
          <p:cNvGrpSpPr/>
          <p:nvPr/>
        </p:nvGrpSpPr>
        <p:grpSpPr>
          <a:xfrm>
            <a:off x="571500" y="3476625"/>
            <a:ext cx="8001000" cy="1095300"/>
            <a:chOff x="0" y="0"/>
            <a:chExt cx="8001000" cy="1095300"/>
          </a:xfrm>
        </p:grpSpPr>
        <p:sp>
          <p:nvSpPr>
            <p:cNvPr id="225" name="Google Shape;225;p21"/>
            <p:cNvSpPr/>
            <p:nvPr/>
          </p:nvSpPr>
          <p:spPr>
            <a:xfrm>
              <a:off x="0" y="0"/>
              <a:ext cx="2476500" cy="1095300"/>
            </a:xfrm>
            <a:prstGeom prst="roundRect">
              <a:avLst>
                <a:gd fmla="val 5217" name="adj"/>
              </a:avLst>
            </a:prstGeom>
            <a:solidFill>
              <a:srgbClr val="FFFFFF"/>
            </a:solidFill>
            <a:ln cap="flat" cmpd="sng" w="9525">
              <a:solidFill>
                <a:srgbClr val="E2E8F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26" name="Google Shape;226;p21"/>
            <p:cNvSpPr/>
            <p:nvPr/>
          </p:nvSpPr>
          <p:spPr>
            <a:xfrm>
              <a:off x="0" y="0"/>
              <a:ext cx="2476500" cy="57300"/>
            </a:xfrm>
            <a:custGeom>
              <a:rect b="b" l="l" r="r" t="t"/>
              <a:pathLst>
                <a:path extrusionOk="0" h="120000" w="120000">
                  <a:moveTo>
                    <a:pt x="0" y="120000"/>
                  </a:moveTo>
                  <a:quadBezTo>
                    <a:pt x="0" y="0"/>
                    <a:pt x="2769" y="0"/>
                  </a:quadBezTo>
                  <a:lnTo>
                    <a:pt x="120000" y="0"/>
                  </a:lnTo>
                  <a:lnTo>
                    <a:pt x="120000" y="80000"/>
                  </a:lnTo>
                  <a:lnTo>
                    <a:pt x="0" y="80000"/>
                  </a:lnTo>
                  <a:close/>
                </a:path>
              </a:pathLst>
            </a:custGeom>
            <a:solidFill>
              <a:srgbClr val="2563EB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27" name="Google Shape;227;p21"/>
            <p:cNvSpPr txBox="1"/>
            <p:nvPr/>
          </p:nvSpPr>
          <p:spPr>
            <a:xfrm>
              <a:off x="152400" y="133350"/>
              <a:ext cx="2171700" cy="8286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lang="en" sz="900">
                  <a:solidFill>
                    <a:srgbClr val="2563EB"/>
                  </a:solidFill>
                  <a:latin typeface="Inter SemiBold"/>
                  <a:ea typeface="Inter SemiBold"/>
                  <a:cs typeface="Inter SemiBold"/>
                  <a:sym typeface="Inter SemiBold"/>
                </a:rPr>
                <a:t>1. Statement Start</a:t>
              </a:r>
              <a:endParaRPr b="0" sz="900">
                <a:solidFill>
                  <a:srgbClr val="2563EB"/>
                </a:solidFill>
                <a:latin typeface="Inter SemiBold"/>
                <a:ea typeface="Inter SemiBold"/>
                <a:cs typeface="Inter SemiBold"/>
                <a:sym typeface="Inter SemiBold"/>
              </a:endParaRPr>
            </a:p>
            <a:p>
              <a:pPr indent="0" lvl="0" marL="0" rtl="0" algn="l">
                <a:spcBef>
                  <a:spcPts val="450"/>
                </a:spcBef>
                <a:spcAft>
                  <a:spcPts val="0"/>
                </a:spcAft>
                <a:buNone/>
              </a:pPr>
              <a:r>
                <a:rPr b="0" lang="en" sz="975">
                  <a:solidFill>
                    <a:srgbClr val="475569"/>
                  </a:solidFill>
                  <a:latin typeface="Inter"/>
                  <a:ea typeface="Inter"/>
                  <a:cs typeface="Inter"/>
                  <a:sym typeface="Inter"/>
                </a:rPr>
                <a:t>Begin with </a:t>
              </a:r>
              <a:r>
                <a:rPr b="0" lang="en" sz="975">
                  <a:solidFill>
                    <a:srgbClr val="475569"/>
                  </a:solidFill>
                  <a:latin typeface="Fira Code SemiBold"/>
                  <a:ea typeface="Fira Code SemiBold"/>
                  <a:cs typeface="Fira Code SemiBold"/>
                  <a:sym typeface="Fira Code SemiBold"/>
                </a:rPr>
                <a:t>CREATE TABLE</a:t>
              </a:r>
              <a:r>
                <a:rPr b="0" lang="en" sz="975">
                  <a:solidFill>
                    <a:srgbClr val="475569"/>
                  </a:solidFill>
                  <a:latin typeface="Inter"/>
                  <a:ea typeface="Inter"/>
                  <a:cs typeface="Inter"/>
                  <a:sym typeface="Inter"/>
                </a:rPr>
                <a:t> followed by the </a:t>
              </a:r>
              <a:r>
                <a:rPr b="0" lang="en" sz="975">
                  <a:solidFill>
                    <a:srgbClr val="475569"/>
                  </a:solidFill>
                  <a:latin typeface="Fira Code"/>
                  <a:ea typeface="Fira Code"/>
                  <a:cs typeface="Fira Code"/>
                  <a:sym typeface="Fira Code"/>
                </a:rPr>
                <a:t>table_name</a:t>
              </a:r>
              <a:r>
                <a:rPr b="0" lang="en" sz="975">
                  <a:solidFill>
                    <a:srgbClr val="475569"/>
                  </a:solidFill>
                  <a:latin typeface="Inter"/>
                  <a:ea typeface="Inter"/>
                  <a:cs typeface="Inter"/>
                  <a:sym typeface="Inter"/>
                </a:rPr>
                <a:t> and an opening parenthesis </a:t>
              </a:r>
              <a:r>
                <a:rPr b="1" lang="en" sz="975">
                  <a:solidFill>
                    <a:srgbClr val="475569"/>
                  </a:solidFill>
                  <a:latin typeface="Fira Code"/>
                  <a:ea typeface="Fira Code"/>
                  <a:cs typeface="Fira Code"/>
                  <a:sym typeface="Fira Code"/>
                </a:rPr>
                <a:t>(</a:t>
              </a:r>
              <a:r>
                <a:rPr b="0" lang="en" sz="975">
                  <a:solidFill>
                    <a:srgbClr val="475569"/>
                  </a:solidFill>
                  <a:latin typeface="Inter"/>
                  <a:ea typeface="Inter"/>
                  <a:cs typeface="Inter"/>
                  <a:sym typeface="Inter"/>
                </a:rPr>
                <a:t>.</a:t>
              </a:r>
              <a:endParaRPr b="0" sz="975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endParaRPr>
            </a:p>
          </p:txBody>
        </p:sp>
        <p:sp>
          <p:nvSpPr>
            <p:cNvPr id="228" name="Google Shape;228;p21"/>
            <p:cNvSpPr/>
            <p:nvPr/>
          </p:nvSpPr>
          <p:spPr>
            <a:xfrm>
              <a:off x="2762250" y="0"/>
              <a:ext cx="2476500" cy="1095300"/>
            </a:xfrm>
            <a:prstGeom prst="roundRect">
              <a:avLst>
                <a:gd fmla="val 5217" name="adj"/>
              </a:avLst>
            </a:prstGeom>
            <a:solidFill>
              <a:srgbClr val="FFFFFF"/>
            </a:solidFill>
            <a:ln cap="flat" cmpd="sng" w="9525">
              <a:solidFill>
                <a:srgbClr val="E2E8F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29" name="Google Shape;229;p21"/>
            <p:cNvSpPr/>
            <p:nvPr/>
          </p:nvSpPr>
          <p:spPr>
            <a:xfrm>
              <a:off x="2762250" y="0"/>
              <a:ext cx="2476500" cy="57300"/>
            </a:xfrm>
            <a:custGeom>
              <a:rect b="b" l="l" r="r" t="t"/>
              <a:pathLst>
                <a:path extrusionOk="0" h="120000" w="120000">
                  <a:moveTo>
                    <a:pt x="0" y="120000"/>
                  </a:moveTo>
                  <a:quadBezTo>
                    <a:pt x="0" y="0"/>
                    <a:pt x="2769" y="0"/>
                  </a:quadBezTo>
                  <a:lnTo>
                    <a:pt x="120000" y="0"/>
                  </a:lnTo>
                  <a:lnTo>
                    <a:pt x="120000" y="80000"/>
                  </a:lnTo>
                  <a:lnTo>
                    <a:pt x="0" y="80000"/>
                  </a:lnTo>
                  <a:close/>
                </a:path>
              </a:pathLst>
            </a:custGeom>
            <a:solidFill>
              <a:srgbClr val="0D9488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30" name="Google Shape;230;p21"/>
            <p:cNvSpPr txBox="1"/>
            <p:nvPr/>
          </p:nvSpPr>
          <p:spPr>
            <a:xfrm>
              <a:off x="2914650" y="133350"/>
              <a:ext cx="2171700" cy="8286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lang="en" sz="900">
                  <a:solidFill>
                    <a:srgbClr val="0D9488"/>
                  </a:solidFill>
                  <a:latin typeface="Inter SemiBold"/>
                  <a:ea typeface="Inter SemiBold"/>
                  <a:cs typeface="Inter SemiBold"/>
                  <a:sym typeface="Inter SemiBold"/>
                </a:rPr>
                <a:t>2. Column Definitions</a:t>
              </a:r>
              <a:endParaRPr b="0" sz="900">
                <a:solidFill>
                  <a:srgbClr val="0D9488"/>
                </a:solidFill>
                <a:latin typeface="Inter SemiBold"/>
                <a:ea typeface="Inter SemiBold"/>
                <a:cs typeface="Inter SemiBold"/>
                <a:sym typeface="Inter SemiBold"/>
              </a:endParaRPr>
            </a:p>
            <a:p>
              <a:pPr indent="0" lvl="0" marL="0" rtl="0" algn="l">
                <a:spcBef>
                  <a:spcPts val="450"/>
                </a:spcBef>
                <a:spcAft>
                  <a:spcPts val="0"/>
                </a:spcAft>
                <a:buNone/>
              </a:pPr>
              <a:r>
                <a:rPr b="0" lang="en" sz="975">
                  <a:solidFill>
                    <a:srgbClr val="475569"/>
                  </a:solidFill>
                  <a:latin typeface="Inter"/>
                  <a:ea typeface="Inter"/>
                  <a:cs typeface="Inter"/>
                  <a:sym typeface="Inter"/>
                </a:rPr>
                <a:t>List columns sequentially: define </a:t>
              </a:r>
              <a:r>
                <a:rPr b="0" lang="en" sz="975">
                  <a:solidFill>
                    <a:srgbClr val="475569"/>
                  </a:solidFill>
                  <a:latin typeface="Fira Code"/>
                  <a:ea typeface="Fira Code"/>
                  <a:cs typeface="Fira Code"/>
                  <a:sym typeface="Fira Code"/>
                </a:rPr>
                <a:t>column_name</a:t>
              </a:r>
              <a:r>
                <a:rPr b="0" lang="en" sz="975">
                  <a:solidFill>
                    <a:srgbClr val="475569"/>
                  </a:solidFill>
                  <a:latin typeface="Inter"/>
                  <a:ea typeface="Inter"/>
                  <a:cs typeface="Inter"/>
                  <a:sym typeface="Inter"/>
                </a:rPr>
                <a:t>, </a:t>
              </a:r>
              <a:r>
                <a:rPr b="0" lang="en" sz="975">
                  <a:solidFill>
                    <a:srgbClr val="475569"/>
                  </a:solidFill>
                  <a:latin typeface="Fira Code"/>
                  <a:ea typeface="Fira Code"/>
                  <a:cs typeface="Fira Code"/>
                  <a:sym typeface="Fira Code"/>
                </a:rPr>
                <a:t>DATA_TYPE</a:t>
              </a:r>
              <a:r>
                <a:rPr b="0" lang="en" sz="975">
                  <a:solidFill>
                    <a:srgbClr val="475569"/>
                  </a:solidFill>
                  <a:latin typeface="Inter"/>
                  <a:ea typeface="Inter"/>
                  <a:cs typeface="Inter"/>
                  <a:sym typeface="Inter"/>
                </a:rPr>
                <a:t>, and optional </a:t>
              </a:r>
              <a:r>
                <a:rPr b="0" lang="en" sz="975">
                  <a:solidFill>
                    <a:srgbClr val="475569"/>
                  </a:solidFill>
                  <a:latin typeface="Fira Code"/>
                  <a:ea typeface="Fira Code"/>
                  <a:cs typeface="Fira Code"/>
                  <a:sym typeface="Fira Code"/>
                </a:rPr>
                <a:t>CONSTRAINTS</a:t>
              </a:r>
              <a:r>
                <a:rPr b="0" lang="en" sz="975">
                  <a:solidFill>
                    <a:srgbClr val="475569"/>
                  </a:solidFill>
                  <a:latin typeface="Inter"/>
                  <a:ea typeface="Inter"/>
                  <a:cs typeface="Inter"/>
                  <a:sym typeface="Inter"/>
                </a:rPr>
                <a:t>.</a:t>
              </a:r>
              <a:endParaRPr b="0" sz="975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endParaRPr>
            </a:p>
          </p:txBody>
        </p:sp>
        <p:sp>
          <p:nvSpPr>
            <p:cNvPr id="231" name="Google Shape;231;p21"/>
            <p:cNvSpPr/>
            <p:nvPr/>
          </p:nvSpPr>
          <p:spPr>
            <a:xfrm>
              <a:off x="5524500" y="0"/>
              <a:ext cx="2476500" cy="1095300"/>
            </a:xfrm>
            <a:prstGeom prst="roundRect">
              <a:avLst>
                <a:gd fmla="val 5217" name="adj"/>
              </a:avLst>
            </a:prstGeom>
            <a:solidFill>
              <a:srgbClr val="FFFFFF"/>
            </a:solidFill>
            <a:ln cap="flat" cmpd="sng" w="9525">
              <a:solidFill>
                <a:srgbClr val="E2E8F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32" name="Google Shape;232;p21"/>
            <p:cNvSpPr/>
            <p:nvPr/>
          </p:nvSpPr>
          <p:spPr>
            <a:xfrm>
              <a:off x="5524500" y="0"/>
              <a:ext cx="2476500" cy="57300"/>
            </a:xfrm>
            <a:custGeom>
              <a:rect b="b" l="l" r="r" t="t"/>
              <a:pathLst>
                <a:path extrusionOk="0" h="120000" w="120000">
                  <a:moveTo>
                    <a:pt x="0" y="120000"/>
                  </a:moveTo>
                  <a:quadBezTo>
                    <a:pt x="0" y="0"/>
                    <a:pt x="2769" y="0"/>
                  </a:quadBezTo>
                  <a:lnTo>
                    <a:pt x="120000" y="0"/>
                  </a:lnTo>
                  <a:lnTo>
                    <a:pt x="120000" y="80000"/>
                  </a:lnTo>
                  <a:lnTo>
                    <a:pt x="0" y="80000"/>
                  </a:lnTo>
                  <a:close/>
                </a:path>
              </a:pathLst>
            </a:custGeom>
            <a:solidFill>
              <a:srgbClr val="D97706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33" name="Google Shape;233;p21"/>
            <p:cNvSpPr txBox="1"/>
            <p:nvPr/>
          </p:nvSpPr>
          <p:spPr>
            <a:xfrm>
              <a:off x="5676900" y="133350"/>
              <a:ext cx="2171700" cy="8286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lang="en" sz="900">
                  <a:solidFill>
                    <a:srgbClr val="D97706"/>
                  </a:solidFill>
                  <a:latin typeface="Inter SemiBold"/>
                  <a:ea typeface="Inter SemiBold"/>
                  <a:cs typeface="Inter SemiBold"/>
                  <a:sym typeface="Inter SemiBold"/>
                </a:rPr>
                <a:t>3. Separation &amp; Closure</a:t>
              </a:r>
              <a:endParaRPr b="0" sz="900">
                <a:solidFill>
                  <a:srgbClr val="D97706"/>
                </a:solidFill>
                <a:latin typeface="Inter SemiBold"/>
                <a:ea typeface="Inter SemiBold"/>
                <a:cs typeface="Inter SemiBold"/>
                <a:sym typeface="Inter SemiBold"/>
              </a:endParaRPr>
            </a:p>
            <a:p>
              <a:pPr indent="0" lvl="0" marL="0" rtl="0" algn="l">
                <a:spcBef>
                  <a:spcPts val="450"/>
                </a:spcBef>
                <a:spcAft>
                  <a:spcPts val="0"/>
                </a:spcAft>
                <a:buNone/>
              </a:pPr>
              <a:r>
                <a:rPr b="0" lang="en" sz="975">
                  <a:solidFill>
                    <a:srgbClr val="475569"/>
                  </a:solidFill>
                  <a:latin typeface="Inter"/>
                  <a:ea typeface="Inter"/>
                  <a:cs typeface="Inter"/>
                  <a:sym typeface="Inter"/>
                </a:rPr>
                <a:t>Separate each column definition with a comma </a:t>
              </a:r>
              <a:r>
                <a:rPr b="1" lang="en" sz="975">
                  <a:solidFill>
                    <a:srgbClr val="475569"/>
                  </a:solidFill>
                  <a:latin typeface="Fira Code"/>
                  <a:ea typeface="Fira Code"/>
                  <a:cs typeface="Fira Code"/>
                  <a:sym typeface="Fira Code"/>
                </a:rPr>
                <a:t>,</a:t>
              </a:r>
              <a:r>
                <a:rPr b="0" lang="en" sz="975">
                  <a:solidFill>
                    <a:srgbClr val="475569"/>
                  </a:solidFill>
                  <a:latin typeface="Inter"/>
                  <a:ea typeface="Inter"/>
                  <a:cs typeface="Inter"/>
                  <a:sym typeface="Inter"/>
                </a:rPr>
                <a:t>. Close with </a:t>
              </a:r>
              <a:r>
                <a:rPr b="1" lang="en" sz="975">
                  <a:solidFill>
                    <a:srgbClr val="475569"/>
                  </a:solidFill>
                  <a:latin typeface="Fira Code"/>
                  <a:ea typeface="Fira Code"/>
                  <a:cs typeface="Fira Code"/>
                  <a:sym typeface="Fira Code"/>
                </a:rPr>
                <a:t>);</a:t>
              </a:r>
              <a:endParaRPr b="0" sz="975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endParaRPr>
            </a:p>
          </p:txBody>
        </p:sp>
      </p:grp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37" name="Shape 2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38" name="Google Shape;238;p22"/>
          <p:cNvGrpSpPr/>
          <p:nvPr/>
        </p:nvGrpSpPr>
        <p:grpSpPr>
          <a:xfrm>
            <a:off x="0" y="0"/>
            <a:ext cx="9144000" cy="5143500"/>
            <a:chOff x="0" y="0"/>
            <a:chExt cx="9144000" cy="5143500"/>
          </a:xfrm>
        </p:grpSpPr>
        <p:sp>
          <p:nvSpPr>
            <p:cNvPr id="239" name="Google Shape;239;p22"/>
            <p:cNvSpPr/>
            <p:nvPr/>
          </p:nvSpPr>
          <p:spPr>
            <a:xfrm>
              <a:off x="0" y="0"/>
              <a:ext cx="9144000" cy="5143500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40" name="Google Shape;240;p22"/>
            <p:cNvSpPr/>
            <p:nvPr/>
          </p:nvSpPr>
          <p:spPr>
            <a:xfrm>
              <a:off x="590550" y="400050"/>
              <a:ext cx="190500" cy="190500"/>
            </a:xfrm>
            <a:custGeom>
              <a:rect b="b" l="l" r="r" t="t"/>
              <a:pathLst>
                <a:path extrusionOk="0" h="120000" w="120000">
                  <a:moveTo>
                    <a:pt x="60000" y="0"/>
                  </a:moveTo>
                  <a:cubicBezTo>
                    <a:pt x="26880" y="0"/>
                    <a:pt x="0" y="26880"/>
                    <a:pt x="0" y="60000"/>
                  </a:cubicBezTo>
                  <a:lnTo>
                    <a:pt x="26880" y="120000"/>
                  </a:lnTo>
                  <a:lnTo>
                    <a:pt x="60000" y="120000"/>
                  </a:lnTo>
                  <a:lnTo>
                    <a:pt x="120000" y="93120"/>
                  </a:lnTo>
                  <a:lnTo>
                    <a:pt x="120000" y="60000"/>
                  </a:lnTo>
                  <a:lnTo>
                    <a:pt x="93120" y="0"/>
                  </a:lnTo>
                  <a:lnTo>
                    <a:pt x="60000" y="0"/>
                  </a:lnTo>
                  <a:close/>
                  <a:moveTo>
                    <a:pt x="60000" y="108000"/>
                  </a:moveTo>
                  <a:cubicBezTo>
                    <a:pt x="33540" y="108000"/>
                    <a:pt x="12000" y="86460"/>
                    <a:pt x="12000" y="60000"/>
                  </a:cubicBezTo>
                  <a:lnTo>
                    <a:pt x="33540" y="12000"/>
                  </a:lnTo>
                  <a:lnTo>
                    <a:pt x="60000" y="12000"/>
                  </a:lnTo>
                  <a:lnTo>
                    <a:pt x="108000" y="33540"/>
                  </a:lnTo>
                  <a:lnTo>
                    <a:pt x="108000" y="60000"/>
                  </a:lnTo>
                  <a:lnTo>
                    <a:pt x="86460" y="108000"/>
                  </a:lnTo>
                  <a:lnTo>
                    <a:pt x="60000" y="108000"/>
                  </a:lnTo>
                  <a:close/>
                  <a:moveTo>
                    <a:pt x="54000" y="30000"/>
                  </a:moveTo>
                  <a:lnTo>
                    <a:pt x="66000" y="30000"/>
                  </a:lnTo>
                  <a:lnTo>
                    <a:pt x="66000" y="66000"/>
                  </a:lnTo>
                  <a:lnTo>
                    <a:pt x="54000" y="66000"/>
                  </a:lnTo>
                  <a:close/>
                  <a:moveTo>
                    <a:pt x="54000" y="78000"/>
                  </a:moveTo>
                  <a:lnTo>
                    <a:pt x="66000" y="78000"/>
                  </a:lnTo>
                  <a:lnTo>
                    <a:pt x="66000" y="90000"/>
                  </a:lnTo>
                  <a:lnTo>
                    <a:pt x="54000" y="90000"/>
                  </a:lnTo>
                  <a:close/>
                </a:path>
              </a:pathLst>
            </a:custGeom>
            <a:solidFill>
              <a:srgbClr val="2563EB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41" name="Google Shape;241;p22"/>
            <p:cNvSpPr txBox="1"/>
            <p:nvPr/>
          </p:nvSpPr>
          <p:spPr>
            <a:xfrm>
              <a:off x="914400" y="400050"/>
              <a:ext cx="7086600" cy="2286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lang="en" sz="900">
                  <a:solidFill>
                    <a:srgbClr val="475569"/>
                  </a:solidFill>
                  <a:latin typeface="Inter SemiBold"/>
                  <a:ea typeface="Inter SemiBold"/>
                  <a:cs typeface="Inter SemiBold"/>
                  <a:sym typeface="Inter SemiBold"/>
                </a:rPr>
                <a:t>MAC 250: DATABASE ARCHITECTURE &amp; ENGINEERING</a:t>
              </a:r>
              <a:endParaRPr b="0" sz="900">
                <a:solidFill>
                  <a:srgbClr val="475569"/>
                </a:solidFill>
                <a:latin typeface="Inter SemiBold"/>
                <a:ea typeface="Inter SemiBold"/>
                <a:cs typeface="Inter SemiBold"/>
                <a:sym typeface="Inter SemiBold"/>
              </a:endParaRPr>
            </a:p>
          </p:txBody>
        </p:sp>
        <p:grpSp>
          <p:nvGrpSpPr>
            <p:cNvPr id="242" name="Google Shape;242;p22"/>
            <p:cNvGrpSpPr/>
            <p:nvPr/>
          </p:nvGrpSpPr>
          <p:grpSpPr>
            <a:xfrm>
              <a:off x="571500" y="762000"/>
              <a:ext cx="8001000" cy="19200"/>
              <a:chOff x="0" y="0"/>
              <a:chExt cx="8001000" cy="19200"/>
            </a:xfrm>
          </p:grpSpPr>
          <p:sp>
            <p:nvSpPr>
              <p:cNvPr id="243" name="Google Shape;243;p22"/>
              <p:cNvSpPr/>
              <p:nvPr/>
            </p:nvSpPr>
            <p:spPr>
              <a:xfrm>
                <a:off x="0" y="0"/>
                <a:ext cx="8001000" cy="9600"/>
              </a:xfrm>
              <a:prstGeom prst="rect">
                <a:avLst/>
              </a:prstGeom>
              <a:solidFill>
                <a:srgbClr val="E2E8F0"/>
              </a:solidFill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44" name="Google Shape;244;p22"/>
              <p:cNvSpPr/>
              <p:nvPr/>
            </p:nvSpPr>
            <p:spPr>
              <a:xfrm>
                <a:off x="0" y="0"/>
                <a:ext cx="1143000" cy="19200"/>
              </a:xfrm>
              <a:prstGeom prst="rect">
                <a:avLst/>
              </a:prstGeom>
              <a:solidFill>
                <a:srgbClr val="2563EB"/>
              </a:solidFill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</p:grpSp>
      <p:sp>
        <p:nvSpPr>
          <p:cNvPr id="245" name="Google Shape;245;p22"/>
          <p:cNvSpPr txBox="1"/>
          <p:nvPr/>
        </p:nvSpPr>
        <p:spPr>
          <a:xfrm>
            <a:off x="571500" y="914400"/>
            <a:ext cx="8001000" cy="381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400">
                <a:solidFill>
                  <a:srgbClr val="0F172A"/>
                </a:solidFill>
                <a:latin typeface="Inter"/>
                <a:ea typeface="Inter"/>
                <a:cs typeface="Inter"/>
                <a:sym typeface="Inter"/>
              </a:rPr>
              <a:t>Defining Data Types</a:t>
            </a:r>
            <a:endParaRPr b="1" sz="2400">
              <a:solidFill>
                <a:srgbClr val="0F172A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grpSp>
        <p:nvGrpSpPr>
          <p:cNvPr id="246" name="Google Shape;246;p22"/>
          <p:cNvGrpSpPr/>
          <p:nvPr/>
        </p:nvGrpSpPr>
        <p:grpSpPr>
          <a:xfrm>
            <a:off x="571500" y="1371600"/>
            <a:ext cx="8001000" cy="571500"/>
            <a:chOff x="0" y="0"/>
            <a:chExt cx="8001000" cy="571500"/>
          </a:xfrm>
        </p:grpSpPr>
        <p:sp>
          <p:nvSpPr>
            <p:cNvPr id="247" name="Google Shape;247;p22"/>
            <p:cNvSpPr/>
            <p:nvPr/>
          </p:nvSpPr>
          <p:spPr>
            <a:xfrm>
              <a:off x="0" y="0"/>
              <a:ext cx="8001000" cy="571500"/>
            </a:xfrm>
            <a:prstGeom prst="roundRect">
              <a:avLst>
                <a:gd fmla="val 10000" name="adj"/>
              </a:avLst>
            </a:prstGeom>
            <a:solidFill>
              <a:srgbClr val="F0F9FF"/>
            </a:solidFill>
            <a:ln cap="flat" cmpd="sng" w="9525">
              <a:solidFill>
                <a:srgbClr val="BAE6FD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48" name="Google Shape;248;p22"/>
            <p:cNvSpPr/>
            <p:nvPr/>
          </p:nvSpPr>
          <p:spPr>
            <a:xfrm>
              <a:off x="0" y="0"/>
              <a:ext cx="57300" cy="571500"/>
            </a:xfrm>
            <a:custGeom>
              <a:rect b="b" l="l" r="r" t="t"/>
              <a:pathLst>
                <a:path extrusionOk="0" h="120000" w="120000">
                  <a:moveTo>
                    <a:pt x="0" y="12000"/>
                  </a:moveTo>
                  <a:quadBezTo>
                    <a:pt x="0" y="0"/>
                    <a:pt x="120000" y="0"/>
                  </a:quadBezTo>
                  <a:lnTo>
                    <a:pt x="120000" y="120000"/>
                  </a:lnTo>
                  <a:lnTo>
                    <a:pt x="120000" y="120000"/>
                  </a:lnTo>
                  <a:quadBezTo>
                    <a:pt x="0" y="120000"/>
                    <a:pt x="0" y="108000"/>
                  </a:quadBezTo>
                  <a:close/>
                </a:path>
              </a:pathLst>
            </a:custGeom>
            <a:solidFill>
              <a:srgbClr val="2563EB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49" name="Google Shape;249;p22"/>
            <p:cNvSpPr txBox="1"/>
            <p:nvPr/>
          </p:nvSpPr>
          <p:spPr>
            <a:xfrm>
              <a:off x="190500" y="95250"/>
              <a:ext cx="7620000" cy="381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" sz="1125">
                  <a:solidFill>
                    <a:srgbClr val="2563EB"/>
                  </a:solidFill>
                  <a:latin typeface="Inter"/>
                  <a:ea typeface="Inter"/>
                  <a:cs typeface="Inter"/>
                  <a:sym typeface="Inter"/>
                </a:rPr>
                <a:t>Core Rule: </a:t>
              </a:r>
              <a:r>
                <a:rPr b="0" lang="en" sz="1125">
                  <a:solidFill>
                    <a:srgbClr val="0F172A"/>
                  </a:solidFill>
                  <a:latin typeface="Inter"/>
                  <a:ea typeface="Inter"/>
                  <a:cs typeface="Inter"/>
                  <a:sym typeface="Inter"/>
                </a:rPr>
                <a:t>Defining Data Types is mandatory for every column to dictate data storage, validation, and layout.</a:t>
              </a:r>
              <a:endParaRPr b="0" sz="1125">
                <a:solidFill>
                  <a:srgbClr val="0F172A"/>
                </a:solidFill>
                <a:latin typeface="Inter"/>
                <a:ea typeface="Inter"/>
                <a:cs typeface="Inter"/>
                <a:sym typeface="Inter"/>
              </a:endParaRPr>
            </a:p>
          </p:txBody>
        </p:sp>
      </p:grpSp>
      <p:grpSp>
        <p:nvGrpSpPr>
          <p:cNvPr id="250" name="Google Shape;250;p22"/>
          <p:cNvGrpSpPr/>
          <p:nvPr/>
        </p:nvGrpSpPr>
        <p:grpSpPr>
          <a:xfrm>
            <a:off x="571500" y="2114550"/>
            <a:ext cx="1857300" cy="2457600"/>
            <a:chOff x="0" y="0"/>
            <a:chExt cx="1857300" cy="2457600"/>
          </a:xfrm>
        </p:grpSpPr>
        <p:sp>
          <p:nvSpPr>
            <p:cNvPr id="251" name="Google Shape;251;p22"/>
            <p:cNvSpPr/>
            <p:nvPr/>
          </p:nvSpPr>
          <p:spPr>
            <a:xfrm>
              <a:off x="0" y="0"/>
              <a:ext cx="1857300" cy="2457600"/>
            </a:xfrm>
            <a:prstGeom prst="roundRect">
              <a:avLst>
                <a:gd fmla="val 3076" name="adj"/>
              </a:avLst>
            </a:prstGeom>
            <a:solidFill>
              <a:srgbClr val="FFFFFF"/>
            </a:solidFill>
            <a:ln cap="flat" cmpd="sng" w="9525">
              <a:solidFill>
                <a:srgbClr val="E2E8F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52" name="Google Shape;252;p22"/>
            <p:cNvSpPr/>
            <p:nvPr/>
          </p:nvSpPr>
          <p:spPr>
            <a:xfrm>
              <a:off x="0" y="0"/>
              <a:ext cx="1857300" cy="419100"/>
            </a:xfrm>
            <a:custGeom>
              <a:rect b="b" l="l" r="r" t="t"/>
              <a:pathLst>
                <a:path extrusionOk="0" h="120000" w="120000">
                  <a:moveTo>
                    <a:pt x="0" y="16364"/>
                  </a:moveTo>
                  <a:quadBezTo>
                    <a:pt x="0" y="0"/>
                    <a:pt x="3692" y="0"/>
                  </a:quadBezTo>
                  <a:lnTo>
                    <a:pt x="116308" y="0"/>
                  </a:lnTo>
                  <a:quadBezTo>
                    <a:pt x="120000" y="0"/>
                    <a:pt x="120000" y="16364"/>
                  </a:quadBezTo>
                  <a:lnTo>
                    <a:pt x="120000" y="120000"/>
                  </a:lnTo>
                  <a:lnTo>
                    <a:pt x="0" y="120000"/>
                  </a:lnTo>
                  <a:close/>
                </a:path>
              </a:pathLst>
            </a:custGeom>
            <a:solidFill>
              <a:srgbClr val="F8FAFC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cxnSp>
          <p:nvCxnSpPr>
            <p:cNvPr id="253" name="Google Shape;253;p22"/>
            <p:cNvCxnSpPr/>
            <p:nvPr/>
          </p:nvCxnSpPr>
          <p:spPr>
            <a:xfrm>
              <a:off x="0" y="419100"/>
              <a:ext cx="1857300" cy="0"/>
            </a:xfrm>
            <a:prstGeom prst="straightConnector1">
              <a:avLst/>
            </a:prstGeom>
            <a:solidFill>
              <a:srgbClr val="FFFFFF"/>
            </a:solidFill>
            <a:ln cap="flat" cmpd="sng" w="9525">
              <a:solidFill>
                <a:srgbClr val="E2E8F0"/>
              </a:solidFill>
              <a:prstDash val="solid"/>
              <a:round/>
              <a:headEnd len="sm" w="sm" type="none"/>
              <a:tailEnd len="sm" w="sm" type="none"/>
            </a:ln>
          </p:spPr>
        </p:cxnSp>
        <p:sp>
          <p:nvSpPr>
            <p:cNvPr id="254" name="Google Shape;254;p22"/>
            <p:cNvSpPr txBox="1"/>
            <p:nvPr/>
          </p:nvSpPr>
          <p:spPr>
            <a:xfrm>
              <a:off x="133350" y="95250"/>
              <a:ext cx="1590600" cy="2286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" sz="1125">
                  <a:solidFill>
                    <a:srgbClr val="2563EB"/>
                  </a:solidFill>
                  <a:latin typeface="Fira Code"/>
                  <a:ea typeface="Fira Code"/>
                  <a:cs typeface="Fira Code"/>
                  <a:sym typeface="Fira Code"/>
                </a:rPr>
                <a:t>INT</a:t>
              </a:r>
              <a:endParaRPr b="1" sz="1125">
                <a:solidFill>
                  <a:srgbClr val="2563EB"/>
                </a:solidFill>
                <a:latin typeface="Fira Code"/>
                <a:ea typeface="Fira Code"/>
                <a:cs typeface="Fira Code"/>
                <a:sym typeface="Fira Code"/>
              </a:endParaRPr>
            </a:p>
          </p:txBody>
        </p:sp>
        <p:sp>
          <p:nvSpPr>
            <p:cNvPr id="255" name="Google Shape;255;p22"/>
            <p:cNvSpPr txBox="1"/>
            <p:nvPr/>
          </p:nvSpPr>
          <p:spPr>
            <a:xfrm>
              <a:off x="133350" y="533400"/>
              <a:ext cx="1590600" cy="18096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lang="en" sz="825">
                  <a:solidFill>
                    <a:srgbClr val="475569"/>
                  </a:solidFill>
                  <a:latin typeface="Inter SemiBold"/>
                  <a:ea typeface="Inter SemiBold"/>
                  <a:cs typeface="Inter SemiBold"/>
                  <a:sym typeface="Inter SemiBold"/>
                </a:rPr>
                <a:t>Numeric Type</a:t>
              </a:r>
              <a:endParaRPr b="0" sz="825">
                <a:solidFill>
                  <a:srgbClr val="475569"/>
                </a:solidFill>
                <a:latin typeface="Inter SemiBold"/>
                <a:ea typeface="Inter SemiBold"/>
                <a:cs typeface="Inter SemiBold"/>
                <a:sym typeface="Inter SemiBold"/>
              </a:endParaRPr>
            </a:p>
            <a:p>
              <a:pPr indent="0" lvl="0" marL="0" rtl="0" algn="l">
                <a:spcBef>
                  <a:spcPts val="600"/>
                </a:spcBef>
                <a:spcAft>
                  <a:spcPts val="0"/>
                </a:spcAft>
                <a:buNone/>
              </a:pPr>
              <a:r>
                <a:rPr b="0" lang="en" sz="975">
                  <a:solidFill>
                    <a:srgbClr val="334155"/>
                  </a:solidFill>
                  <a:latin typeface="Inter"/>
                  <a:ea typeface="Inter"/>
                  <a:cs typeface="Inter"/>
                  <a:sym typeface="Inter"/>
                </a:rPr>
                <a:t>Used for </a:t>
              </a:r>
              <a:r>
                <a:rPr b="1" lang="en" sz="975">
                  <a:solidFill>
                    <a:srgbClr val="334155"/>
                  </a:solidFill>
                  <a:latin typeface="Inter"/>
                  <a:ea typeface="Inter"/>
                  <a:cs typeface="Inter"/>
                  <a:sym typeface="Inter"/>
                </a:rPr>
                <a:t>whole numbers</a:t>
              </a:r>
              <a:r>
                <a:rPr b="0" lang="en" sz="975">
                  <a:solidFill>
                    <a:srgbClr val="334155"/>
                  </a:solidFill>
                  <a:latin typeface="Inter"/>
                  <a:ea typeface="Inter"/>
                  <a:cs typeface="Inter"/>
                  <a:sym typeface="Inter"/>
                </a:rPr>
                <a:t> without decimal fractions.</a:t>
              </a:r>
              <a:endParaRPr b="0" sz="975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endParaRPr>
            </a:p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lang="en" sz="825">
                  <a:solidFill>
                    <a:srgbClr val="475569"/>
                  </a:solidFill>
                  <a:highlight>
                    <a:srgbClr val="F8FAFC"/>
                  </a:highlight>
                  <a:latin typeface="Fira Code Medium"/>
                  <a:ea typeface="Fira Code Medium"/>
                  <a:cs typeface="Fira Code Medium"/>
                  <a:sym typeface="Fira Code Medium"/>
                </a:rPr>
                <a:t>Example: 42, -100</a:t>
              </a:r>
              <a:endParaRPr b="0" sz="825">
                <a:solidFill>
                  <a:srgbClr val="475569"/>
                </a:solidFill>
                <a:highlight>
                  <a:srgbClr val="F8FAFC"/>
                </a:highlight>
                <a:latin typeface="Fira Code Medium"/>
                <a:ea typeface="Fira Code Medium"/>
                <a:cs typeface="Fira Code Medium"/>
                <a:sym typeface="Fira Code Medium"/>
              </a:endParaRPr>
            </a:p>
          </p:txBody>
        </p:sp>
      </p:grpSp>
      <p:grpSp>
        <p:nvGrpSpPr>
          <p:cNvPr id="256" name="Google Shape;256;p22"/>
          <p:cNvGrpSpPr/>
          <p:nvPr/>
        </p:nvGrpSpPr>
        <p:grpSpPr>
          <a:xfrm>
            <a:off x="2619375" y="2114550"/>
            <a:ext cx="1857300" cy="2457600"/>
            <a:chOff x="0" y="0"/>
            <a:chExt cx="1857300" cy="2457600"/>
          </a:xfrm>
        </p:grpSpPr>
        <p:sp>
          <p:nvSpPr>
            <p:cNvPr id="257" name="Google Shape;257;p22"/>
            <p:cNvSpPr/>
            <p:nvPr/>
          </p:nvSpPr>
          <p:spPr>
            <a:xfrm>
              <a:off x="0" y="0"/>
              <a:ext cx="1857300" cy="2457600"/>
            </a:xfrm>
            <a:prstGeom prst="roundRect">
              <a:avLst>
                <a:gd fmla="val 3076" name="adj"/>
              </a:avLst>
            </a:prstGeom>
            <a:solidFill>
              <a:srgbClr val="FFFFFF"/>
            </a:solidFill>
            <a:ln cap="flat" cmpd="sng" w="9525">
              <a:solidFill>
                <a:srgbClr val="E2E8F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58" name="Google Shape;258;p22"/>
            <p:cNvSpPr/>
            <p:nvPr/>
          </p:nvSpPr>
          <p:spPr>
            <a:xfrm>
              <a:off x="0" y="0"/>
              <a:ext cx="1857300" cy="419100"/>
            </a:xfrm>
            <a:custGeom>
              <a:rect b="b" l="l" r="r" t="t"/>
              <a:pathLst>
                <a:path extrusionOk="0" h="120000" w="120000">
                  <a:moveTo>
                    <a:pt x="0" y="16364"/>
                  </a:moveTo>
                  <a:quadBezTo>
                    <a:pt x="0" y="0"/>
                    <a:pt x="3692" y="0"/>
                  </a:quadBezTo>
                  <a:lnTo>
                    <a:pt x="116308" y="0"/>
                  </a:lnTo>
                  <a:quadBezTo>
                    <a:pt x="120000" y="0"/>
                    <a:pt x="120000" y="16364"/>
                  </a:quadBezTo>
                  <a:lnTo>
                    <a:pt x="120000" y="120000"/>
                  </a:lnTo>
                  <a:lnTo>
                    <a:pt x="0" y="120000"/>
                  </a:lnTo>
                  <a:close/>
                </a:path>
              </a:pathLst>
            </a:custGeom>
            <a:solidFill>
              <a:srgbClr val="F8FAFC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cxnSp>
          <p:nvCxnSpPr>
            <p:cNvPr id="259" name="Google Shape;259;p22"/>
            <p:cNvCxnSpPr/>
            <p:nvPr/>
          </p:nvCxnSpPr>
          <p:spPr>
            <a:xfrm>
              <a:off x="0" y="419100"/>
              <a:ext cx="1857300" cy="0"/>
            </a:xfrm>
            <a:prstGeom prst="straightConnector1">
              <a:avLst/>
            </a:prstGeom>
            <a:solidFill>
              <a:srgbClr val="FFFFFF"/>
            </a:solidFill>
            <a:ln cap="flat" cmpd="sng" w="9525">
              <a:solidFill>
                <a:srgbClr val="E2E8F0"/>
              </a:solidFill>
              <a:prstDash val="solid"/>
              <a:round/>
              <a:headEnd len="sm" w="sm" type="none"/>
              <a:tailEnd len="sm" w="sm" type="none"/>
            </a:ln>
          </p:spPr>
        </p:cxnSp>
        <p:sp>
          <p:nvSpPr>
            <p:cNvPr id="260" name="Google Shape;260;p22"/>
            <p:cNvSpPr txBox="1"/>
            <p:nvPr/>
          </p:nvSpPr>
          <p:spPr>
            <a:xfrm>
              <a:off x="133350" y="95250"/>
              <a:ext cx="1590600" cy="2286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" sz="1050">
                  <a:solidFill>
                    <a:srgbClr val="2563EB"/>
                  </a:solidFill>
                  <a:latin typeface="Fira Code"/>
                  <a:ea typeface="Fira Code"/>
                  <a:cs typeface="Fira Code"/>
                  <a:sym typeface="Fira Code"/>
                </a:rPr>
                <a:t>DECIMAL(10, 2)</a:t>
              </a:r>
              <a:endParaRPr b="1" sz="1050">
                <a:solidFill>
                  <a:srgbClr val="2563EB"/>
                </a:solidFill>
                <a:latin typeface="Fira Code"/>
                <a:ea typeface="Fira Code"/>
                <a:cs typeface="Fira Code"/>
                <a:sym typeface="Fira Code"/>
              </a:endParaRPr>
            </a:p>
          </p:txBody>
        </p:sp>
        <p:sp>
          <p:nvSpPr>
            <p:cNvPr id="261" name="Google Shape;261;p22"/>
            <p:cNvSpPr txBox="1"/>
            <p:nvPr/>
          </p:nvSpPr>
          <p:spPr>
            <a:xfrm>
              <a:off x="133350" y="533400"/>
              <a:ext cx="1590600" cy="18096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lang="en" sz="825">
                  <a:solidFill>
                    <a:srgbClr val="475569"/>
                  </a:solidFill>
                  <a:latin typeface="Inter SemiBold"/>
                  <a:ea typeface="Inter SemiBold"/>
                  <a:cs typeface="Inter SemiBold"/>
                  <a:sym typeface="Inter SemiBold"/>
                </a:rPr>
                <a:t>Fixed-Point</a:t>
              </a:r>
              <a:endParaRPr b="0" sz="825">
                <a:solidFill>
                  <a:srgbClr val="475569"/>
                </a:solidFill>
                <a:latin typeface="Inter SemiBold"/>
                <a:ea typeface="Inter SemiBold"/>
                <a:cs typeface="Inter SemiBold"/>
                <a:sym typeface="Inter SemiBold"/>
              </a:endParaRPr>
            </a:p>
            <a:p>
              <a:pPr indent="0" lvl="0" marL="0" rtl="0" algn="l">
                <a:spcBef>
                  <a:spcPts val="600"/>
                </a:spcBef>
                <a:spcAft>
                  <a:spcPts val="0"/>
                </a:spcAft>
                <a:buNone/>
              </a:pPr>
              <a:r>
                <a:rPr b="0" lang="en" sz="975">
                  <a:solidFill>
                    <a:srgbClr val="334155"/>
                  </a:solidFill>
                  <a:latin typeface="Inter"/>
                  <a:ea typeface="Inter"/>
                  <a:cs typeface="Inter"/>
                  <a:sym typeface="Inter"/>
                </a:rPr>
                <a:t>Used for </a:t>
              </a:r>
              <a:r>
                <a:rPr b="1" lang="en" sz="975">
                  <a:solidFill>
                    <a:srgbClr val="334155"/>
                  </a:solidFill>
                  <a:latin typeface="Inter"/>
                  <a:ea typeface="Inter"/>
                  <a:cs typeface="Inter"/>
                  <a:sym typeface="Inter"/>
                </a:rPr>
                <a:t>financial figures</a:t>
              </a:r>
              <a:r>
                <a:rPr b="0" lang="en" sz="975">
                  <a:solidFill>
                    <a:srgbClr val="334155"/>
                  </a:solidFill>
                  <a:latin typeface="Inter"/>
                  <a:ea typeface="Inter"/>
                  <a:cs typeface="Inter"/>
                  <a:sym typeface="Inter"/>
                </a:rPr>
                <a:t>, representing </a:t>
              </a:r>
              <a:r>
                <a:rPr b="1" lang="en" sz="975">
                  <a:solidFill>
                    <a:srgbClr val="334155"/>
                  </a:solidFill>
                  <a:latin typeface="Inter"/>
                  <a:ea typeface="Inter"/>
                  <a:cs typeface="Inter"/>
                  <a:sym typeface="Inter"/>
                </a:rPr>
                <a:t>10 total digits</a:t>
              </a:r>
              <a:r>
                <a:rPr b="0" lang="en" sz="975">
                  <a:solidFill>
                    <a:srgbClr val="334155"/>
                  </a:solidFill>
                  <a:latin typeface="Inter"/>
                  <a:ea typeface="Inter"/>
                  <a:cs typeface="Inter"/>
                  <a:sym typeface="Inter"/>
                </a:rPr>
                <a:t> with </a:t>
              </a:r>
              <a:r>
                <a:rPr b="1" lang="en" sz="975">
                  <a:solidFill>
                    <a:srgbClr val="334155"/>
                  </a:solidFill>
                  <a:latin typeface="Inter"/>
                  <a:ea typeface="Inter"/>
                  <a:cs typeface="Inter"/>
                  <a:sym typeface="Inter"/>
                </a:rPr>
                <a:t>2 after the decimal</a:t>
              </a:r>
              <a:r>
                <a:rPr b="0" lang="en" sz="975">
                  <a:solidFill>
                    <a:srgbClr val="334155"/>
                  </a:solidFill>
                  <a:latin typeface="Inter"/>
                  <a:ea typeface="Inter"/>
                  <a:cs typeface="Inter"/>
                  <a:sym typeface="Inter"/>
                </a:rPr>
                <a:t>.</a:t>
              </a:r>
              <a:endParaRPr b="0" sz="975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endParaRPr>
            </a:p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lang="en" sz="825">
                  <a:solidFill>
                    <a:srgbClr val="475569"/>
                  </a:solidFill>
                  <a:highlight>
                    <a:srgbClr val="F8FAFC"/>
                  </a:highlight>
                  <a:latin typeface="Fira Code Medium"/>
                  <a:ea typeface="Fira Code Medium"/>
                  <a:cs typeface="Fira Code Medium"/>
                  <a:sym typeface="Fira Code Medium"/>
                </a:rPr>
                <a:t>Example: 199.99</a:t>
              </a:r>
              <a:endParaRPr b="0" sz="825">
                <a:solidFill>
                  <a:srgbClr val="475569"/>
                </a:solidFill>
                <a:highlight>
                  <a:srgbClr val="F8FAFC"/>
                </a:highlight>
                <a:latin typeface="Fira Code Medium"/>
                <a:ea typeface="Fira Code Medium"/>
                <a:cs typeface="Fira Code Medium"/>
                <a:sym typeface="Fira Code Medium"/>
              </a:endParaRPr>
            </a:p>
          </p:txBody>
        </p:sp>
      </p:grpSp>
      <p:grpSp>
        <p:nvGrpSpPr>
          <p:cNvPr id="262" name="Google Shape;262;p22"/>
          <p:cNvGrpSpPr/>
          <p:nvPr/>
        </p:nvGrpSpPr>
        <p:grpSpPr>
          <a:xfrm>
            <a:off x="4667250" y="2114550"/>
            <a:ext cx="1857300" cy="2457600"/>
            <a:chOff x="0" y="0"/>
            <a:chExt cx="1857300" cy="2457600"/>
          </a:xfrm>
        </p:grpSpPr>
        <p:sp>
          <p:nvSpPr>
            <p:cNvPr id="263" name="Google Shape;263;p22"/>
            <p:cNvSpPr/>
            <p:nvPr/>
          </p:nvSpPr>
          <p:spPr>
            <a:xfrm>
              <a:off x="0" y="0"/>
              <a:ext cx="1857300" cy="2457600"/>
            </a:xfrm>
            <a:prstGeom prst="roundRect">
              <a:avLst>
                <a:gd fmla="val 3076" name="adj"/>
              </a:avLst>
            </a:prstGeom>
            <a:solidFill>
              <a:srgbClr val="FFFFFF"/>
            </a:solidFill>
            <a:ln cap="flat" cmpd="sng" w="9525">
              <a:solidFill>
                <a:srgbClr val="E2E8F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64" name="Google Shape;264;p22"/>
            <p:cNvSpPr/>
            <p:nvPr/>
          </p:nvSpPr>
          <p:spPr>
            <a:xfrm>
              <a:off x="0" y="0"/>
              <a:ext cx="1857300" cy="419100"/>
            </a:xfrm>
            <a:custGeom>
              <a:rect b="b" l="l" r="r" t="t"/>
              <a:pathLst>
                <a:path extrusionOk="0" h="120000" w="120000">
                  <a:moveTo>
                    <a:pt x="0" y="16364"/>
                  </a:moveTo>
                  <a:quadBezTo>
                    <a:pt x="0" y="0"/>
                    <a:pt x="3692" y="0"/>
                  </a:quadBezTo>
                  <a:lnTo>
                    <a:pt x="116308" y="0"/>
                  </a:lnTo>
                  <a:quadBezTo>
                    <a:pt x="120000" y="0"/>
                    <a:pt x="120000" y="16364"/>
                  </a:quadBezTo>
                  <a:lnTo>
                    <a:pt x="120000" y="120000"/>
                  </a:lnTo>
                  <a:lnTo>
                    <a:pt x="0" y="120000"/>
                  </a:lnTo>
                  <a:close/>
                </a:path>
              </a:pathLst>
            </a:custGeom>
            <a:solidFill>
              <a:srgbClr val="F8FAFC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cxnSp>
          <p:nvCxnSpPr>
            <p:cNvPr id="265" name="Google Shape;265;p22"/>
            <p:cNvCxnSpPr/>
            <p:nvPr/>
          </p:nvCxnSpPr>
          <p:spPr>
            <a:xfrm>
              <a:off x="0" y="419100"/>
              <a:ext cx="1857300" cy="0"/>
            </a:xfrm>
            <a:prstGeom prst="straightConnector1">
              <a:avLst/>
            </a:prstGeom>
            <a:solidFill>
              <a:srgbClr val="FFFFFF"/>
            </a:solidFill>
            <a:ln cap="flat" cmpd="sng" w="9525">
              <a:solidFill>
                <a:srgbClr val="E2E8F0"/>
              </a:solidFill>
              <a:prstDash val="solid"/>
              <a:round/>
              <a:headEnd len="sm" w="sm" type="none"/>
              <a:tailEnd len="sm" w="sm" type="none"/>
            </a:ln>
          </p:spPr>
        </p:cxnSp>
        <p:sp>
          <p:nvSpPr>
            <p:cNvPr id="266" name="Google Shape;266;p22"/>
            <p:cNvSpPr txBox="1"/>
            <p:nvPr/>
          </p:nvSpPr>
          <p:spPr>
            <a:xfrm>
              <a:off x="133350" y="95250"/>
              <a:ext cx="1590600" cy="2286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" sz="1050">
                  <a:solidFill>
                    <a:srgbClr val="2563EB"/>
                  </a:solidFill>
                  <a:latin typeface="Fira Code"/>
                  <a:ea typeface="Fira Code"/>
                  <a:cs typeface="Fira Code"/>
                  <a:sym typeface="Fira Code"/>
                </a:rPr>
                <a:t>VARCHAR(255)</a:t>
              </a:r>
              <a:endParaRPr b="1" sz="1050">
                <a:solidFill>
                  <a:srgbClr val="2563EB"/>
                </a:solidFill>
                <a:latin typeface="Fira Code"/>
                <a:ea typeface="Fira Code"/>
                <a:cs typeface="Fira Code"/>
                <a:sym typeface="Fira Code"/>
              </a:endParaRPr>
            </a:p>
          </p:txBody>
        </p:sp>
        <p:sp>
          <p:nvSpPr>
            <p:cNvPr id="267" name="Google Shape;267;p22"/>
            <p:cNvSpPr txBox="1"/>
            <p:nvPr/>
          </p:nvSpPr>
          <p:spPr>
            <a:xfrm>
              <a:off x="133350" y="533400"/>
              <a:ext cx="1590600" cy="18096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lang="en" sz="825">
                  <a:solidFill>
                    <a:srgbClr val="475569"/>
                  </a:solidFill>
                  <a:latin typeface="Inter SemiBold"/>
                  <a:ea typeface="Inter SemiBold"/>
                  <a:cs typeface="Inter SemiBold"/>
                  <a:sym typeface="Inter SemiBold"/>
                </a:rPr>
                <a:t>String Text</a:t>
              </a:r>
              <a:endParaRPr b="0" sz="825">
                <a:solidFill>
                  <a:srgbClr val="475569"/>
                </a:solidFill>
                <a:latin typeface="Inter SemiBold"/>
                <a:ea typeface="Inter SemiBold"/>
                <a:cs typeface="Inter SemiBold"/>
                <a:sym typeface="Inter SemiBold"/>
              </a:endParaRPr>
            </a:p>
            <a:p>
              <a:pPr indent="0" lvl="0" marL="0" rtl="0" algn="l">
                <a:spcBef>
                  <a:spcPts val="600"/>
                </a:spcBef>
                <a:spcAft>
                  <a:spcPts val="0"/>
                </a:spcAft>
                <a:buNone/>
              </a:pPr>
              <a:r>
                <a:rPr b="0" lang="en" sz="975">
                  <a:solidFill>
                    <a:srgbClr val="334155"/>
                  </a:solidFill>
                  <a:latin typeface="Inter"/>
                  <a:ea typeface="Inter"/>
                  <a:cs typeface="Inter"/>
                  <a:sym typeface="Inter"/>
                </a:rPr>
                <a:t>Handles </a:t>
              </a:r>
              <a:r>
                <a:rPr b="1" lang="en" sz="975">
                  <a:solidFill>
                    <a:srgbClr val="334155"/>
                  </a:solidFill>
                  <a:latin typeface="Inter"/>
                  <a:ea typeface="Inter"/>
                  <a:cs typeface="Inter"/>
                  <a:sym typeface="Inter"/>
                </a:rPr>
                <a:t>variable-length text</a:t>
              </a:r>
              <a:r>
                <a:rPr b="0" lang="en" sz="975">
                  <a:solidFill>
                    <a:srgbClr val="334155"/>
                  </a:solidFill>
                  <a:latin typeface="Inter"/>
                  <a:ea typeface="Inter"/>
                  <a:cs typeface="Inter"/>
                  <a:sym typeface="Inter"/>
                </a:rPr>
                <a:t> up to </a:t>
              </a:r>
              <a:r>
                <a:rPr b="1" lang="en" sz="975">
                  <a:solidFill>
                    <a:srgbClr val="334155"/>
                  </a:solidFill>
                  <a:latin typeface="Inter"/>
                  <a:ea typeface="Inter"/>
                  <a:cs typeface="Inter"/>
                  <a:sym typeface="Inter"/>
                </a:rPr>
                <a:t>255 characters</a:t>
              </a:r>
              <a:r>
                <a:rPr b="0" lang="en" sz="975">
                  <a:solidFill>
                    <a:srgbClr val="334155"/>
                  </a:solidFill>
                  <a:latin typeface="Inter"/>
                  <a:ea typeface="Inter"/>
                  <a:cs typeface="Inter"/>
                  <a:sym typeface="Inter"/>
                </a:rPr>
                <a:t>.</a:t>
              </a:r>
              <a:endParaRPr b="0" sz="975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endParaRPr>
            </a:p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lang="en" sz="825">
                  <a:solidFill>
                    <a:srgbClr val="475569"/>
                  </a:solidFill>
                  <a:highlight>
                    <a:srgbClr val="F8FAFC"/>
                  </a:highlight>
                  <a:latin typeface="Fira Code Medium"/>
                  <a:ea typeface="Fira Code Medium"/>
                  <a:cs typeface="Fira Code Medium"/>
                  <a:sym typeface="Fira Code Medium"/>
                </a:rPr>
                <a:t>Example: 'John Doe'</a:t>
              </a:r>
              <a:endParaRPr b="0" sz="825">
                <a:solidFill>
                  <a:srgbClr val="475569"/>
                </a:solidFill>
                <a:highlight>
                  <a:srgbClr val="F8FAFC"/>
                </a:highlight>
                <a:latin typeface="Fira Code Medium"/>
                <a:ea typeface="Fira Code Medium"/>
                <a:cs typeface="Fira Code Medium"/>
                <a:sym typeface="Fira Code Medium"/>
              </a:endParaRPr>
            </a:p>
          </p:txBody>
        </p:sp>
      </p:grpSp>
      <p:grpSp>
        <p:nvGrpSpPr>
          <p:cNvPr id="268" name="Google Shape;268;p22"/>
          <p:cNvGrpSpPr/>
          <p:nvPr/>
        </p:nvGrpSpPr>
        <p:grpSpPr>
          <a:xfrm>
            <a:off x="6715125" y="2114550"/>
            <a:ext cx="1857300" cy="2457600"/>
            <a:chOff x="0" y="0"/>
            <a:chExt cx="1857300" cy="2457600"/>
          </a:xfrm>
        </p:grpSpPr>
        <p:sp>
          <p:nvSpPr>
            <p:cNvPr id="269" name="Google Shape;269;p22"/>
            <p:cNvSpPr/>
            <p:nvPr/>
          </p:nvSpPr>
          <p:spPr>
            <a:xfrm>
              <a:off x="0" y="0"/>
              <a:ext cx="1857300" cy="2457600"/>
            </a:xfrm>
            <a:prstGeom prst="roundRect">
              <a:avLst>
                <a:gd fmla="val 3076" name="adj"/>
              </a:avLst>
            </a:prstGeom>
            <a:solidFill>
              <a:srgbClr val="FFFFFF"/>
            </a:solidFill>
            <a:ln cap="flat" cmpd="sng" w="9525">
              <a:solidFill>
                <a:srgbClr val="E2E8F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70" name="Google Shape;270;p22"/>
            <p:cNvSpPr/>
            <p:nvPr/>
          </p:nvSpPr>
          <p:spPr>
            <a:xfrm>
              <a:off x="0" y="0"/>
              <a:ext cx="1857300" cy="419100"/>
            </a:xfrm>
            <a:custGeom>
              <a:rect b="b" l="l" r="r" t="t"/>
              <a:pathLst>
                <a:path extrusionOk="0" h="120000" w="120000">
                  <a:moveTo>
                    <a:pt x="0" y="16364"/>
                  </a:moveTo>
                  <a:quadBezTo>
                    <a:pt x="0" y="0"/>
                    <a:pt x="3692" y="0"/>
                  </a:quadBezTo>
                  <a:lnTo>
                    <a:pt x="116308" y="0"/>
                  </a:lnTo>
                  <a:quadBezTo>
                    <a:pt x="120000" y="0"/>
                    <a:pt x="120000" y="16364"/>
                  </a:quadBezTo>
                  <a:lnTo>
                    <a:pt x="120000" y="120000"/>
                  </a:lnTo>
                  <a:lnTo>
                    <a:pt x="0" y="120000"/>
                  </a:lnTo>
                  <a:close/>
                </a:path>
              </a:pathLst>
            </a:custGeom>
            <a:solidFill>
              <a:srgbClr val="F8FAFC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cxnSp>
          <p:nvCxnSpPr>
            <p:cNvPr id="271" name="Google Shape;271;p22"/>
            <p:cNvCxnSpPr/>
            <p:nvPr/>
          </p:nvCxnSpPr>
          <p:spPr>
            <a:xfrm>
              <a:off x="0" y="419100"/>
              <a:ext cx="1857300" cy="0"/>
            </a:xfrm>
            <a:prstGeom prst="straightConnector1">
              <a:avLst/>
            </a:prstGeom>
            <a:solidFill>
              <a:srgbClr val="FFFFFF"/>
            </a:solidFill>
            <a:ln cap="flat" cmpd="sng" w="9525">
              <a:solidFill>
                <a:srgbClr val="E2E8F0"/>
              </a:solidFill>
              <a:prstDash val="solid"/>
              <a:round/>
              <a:headEnd len="sm" w="sm" type="none"/>
              <a:tailEnd len="sm" w="sm" type="none"/>
            </a:ln>
          </p:spPr>
        </p:cxnSp>
        <p:sp>
          <p:nvSpPr>
            <p:cNvPr id="272" name="Google Shape;272;p22"/>
            <p:cNvSpPr txBox="1"/>
            <p:nvPr/>
          </p:nvSpPr>
          <p:spPr>
            <a:xfrm>
              <a:off x="133350" y="95250"/>
              <a:ext cx="1590600" cy="2286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" sz="1125">
                  <a:solidFill>
                    <a:srgbClr val="2563EB"/>
                  </a:solidFill>
                  <a:latin typeface="Fira Code"/>
                  <a:ea typeface="Fira Code"/>
                  <a:cs typeface="Fira Code"/>
                  <a:sym typeface="Fira Code"/>
                </a:rPr>
                <a:t>BOOLEAN</a:t>
              </a:r>
              <a:endParaRPr b="1" sz="1125">
                <a:solidFill>
                  <a:srgbClr val="2563EB"/>
                </a:solidFill>
                <a:latin typeface="Fira Code"/>
                <a:ea typeface="Fira Code"/>
                <a:cs typeface="Fira Code"/>
                <a:sym typeface="Fira Code"/>
              </a:endParaRPr>
            </a:p>
          </p:txBody>
        </p:sp>
        <p:sp>
          <p:nvSpPr>
            <p:cNvPr id="273" name="Google Shape;273;p22"/>
            <p:cNvSpPr txBox="1"/>
            <p:nvPr/>
          </p:nvSpPr>
          <p:spPr>
            <a:xfrm>
              <a:off x="133350" y="533400"/>
              <a:ext cx="1590600" cy="18096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lang="en" sz="825">
                  <a:solidFill>
                    <a:srgbClr val="475569"/>
                  </a:solidFill>
                  <a:latin typeface="Inter SemiBold"/>
                  <a:ea typeface="Inter SemiBold"/>
                  <a:cs typeface="Inter SemiBold"/>
                  <a:sym typeface="Inter SemiBold"/>
                </a:rPr>
                <a:t>Logical Flag</a:t>
              </a:r>
              <a:endParaRPr b="0" sz="825">
                <a:solidFill>
                  <a:srgbClr val="475569"/>
                </a:solidFill>
                <a:latin typeface="Inter SemiBold"/>
                <a:ea typeface="Inter SemiBold"/>
                <a:cs typeface="Inter SemiBold"/>
                <a:sym typeface="Inter SemiBold"/>
              </a:endParaRPr>
            </a:p>
            <a:p>
              <a:pPr indent="0" lvl="0" marL="0" rtl="0" algn="l">
                <a:spcBef>
                  <a:spcPts val="600"/>
                </a:spcBef>
                <a:spcAft>
                  <a:spcPts val="0"/>
                </a:spcAft>
                <a:buNone/>
              </a:pPr>
              <a:r>
                <a:rPr b="0" lang="en" sz="975">
                  <a:solidFill>
                    <a:srgbClr val="334155"/>
                  </a:solidFill>
                  <a:latin typeface="Inter"/>
                  <a:ea typeface="Inter"/>
                  <a:cs typeface="Inter"/>
                  <a:sym typeface="Inter"/>
                </a:rPr>
                <a:t>Represents </a:t>
              </a:r>
              <a:r>
                <a:rPr b="1" lang="en" sz="975">
                  <a:solidFill>
                    <a:srgbClr val="334155"/>
                  </a:solidFill>
                  <a:latin typeface="Inter"/>
                  <a:ea typeface="Inter"/>
                  <a:cs typeface="Inter"/>
                  <a:sym typeface="Inter"/>
                </a:rPr>
                <a:t>True/False</a:t>
              </a:r>
              <a:r>
                <a:rPr b="0" lang="en" sz="975">
                  <a:solidFill>
                    <a:srgbClr val="334155"/>
                  </a:solidFill>
                  <a:latin typeface="Inter"/>
                  <a:ea typeface="Inter"/>
                  <a:cs typeface="Inter"/>
                  <a:sym typeface="Inter"/>
                </a:rPr>
                <a:t> values. Often stored internally as </a:t>
              </a:r>
              <a:r>
                <a:rPr b="1" lang="en" sz="975">
                  <a:solidFill>
                    <a:srgbClr val="334155"/>
                  </a:solidFill>
                  <a:latin typeface="Inter"/>
                  <a:ea typeface="Inter"/>
                  <a:cs typeface="Inter"/>
                  <a:sym typeface="Inter"/>
                </a:rPr>
                <a:t>1 or 0</a:t>
              </a:r>
              <a:r>
                <a:rPr b="0" lang="en" sz="975">
                  <a:solidFill>
                    <a:srgbClr val="334155"/>
                  </a:solidFill>
                  <a:latin typeface="Inter"/>
                  <a:ea typeface="Inter"/>
                  <a:cs typeface="Inter"/>
                  <a:sym typeface="Inter"/>
                </a:rPr>
                <a:t> (e.g., SQLite).</a:t>
              </a:r>
              <a:endParaRPr b="0" sz="975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endParaRPr>
            </a:p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lang="en" sz="825">
                  <a:solidFill>
                    <a:srgbClr val="475569"/>
                  </a:solidFill>
                  <a:highlight>
                    <a:srgbClr val="F8FAFC"/>
                  </a:highlight>
                  <a:latin typeface="Fira Code Medium"/>
                  <a:ea typeface="Fira Code Medium"/>
                  <a:cs typeface="Fira Code Medium"/>
                  <a:sym typeface="Fira Code Medium"/>
                </a:rPr>
                <a:t>Example: TRUE / 1</a:t>
              </a:r>
              <a:endParaRPr b="0" sz="825">
                <a:solidFill>
                  <a:srgbClr val="475569"/>
                </a:solidFill>
                <a:highlight>
                  <a:srgbClr val="F8FAFC"/>
                </a:highlight>
                <a:latin typeface="Fira Code Medium"/>
                <a:ea typeface="Fira Code Medium"/>
                <a:cs typeface="Fira Code Medium"/>
                <a:sym typeface="Fira Code Medium"/>
              </a:endParaRPr>
            </a:p>
          </p:txBody>
        </p:sp>
      </p:grp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77" name="Shape 2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8" name="Google Shape;278;p23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279" name="Google Shape;279;p23"/>
          <p:cNvGrpSpPr/>
          <p:nvPr/>
        </p:nvGrpSpPr>
        <p:grpSpPr>
          <a:xfrm>
            <a:off x="571500" y="400050"/>
            <a:ext cx="8001000" cy="381150"/>
            <a:chOff x="571500" y="400050"/>
            <a:chExt cx="8001000" cy="381150"/>
          </a:xfrm>
        </p:grpSpPr>
        <p:sp>
          <p:nvSpPr>
            <p:cNvPr id="280" name="Google Shape;280;p23"/>
            <p:cNvSpPr/>
            <p:nvPr/>
          </p:nvSpPr>
          <p:spPr>
            <a:xfrm>
              <a:off x="590550" y="400050"/>
              <a:ext cx="190500" cy="190500"/>
            </a:xfrm>
            <a:custGeom>
              <a:rect b="b" l="l" r="r" t="t"/>
              <a:pathLst>
                <a:path extrusionOk="0" h="120000" w="120000">
                  <a:moveTo>
                    <a:pt x="60000" y="0"/>
                  </a:moveTo>
                  <a:cubicBezTo>
                    <a:pt x="26880" y="0"/>
                    <a:pt x="0" y="26880"/>
                    <a:pt x="0" y="60000"/>
                  </a:cubicBezTo>
                  <a:lnTo>
                    <a:pt x="26880" y="120000"/>
                  </a:lnTo>
                  <a:lnTo>
                    <a:pt x="60000" y="120000"/>
                  </a:lnTo>
                  <a:lnTo>
                    <a:pt x="120000" y="93120"/>
                  </a:lnTo>
                  <a:lnTo>
                    <a:pt x="120000" y="60000"/>
                  </a:lnTo>
                  <a:lnTo>
                    <a:pt x="93120" y="0"/>
                  </a:lnTo>
                  <a:lnTo>
                    <a:pt x="60000" y="0"/>
                  </a:lnTo>
                  <a:close/>
                  <a:moveTo>
                    <a:pt x="60000" y="108000"/>
                  </a:moveTo>
                  <a:cubicBezTo>
                    <a:pt x="33540" y="108000"/>
                    <a:pt x="12000" y="86460"/>
                    <a:pt x="12000" y="60000"/>
                  </a:cubicBezTo>
                  <a:lnTo>
                    <a:pt x="33540" y="12000"/>
                  </a:lnTo>
                  <a:lnTo>
                    <a:pt x="60000" y="12000"/>
                  </a:lnTo>
                  <a:lnTo>
                    <a:pt x="108000" y="33540"/>
                  </a:lnTo>
                  <a:lnTo>
                    <a:pt x="108000" y="60000"/>
                  </a:lnTo>
                  <a:lnTo>
                    <a:pt x="86460" y="108000"/>
                  </a:lnTo>
                  <a:lnTo>
                    <a:pt x="60000" y="108000"/>
                  </a:lnTo>
                  <a:close/>
                  <a:moveTo>
                    <a:pt x="54000" y="30000"/>
                  </a:moveTo>
                  <a:lnTo>
                    <a:pt x="66000" y="30000"/>
                  </a:lnTo>
                  <a:lnTo>
                    <a:pt x="66000" y="66000"/>
                  </a:lnTo>
                  <a:lnTo>
                    <a:pt x="54000" y="66000"/>
                  </a:lnTo>
                  <a:close/>
                  <a:moveTo>
                    <a:pt x="54000" y="78000"/>
                  </a:moveTo>
                  <a:lnTo>
                    <a:pt x="66000" y="78000"/>
                  </a:lnTo>
                  <a:lnTo>
                    <a:pt x="66000" y="90000"/>
                  </a:lnTo>
                  <a:lnTo>
                    <a:pt x="54000" y="90000"/>
                  </a:lnTo>
                  <a:close/>
                </a:path>
              </a:pathLst>
            </a:custGeom>
            <a:solidFill>
              <a:srgbClr val="2563EB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81" name="Google Shape;281;p23"/>
            <p:cNvSpPr txBox="1"/>
            <p:nvPr/>
          </p:nvSpPr>
          <p:spPr>
            <a:xfrm>
              <a:off x="914400" y="400050"/>
              <a:ext cx="7086600" cy="2286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lang="en" sz="900">
                  <a:solidFill>
                    <a:srgbClr val="475569"/>
                  </a:solidFill>
                  <a:latin typeface="Inter SemiBold"/>
                  <a:ea typeface="Inter SemiBold"/>
                  <a:cs typeface="Inter SemiBold"/>
                  <a:sym typeface="Inter SemiBold"/>
                </a:rPr>
                <a:t>MAC 250: DATABASE ARCHITECTURE &amp; ENGINEERING</a:t>
              </a:r>
              <a:endParaRPr b="0" sz="900">
                <a:solidFill>
                  <a:srgbClr val="475569"/>
                </a:solidFill>
                <a:latin typeface="Inter SemiBold"/>
                <a:ea typeface="Inter SemiBold"/>
                <a:cs typeface="Inter SemiBold"/>
                <a:sym typeface="Inter SemiBold"/>
              </a:endParaRPr>
            </a:p>
          </p:txBody>
        </p:sp>
        <p:grpSp>
          <p:nvGrpSpPr>
            <p:cNvPr id="282" name="Google Shape;282;p23"/>
            <p:cNvGrpSpPr/>
            <p:nvPr/>
          </p:nvGrpSpPr>
          <p:grpSpPr>
            <a:xfrm>
              <a:off x="571500" y="762000"/>
              <a:ext cx="8001000" cy="19200"/>
              <a:chOff x="0" y="0"/>
              <a:chExt cx="8001000" cy="19200"/>
            </a:xfrm>
          </p:grpSpPr>
          <p:sp>
            <p:nvSpPr>
              <p:cNvPr id="283" name="Google Shape;283;p23"/>
              <p:cNvSpPr/>
              <p:nvPr/>
            </p:nvSpPr>
            <p:spPr>
              <a:xfrm>
                <a:off x="0" y="0"/>
                <a:ext cx="8001000" cy="9600"/>
              </a:xfrm>
              <a:prstGeom prst="rect">
                <a:avLst/>
              </a:prstGeom>
              <a:solidFill>
                <a:srgbClr val="E2E8F0"/>
              </a:solidFill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84" name="Google Shape;284;p23"/>
              <p:cNvSpPr/>
              <p:nvPr/>
            </p:nvSpPr>
            <p:spPr>
              <a:xfrm>
                <a:off x="0" y="0"/>
                <a:ext cx="1143000" cy="19200"/>
              </a:xfrm>
              <a:prstGeom prst="rect">
                <a:avLst/>
              </a:prstGeom>
              <a:solidFill>
                <a:srgbClr val="2563EB"/>
              </a:solidFill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</p:grpSp>
      <p:sp>
        <p:nvSpPr>
          <p:cNvPr id="285" name="Google Shape;285;p23"/>
          <p:cNvSpPr txBox="1"/>
          <p:nvPr/>
        </p:nvSpPr>
        <p:spPr>
          <a:xfrm>
            <a:off x="571500" y="1000125"/>
            <a:ext cx="8001000" cy="809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400">
                <a:solidFill>
                  <a:srgbClr val="0F172A"/>
                </a:solidFill>
                <a:latin typeface="Inter"/>
                <a:ea typeface="Inter"/>
                <a:cs typeface="Inter"/>
                <a:sym typeface="Inter"/>
              </a:rPr>
              <a:t>Defining Constraints</a:t>
            </a:r>
            <a:endParaRPr b="1" sz="2400">
              <a:solidFill>
                <a:srgbClr val="0F172A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b="0" lang="en" sz="1200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Establishes the rules that protect the database from invalid data entry.</a:t>
            </a:r>
            <a:endParaRPr b="0" sz="1200">
              <a:solidFill>
                <a:srgbClr val="475569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grpSp>
        <p:nvGrpSpPr>
          <p:cNvPr id="286" name="Google Shape;286;p23"/>
          <p:cNvGrpSpPr/>
          <p:nvPr/>
        </p:nvGrpSpPr>
        <p:grpSpPr>
          <a:xfrm>
            <a:off x="571500" y="2000250"/>
            <a:ext cx="7991550" cy="2381400"/>
            <a:chOff x="0" y="0"/>
            <a:chExt cx="7991550" cy="2381400"/>
          </a:xfrm>
        </p:grpSpPr>
        <p:grpSp>
          <p:nvGrpSpPr>
            <p:cNvPr id="287" name="Google Shape;287;p23"/>
            <p:cNvGrpSpPr/>
            <p:nvPr/>
          </p:nvGrpSpPr>
          <p:grpSpPr>
            <a:xfrm>
              <a:off x="0" y="0"/>
              <a:ext cx="2409900" cy="2381400"/>
              <a:chOff x="0" y="0"/>
              <a:chExt cx="2409900" cy="2381400"/>
            </a:xfrm>
          </p:grpSpPr>
          <p:sp>
            <p:nvSpPr>
              <p:cNvPr id="288" name="Google Shape;288;p23"/>
              <p:cNvSpPr/>
              <p:nvPr/>
            </p:nvSpPr>
            <p:spPr>
              <a:xfrm>
                <a:off x="0" y="0"/>
                <a:ext cx="2409900" cy="2381400"/>
              </a:xfrm>
              <a:prstGeom prst="roundRect">
                <a:avLst>
                  <a:gd fmla="val 2400" name="adj"/>
                </a:avLst>
              </a:prstGeom>
              <a:solidFill>
                <a:srgbClr val="F8FAFC"/>
              </a:solidFill>
              <a:ln cap="flat" cmpd="sng" w="9525">
                <a:solidFill>
                  <a:srgbClr val="E2E8F0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89" name="Google Shape;289;p23"/>
              <p:cNvSpPr/>
              <p:nvPr/>
            </p:nvSpPr>
            <p:spPr>
              <a:xfrm>
                <a:off x="0" y="0"/>
                <a:ext cx="2409900" cy="38100"/>
              </a:xfrm>
              <a:prstGeom prst="roundRect">
                <a:avLst>
                  <a:gd fmla="val 50000" name="adj"/>
                </a:avLst>
              </a:prstGeom>
              <a:solidFill>
                <a:srgbClr val="2563EB"/>
              </a:solidFill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90" name="Google Shape;290;p23"/>
              <p:cNvSpPr txBox="1"/>
              <p:nvPr/>
            </p:nvSpPr>
            <p:spPr>
              <a:xfrm>
                <a:off x="190500" y="228600"/>
                <a:ext cx="2028900" cy="19242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b="0" lang="en" sz="1200">
                    <a:solidFill>
                      <a:srgbClr val="2563EB"/>
                    </a:solidFill>
                    <a:latin typeface="Fira Code SemiBold"/>
                    <a:ea typeface="Fira Code SemiBold"/>
                    <a:cs typeface="Fira Code SemiBold"/>
                    <a:sym typeface="Fira Code SemiBold"/>
                  </a:rPr>
                  <a:t>PRIMARY KEY</a:t>
                </a:r>
                <a:endParaRPr b="0" sz="1200">
                  <a:solidFill>
                    <a:srgbClr val="2563EB"/>
                  </a:solidFill>
                  <a:latin typeface="Fira Code SemiBold"/>
                  <a:ea typeface="Fira Code SemiBold"/>
                  <a:cs typeface="Fira Code SemiBold"/>
                  <a:sym typeface="Fira Code SemiBold"/>
                </a:endParaRPr>
              </a:p>
              <a:p>
                <a:pPr indent="0" lvl="0" marL="0" rtl="0" algn="l">
                  <a:spcBef>
                    <a:spcPts val="900"/>
                  </a:spcBef>
                  <a:spcAft>
                    <a:spcPts val="0"/>
                  </a:spcAft>
                  <a:buNone/>
                </a:pPr>
                <a:r>
                  <a:rPr b="0" lang="en" sz="1050">
                    <a:solidFill>
                      <a:srgbClr val="475569"/>
                    </a:solidFill>
                    <a:latin typeface="Inter"/>
                    <a:ea typeface="Inter"/>
                    <a:cs typeface="Inter"/>
                    <a:sym typeface="Inter"/>
                  </a:rPr>
                  <a:t>Uniquely identifies each row within a table.</a:t>
                </a:r>
                <a:endParaRPr b="0" sz="1050">
                  <a:solidFill>
                    <a:srgbClr val="475569"/>
                  </a:solidFill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</p:grpSp>
        <p:grpSp>
          <p:nvGrpSpPr>
            <p:cNvPr id="291" name="Google Shape;291;p23"/>
            <p:cNvGrpSpPr/>
            <p:nvPr/>
          </p:nvGrpSpPr>
          <p:grpSpPr>
            <a:xfrm>
              <a:off x="2790825" y="0"/>
              <a:ext cx="2409900" cy="2381400"/>
              <a:chOff x="0" y="0"/>
              <a:chExt cx="2409900" cy="2381400"/>
            </a:xfrm>
          </p:grpSpPr>
          <p:sp>
            <p:nvSpPr>
              <p:cNvPr id="292" name="Google Shape;292;p23"/>
              <p:cNvSpPr/>
              <p:nvPr/>
            </p:nvSpPr>
            <p:spPr>
              <a:xfrm>
                <a:off x="0" y="0"/>
                <a:ext cx="2409900" cy="2381400"/>
              </a:xfrm>
              <a:prstGeom prst="roundRect">
                <a:avLst>
                  <a:gd fmla="val 2400" name="adj"/>
                </a:avLst>
              </a:prstGeom>
              <a:solidFill>
                <a:srgbClr val="F8FAFC"/>
              </a:solidFill>
              <a:ln cap="flat" cmpd="sng" w="9525">
                <a:solidFill>
                  <a:srgbClr val="E2E8F0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93" name="Google Shape;293;p23"/>
              <p:cNvSpPr/>
              <p:nvPr/>
            </p:nvSpPr>
            <p:spPr>
              <a:xfrm>
                <a:off x="0" y="0"/>
                <a:ext cx="2409900" cy="38100"/>
              </a:xfrm>
              <a:prstGeom prst="roundRect">
                <a:avLst>
                  <a:gd fmla="val 50000" name="adj"/>
                </a:avLst>
              </a:prstGeom>
              <a:solidFill>
                <a:srgbClr val="2563EB"/>
              </a:solidFill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94" name="Google Shape;294;p23"/>
              <p:cNvSpPr txBox="1"/>
              <p:nvPr/>
            </p:nvSpPr>
            <p:spPr>
              <a:xfrm>
                <a:off x="190500" y="228600"/>
                <a:ext cx="2028900" cy="19242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b="0" lang="en" sz="1200">
                    <a:solidFill>
                      <a:srgbClr val="2563EB"/>
                    </a:solidFill>
                    <a:latin typeface="Fira Code SemiBold"/>
                    <a:ea typeface="Fira Code SemiBold"/>
                    <a:cs typeface="Fira Code SemiBold"/>
                    <a:sym typeface="Fira Code SemiBold"/>
                  </a:rPr>
                  <a:t>NOT NULL</a:t>
                </a:r>
                <a:endParaRPr b="0" sz="1200">
                  <a:solidFill>
                    <a:srgbClr val="2563EB"/>
                  </a:solidFill>
                  <a:latin typeface="Fira Code SemiBold"/>
                  <a:ea typeface="Fira Code SemiBold"/>
                  <a:cs typeface="Fira Code SemiBold"/>
                  <a:sym typeface="Fira Code SemiBold"/>
                </a:endParaRPr>
              </a:p>
              <a:p>
                <a:pPr indent="0" lvl="0" marL="0" rtl="0" algn="l">
                  <a:spcBef>
                    <a:spcPts val="900"/>
                  </a:spcBef>
                  <a:spcAft>
                    <a:spcPts val="0"/>
                  </a:spcAft>
                  <a:buNone/>
                </a:pPr>
                <a:r>
                  <a:rPr b="0" lang="en" sz="1050">
                    <a:solidFill>
                      <a:srgbClr val="475569"/>
                    </a:solidFill>
                    <a:latin typeface="Inter"/>
                    <a:ea typeface="Inter"/>
                    <a:cs typeface="Inter"/>
                    <a:sym typeface="Inter"/>
                  </a:rPr>
                  <a:t>Enforces data completeness by preventing a column from being left blank.</a:t>
                </a:r>
                <a:endParaRPr b="0" sz="1050">
                  <a:solidFill>
                    <a:srgbClr val="475569"/>
                  </a:solidFill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</p:grpSp>
        <p:grpSp>
          <p:nvGrpSpPr>
            <p:cNvPr id="295" name="Google Shape;295;p23"/>
            <p:cNvGrpSpPr/>
            <p:nvPr/>
          </p:nvGrpSpPr>
          <p:grpSpPr>
            <a:xfrm>
              <a:off x="5581650" y="0"/>
              <a:ext cx="2409900" cy="2381400"/>
              <a:chOff x="0" y="0"/>
              <a:chExt cx="2409900" cy="2381400"/>
            </a:xfrm>
          </p:grpSpPr>
          <p:sp>
            <p:nvSpPr>
              <p:cNvPr id="296" name="Google Shape;296;p23"/>
              <p:cNvSpPr/>
              <p:nvPr/>
            </p:nvSpPr>
            <p:spPr>
              <a:xfrm>
                <a:off x="0" y="0"/>
                <a:ext cx="2409900" cy="2381400"/>
              </a:xfrm>
              <a:prstGeom prst="roundRect">
                <a:avLst>
                  <a:gd fmla="val 2400" name="adj"/>
                </a:avLst>
              </a:prstGeom>
              <a:solidFill>
                <a:srgbClr val="F8FAFC"/>
              </a:solidFill>
              <a:ln cap="flat" cmpd="sng" w="9525">
                <a:solidFill>
                  <a:srgbClr val="E2E8F0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97" name="Google Shape;297;p23"/>
              <p:cNvSpPr/>
              <p:nvPr/>
            </p:nvSpPr>
            <p:spPr>
              <a:xfrm>
                <a:off x="0" y="0"/>
                <a:ext cx="2409900" cy="38100"/>
              </a:xfrm>
              <a:prstGeom prst="roundRect">
                <a:avLst>
                  <a:gd fmla="val 50000" name="adj"/>
                </a:avLst>
              </a:prstGeom>
              <a:solidFill>
                <a:srgbClr val="2563EB"/>
              </a:solidFill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98" name="Google Shape;298;p23"/>
              <p:cNvSpPr txBox="1"/>
              <p:nvPr/>
            </p:nvSpPr>
            <p:spPr>
              <a:xfrm>
                <a:off x="190500" y="228600"/>
                <a:ext cx="2028900" cy="19242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b="0" lang="en" sz="1200">
                    <a:solidFill>
                      <a:srgbClr val="2563EB"/>
                    </a:solidFill>
                    <a:latin typeface="Fira Code SemiBold"/>
                    <a:ea typeface="Fira Code SemiBold"/>
                    <a:cs typeface="Fira Code SemiBold"/>
                    <a:sym typeface="Fira Code SemiBold"/>
                  </a:rPr>
                  <a:t>UNIQUE</a:t>
                </a:r>
                <a:endParaRPr b="0" sz="1200">
                  <a:solidFill>
                    <a:srgbClr val="2563EB"/>
                  </a:solidFill>
                  <a:latin typeface="Fira Code SemiBold"/>
                  <a:ea typeface="Fira Code SemiBold"/>
                  <a:cs typeface="Fira Code SemiBold"/>
                  <a:sym typeface="Fira Code SemiBold"/>
                </a:endParaRPr>
              </a:p>
              <a:p>
                <a:pPr indent="0" lvl="0" marL="0" rtl="0" algn="l">
                  <a:spcBef>
                    <a:spcPts val="900"/>
                  </a:spcBef>
                  <a:spcAft>
                    <a:spcPts val="0"/>
                  </a:spcAft>
                  <a:buNone/>
                </a:pPr>
                <a:r>
                  <a:rPr b="0" lang="en" sz="1050">
                    <a:solidFill>
                      <a:srgbClr val="475569"/>
                    </a:solidFill>
                    <a:latin typeface="Inter"/>
                    <a:ea typeface="Inter"/>
                    <a:cs typeface="Inter"/>
                    <a:sym typeface="Inter"/>
                  </a:rPr>
                  <a:t>Ensures data integrity by preventing duplicate values from appearing across multiple rows in a specific column.</a:t>
                </a:r>
                <a:endParaRPr b="0" sz="1050">
                  <a:solidFill>
                    <a:srgbClr val="475569"/>
                  </a:solidFill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</p:grpSp>
      </p:grp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02" name="Shape 3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03" name="Google Shape;303;p24"/>
          <p:cNvGrpSpPr/>
          <p:nvPr/>
        </p:nvGrpSpPr>
        <p:grpSpPr>
          <a:xfrm>
            <a:off x="0" y="0"/>
            <a:ext cx="9144000" cy="5143500"/>
            <a:chOff x="0" y="0"/>
            <a:chExt cx="9144000" cy="5143500"/>
          </a:xfrm>
        </p:grpSpPr>
        <p:sp>
          <p:nvSpPr>
            <p:cNvPr id="304" name="Google Shape;304;p24"/>
            <p:cNvSpPr/>
            <p:nvPr/>
          </p:nvSpPr>
          <p:spPr>
            <a:xfrm>
              <a:off x="0" y="0"/>
              <a:ext cx="9144000" cy="5143500"/>
            </a:xfrm>
            <a:prstGeom prst="rect">
              <a:avLst/>
            </a:prstGeom>
            <a:solidFill>
              <a:srgbClr val="F8FAFC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05" name="Google Shape;305;p24"/>
            <p:cNvSpPr/>
            <p:nvPr/>
          </p:nvSpPr>
          <p:spPr>
            <a:xfrm>
              <a:off x="590550" y="400050"/>
              <a:ext cx="190500" cy="190500"/>
            </a:xfrm>
            <a:custGeom>
              <a:rect b="b" l="l" r="r" t="t"/>
              <a:pathLst>
                <a:path extrusionOk="0" h="120000" w="120000">
                  <a:moveTo>
                    <a:pt x="60000" y="0"/>
                  </a:moveTo>
                  <a:cubicBezTo>
                    <a:pt x="26880" y="0"/>
                    <a:pt x="0" y="26880"/>
                    <a:pt x="0" y="60000"/>
                  </a:cubicBezTo>
                  <a:lnTo>
                    <a:pt x="26880" y="120000"/>
                  </a:lnTo>
                  <a:lnTo>
                    <a:pt x="60000" y="120000"/>
                  </a:lnTo>
                  <a:lnTo>
                    <a:pt x="120000" y="93120"/>
                  </a:lnTo>
                  <a:lnTo>
                    <a:pt x="120000" y="60000"/>
                  </a:lnTo>
                  <a:lnTo>
                    <a:pt x="93120" y="0"/>
                  </a:lnTo>
                  <a:lnTo>
                    <a:pt x="60000" y="0"/>
                  </a:lnTo>
                  <a:close/>
                  <a:moveTo>
                    <a:pt x="60000" y="108000"/>
                  </a:moveTo>
                  <a:cubicBezTo>
                    <a:pt x="33540" y="108000"/>
                    <a:pt x="12000" y="86460"/>
                    <a:pt x="12000" y="60000"/>
                  </a:cubicBezTo>
                  <a:lnTo>
                    <a:pt x="33540" y="12000"/>
                  </a:lnTo>
                  <a:lnTo>
                    <a:pt x="60000" y="12000"/>
                  </a:lnTo>
                  <a:lnTo>
                    <a:pt x="108000" y="33540"/>
                  </a:lnTo>
                  <a:lnTo>
                    <a:pt x="108000" y="60000"/>
                  </a:lnTo>
                  <a:lnTo>
                    <a:pt x="86460" y="108000"/>
                  </a:lnTo>
                  <a:lnTo>
                    <a:pt x="60000" y="108000"/>
                  </a:lnTo>
                  <a:close/>
                  <a:moveTo>
                    <a:pt x="54000" y="30000"/>
                  </a:moveTo>
                  <a:lnTo>
                    <a:pt x="66000" y="30000"/>
                  </a:lnTo>
                  <a:lnTo>
                    <a:pt x="66000" y="66000"/>
                  </a:lnTo>
                  <a:lnTo>
                    <a:pt x="54000" y="66000"/>
                  </a:lnTo>
                  <a:close/>
                  <a:moveTo>
                    <a:pt x="54000" y="78000"/>
                  </a:moveTo>
                  <a:lnTo>
                    <a:pt x="66000" y="78000"/>
                  </a:lnTo>
                  <a:lnTo>
                    <a:pt x="66000" y="90000"/>
                  </a:lnTo>
                  <a:lnTo>
                    <a:pt x="54000" y="90000"/>
                  </a:lnTo>
                  <a:close/>
                </a:path>
              </a:pathLst>
            </a:custGeom>
            <a:solidFill>
              <a:srgbClr val="2563EB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06" name="Google Shape;306;p24"/>
            <p:cNvSpPr txBox="1"/>
            <p:nvPr/>
          </p:nvSpPr>
          <p:spPr>
            <a:xfrm>
              <a:off x="914400" y="400050"/>
              <a:ext cx="7086600" cy="2286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lang="en" sz="900">
                  <a:solidFill>
                    <a:srgbClr val="475569"/>
                  </a:solidFill>
                  <a:latin typeface="Inter SemiBold"/>
                  <a:ea typeface="Inter SemiBold"/>
                  <a:cs typeface="Inter SemiBold"/>
                  <a:sym typeface="Inter SemiBold"/>
                </a:rPr>
                <a:t>MODULE 2: IMPLEMENTATION</a:t>
              </a:r>
              <a:endParaRPr b="0" sz="900">
                <a:solidFill>
                  <a:srgbClr val="475569"/>
                </a:solidFill>
                <a:latin typeface="Inter SemiBold"/>
                <a:ea typeface="Inter SemiBold"/>
                <a:cs typeface="Inter SemiBold"/>
                <a:sym typeface="Inter SemiBold"/>
              </a:endParaRPr>
            </a:p>
          </p:txBody>
        </p:sp>
      </p:grpSp>
      <p:sp>
        <p:nvSpPr>
          <p:cNvPr id="307" name="Google Shape;307;p24"/>
          <p:cNvSpPr txBox="1"/>
          <p:nvPr/>
        </p:nvSpPr>
        <p:spPr>
          <a:xfrm>
            <a:off x="571500" y="809625"/>
            <a:ext cx="8001000" cy="809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400">
                <a:solidFill>
                  <a:srgbClr val="0F172A"/>
                </a:solidFill>
                <a:latin typeface="Inter"/>
                <a:ea typeface="Inter"/>
                <a:cs typeface="Inter"/>
                <a:sym typeface="Inter"/>
              </a:rPr>
              <a:t>Primary Key Syntax</a:t>
            </a:r>
            <a:endParaRPr b="1" sz="2400">
              <a:solidFill>
                <a:srgbClr val="0F172A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0" lvl="0" marL="0" rtl="0" algn="l">
              <a:spcBef>
                <a:spcPts val="450"/>
              </a:spcBef>
              <a:spcAft>
                <a:spcPts val="0"/>
              </a:spcAft>
              <a:buNone/>
            </a:pPr>
            <a:r>
              <a:rPr b="0" lang="en" sz="1200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Primary Key Syntax can be implemented in two distinct ways depending on table requirements and column scope.</a:t>
            </a:r>
            <a:endParaRPr b="0" sz="1200">
              <a:solidFill>
                <a:srgbClr val="475569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grpSp>
        <p:nvGrpSpPr>
          <p:cNvPr id="308" name="Google Shape;308;p24"/>
          <p:cNvGrpSpPr/>
          <p:nvPr/>
        </p:nvGrpSpPr>
        <p:grpSpPr>
          <a:xfrm>
            <a:off x="571500" y="1762125"/>
            <a:ext cx="8001000" cy="2762400"/>
            <a:chOff x="0" y="0"/>
            <a:chExt cx="8001000" cy="2762400"/>
          </a:xfrm>
        </p:grpSpPr>
        <p:grpSp>
          <p:nvGrpSpPr>
            <p:cNvPr id="309" name="Google Shape;309;p24"/>
            <p:cNvGrpSpPr/>
            <p:nvPr/>
          </p:nvGrpSpPr>
          <p:grpSpPr>
            <a:xfrm>
              <a:off x="0" y="0"/>
              <a:ext cx="3810000" cy="2762400"/>
              <a:chOff x="0" y="0"/>
              <a:chExt cx="3810000" cy="2762400"/>
            </a:xfrm>
          </p:grpSpPr>
          <p:sp>
            <p:nvSpPr>
              <p:cNvPr id="310" name="Google Shape;310;p24"/>
              <p:cNvSpPr/>
              <p:nvPr/>
            </p:nvSpPr>
            <p:spPr>
              <a:xfrm>
                <a:off x="0" y="0"/>
                <a:ext cx="3810000" cy="2762400"/>
              </a:xfrm>
              <a:prstGeom prst="roundRect">
                <a:avLst>
                  <a:gd fmla="val 2068" name="adj"/>
                </a:avLst>
              </a:prstGeom>
              <a:solidFill>
                <a:srgbClr val="FFFFFF"/>
              </a:solidFill>
              <a:ln cap="flat" cmpd="sng" w="9525">
                <a:solidFill>
                  <a:srgbClr val="E2E8F0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11" name="Google Shape;311;p24"/>
              <p:cNvSpPr/>
              <p:nvPr/>
            </p:nvSpPr>
            <p:spPr>
              <a:xfrm>
                <a:off x="0" y="0"/>
                <a:ext cx="3810000" cy="381000"/>
              </a:xfrm>
              <a:custGeom>
                <a:rect b="b" l="l" r="r" t="t"/>
                <a:pathLst>
                  <a:path extrusionOk="0" h="120000" w="120000">
                    <a:moveTo>
                      <a:pt x="0" y="18000"/>
                    </a:moveTo>
                    <a:quadBezTo>
                      <a:pt x="0" y="0"/>
                      <a:pt x="1800" y="0"/>
                    </a:quadBezTo>
                    <a:lnTo>
                      <a:pt x="118200" y="0"/>
                    </a:lnTo>
                    <a:quadBezTo>
                      <a:pt x="120000" y="0"/>
                      <a:pt x="120000" y="18000"/>
                    </a:quadBezTo>
                    <a:lnTo>
                      <a:pt x="120000" y="120000"/>
                    </a:lnTo>
                    <a:lnTo>
                      <a:pt x="0" y="120000"/>
                    </a:lnTo>
                    <a:close/>
                  </a:path>
                </a:pathLst>
              </a:custGeom>
              <a:solidFill>
                <a:srgbClr val="F1F5F9"/>
              </a:solidFill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12" name="Google Shape;312;p24"/>
              <p:cNvSpPr txBox="1"/>
              <p:nvPr/>
            </p:nvSpPr>
            <p:spPr>
              <a:xfrm>
                <a:off x="190500" y="95250"/>
                <a:ext cx="3429000" cy="1905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b="0" lang="en" sz="900">
                    <a:solidFill>
                      <a:srgbClr val="2563EB"/>
                    </a:solidFill>
                    <a:latin typeface="Inter SemiBold"/>
                    <a:ea typeface="Inter SemiBold"/>
                    <a:cs typeface="Inter SemiBold"/>
                    <a:sym typeface="Inter SemiBold"/>
                  </a:rPr>
                  <a:t>INLINE DECLARATION</a:t>
                </a:r>
                <a:endParaRPr b="0" sz="900">
                  <a:solidFill>
                    <a:srgbClr val="2563EB"/>
                  </a:solidFill>
                  <a:latin typeface="Inter SemiBold"/>
                  <a:ea typeface="Inter SemiBold"/>
                  <a:cs typeface="Inter SemiBold"/>
                  <a:sym typeface="Inter SemiBold"/>
                </a:endParaRPr>
              </a:p>
            </p:txBody>
          </p:sp>
          <p:sp>
            <p:nvSpPr>
              <p:cNvPr id="313" name="Google Shape;313;p24"/>
              <p:cNvSpPr txBox="1"/>
              <p:nvPr/>
            </p:nvSpPr>
            <p:spPr>
              <a:xfrm>
                <a:off x="190500" y="523875"/>
                <a:ext cx="3429000" cy="20955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b="0" lang="en" sz="1050">
                    <a:solidFill>
                      <a:srgbClr val="475569"/>
                    </a:solidFill>
                    <a:latin typeface="Inter"/>
                    <a:ea typeface="Inter"/>
                    <a:cs typeface="Inter"/>
                    <a:sym typeface="Inter"/>
                  </a:rPr>
                  <a:t>Applied directly to a single column definition during table creation:</a:t>
                </a:r>
                <a:endParaRPr b="0" sz="1050">
                  <a:solidFill>
                    <a:srgbClr val="475569"/>
                  </a:solidFill>
                  <a:latin typeface="Inter"/>
                  <a:ea typeface="Inter"/>
                  <a:cs typeface="Inter"/>
                  <a:sym typeface="Inter"/>
                </a:endParaRPr>
              </a:p>
              <a:p>
                <a:pPr indent="0" lvl="0" marL="0" rtl="0" algn="l">
                  <a:spcBef>
                    <a:spcPts val="1200"/>
                  </a:spcBef>
                  <a:spcAft>
                    <a:spcPts val="0"/>
                  </a:spcAft>
                  <a:buNone/>
                </a:pPr>
                <a:r>
                  <a:rPr b="0" lang="en" sz="1050">
                    <a:solidFill>
                      <a:srgbClr val="2563EB"/>
                    </a:solidFill>
                    <a:highlight>
                      <a:srgbClr val="F8FAFC"/>
                    </a:highlight>
                    <a:latin typeface="Fira Code Medium"/>
                    <a:ea typeface="Fira Code Medium"/>
                    <a:cs typeface="Fira Code Medium"/>
                    <a:sym typeface="Fira Code Medium"/>
                  </a:rPr>
                  <a:t>UserID INT PRIMARY KEY,</a:t>
                </a:r>
                <a:endParaRPr b="0" sz="1050">
                  <a:solidFill>
                    <a:srgbClr val="2563EB"/>
                  </a:solidFill>
                  <a:highlight>
                    <a:srgbClr val="F8FAFC"/>
                  </a:highlight>
                  <a:latin typeface="Fira Code Medium"/>
                  <a:ea typeface="Fira Code Medium"/>
                  <a:cs typeface="Fira Code Medium"/>
                  <a:sym typeface="Fira Code Medium"/>
                </a:endParaRPr>
              </a:p>
              <a:p>
                <a:pPr indent="0" lvl="0" marL="0" rtl="0" algn="l">
                  <a:spcBef>
                    <a:spcPts val="900"/>
                  </a:spcBef>
                  <a:spcAft>
                    <a:spcPts val="0"/>
                  </a:spcAft>
                  <a:buNone/>
                </a:pPr>
                <a:r>
                  <a:rPr b="0" lang="en" sz="975">
                    <a:solidFill>
                      <a:srgbClr val="64748B"/>
                    </a:solidFill>
                    <a:latin typeface="Inter"/>
                    <a:ea typeface="Inter"/>
                    <a:cs typeface="Inter"/>
                    <a:sym typeface="Inter"/>
                  </a:rPr>
                  <a:t>Best suited for simple single-column unique identifiers.</a:t>
                </a:r>
                <a:endParaRPr b="0" sz="975">
                  <a:solidFill>
                    <a:srgbClr val="64748B"/>
                  </a:solidFill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</p:grpSp>
        <p:grpSp>
          <p:nvGrpSpPr>
            <p:cNvPr id="314" name="Google Shape;314;p24"/>
            <p:cNvGrpSpPr/>
            <p:nvPr/>
          </p:nvGrpSpPr>
          <p:grpSpPr>
            <a:xfrm>
              <a:off x="4191000" y="0"/>
              <a:ext cx="3810000" cy="2762400"/>
              <a:chOff x="4191000" y="0"/>
              <a:chExt cx="3810000" cy="2762400"/>
            </a:xfrm>
          </p:grpSpPr>
          <p:sp>
            <p:nvSpPr>
              <p:cNvPr id="315" name="Google Shape;315;p24"/>
              <p:cNvSpPr/>
              <p:nvPr/>
            </p:nvSpPr>
            <p:spPr>
              <a:xfrm>
                <a:off x="4191000" y="0"/>
                <a:ext cx="3810000" cy="2762400"/>
              </a:xfrm>
              <a:prstGeom prst="roundRect">
                <a:avLst>
                  <a:gd fmla="val 2068" name="adj"/>
                </a:avLst>
              </a:prstGeom>
              <a:solidFill>
                <a:srgbClr val="FFFFFF"/>
              </a:solidFill>
              <a:ln cap="flat" cmpd="sng" w="9525">
                <a:solidFill>
                  <a:srgbClr val="E2E8F0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16" name="Google Shape;316;p24"/>
              <p:cNvSpPr/>
              <p:nvPr/>
            </p:nvSpPr>
            <p:spPr>
              <a:xfrm>
                <a:off x="4191000" y="0"/>
                <a:ext cx="3810000" cy="381000"/>
              </a:xfrm>
              <a:custGeom>
                <a:rect b="b" l="l" r="r" t="t"/>
                <a:pathLst>
                  <a:path extrusionOk="0" h="120000" w="120000">
                    <a:moveTo>
                      <a:pt x="0" y="18000"/>
                    </a:moveTo>
                    <a:quadBezTo>
                      <a:pt x="0" y="0"/>
                      <a:pt x="1800" y="0"/>
                    </a:quadBezTo>
                    <a:lnTo>
                      <a:pt x="118200" y="0"/>
                    </a:lnTo>
                    <a:quadBezTo>
                      <a:pt x="120000" y="0"/>
                      <a:pt x="120000" y="18000"/>
                    </a:quadBezTo>
                    <a:lnTo>
                      <a:pt x="120000" y="120000"/>
                    </a:lnTo>
                    <a:lnTo>
                      <a:pt x="0" y="120000"/>
                    </a:lnTo>
                    <a:close/>
                  </a:path>
                </a:pathLst>
              </a:custGeom>
              <a:solidFill>
                <a:srgbClr val="F1F5F9"/>
              </a:solidFill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17" name="Google Shape;317;p24"/>
              <p:cNvSpPr txBox="1"/>
              <p:nvPr/>
            </p:nvSpPr>
            <p:spPr>
              <a:xfrm>
                <a:off x="4381500" y="95250"/>
                <a:ext cx="3429000" cy="1905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b="0" lang="en" sz="900">
                    <a:solidFill>
                      <a:srgbClr val="2563EB"/>
                    </a:solidFill>
                    <a:latin typeface="Inter SemiBold"/>
                    <a:ea typeface="Inter SemiBold"/>
                    <a:cs typeface="Inter SemiBold"/>
                    <a:sym typeface="Inter SemiBold"/>
                  </a:rPr>
                  <a:t>TABLE-LEVEL DECLARATION</a:t>
                </a:r>
                <a:endParaRPr b="0" sz="900">
                  <a:solidFill>
                    <a:srgbClr val="2563EB"/>
                  </a:solidFill>
                  <a:latin typeface="Inter SemiBold"/>
                  <a:ea typeface="Inter SemiBold"/>
                  <a:cs typeface="Inter SemiBold"/>
                  <a:sym typeface="Inter SemiBold"/>
                </a:endParaRPr>
              </a:p>
            </p:txBody>
          </p:sp>
          <p:sp>
            <p:nvSpPr>
              <p:cNvPr id="318" name="Google Shape;318;p24"/>
              <p:cNvSpPr txBox="1"/>
              <p:nvPr/>
            </p:nvSpPr>
            <p:spPr>
              <a:xfrm>
                <a:off x="4381500" y="523875"/>
                <a:ext cx="3429000" cy="20955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b="0" lang="en" sz="1050">
                    <a:solidFill>
                      <a:srgbClr val="475569"/>
                    </a:solidFill>
                    <a:latin typeface="Inter"/>
                    <a:ea typeface="Inter"/>
                    <a:cs typeface="Inter"/>
                    <a:sym typeface="Inter"/>
                  </a:rPr>
                  <a:t>Required when creating Composite Keys that span multiple columns. Defined at the end of the statement:</a:t>
                </a:r>
                <a:endParaRPr b="0" sz="1050">
                  <a:solidFill>
                    <a:srgbClr val="475569"/>
                  </a:solidFill>
                  <a:latin typeface="Inter"/>
                  <a:ea typeface="Inter"/>
                  <a:cs typeface="Inter"/>
                  <a:sym typeface="Inter"/>
                </a:endParaRPr>
              </a:p>
              <a:p>
                <a:pPr indent="0" lvl="0" marL="0" rtl="0" algn="l">
                  <a:spcBef>
                    <a:spcPts val="1200"/>
                  </a:spcBef>
                  <a:spcAft>
                    <a:spcPts val="0"/>
                  </a:spcAft>
                  <a:buNone/>
                </a:pPr>
                <a:r>
                  <a:rPr b="0" lang="en" sz="1050">
                    <a:solidFill>
                      <a:srgbClr val="2563EB"/>
                    </a:solidFill>
                    <a:highlight>
                      <a:srgbClr val="F8FAFC"/>
                    </a:highlight>
                    <a:latin typeface="Fira Code Medium"/>
                    <a:ea typeface="Fira Code Medium"/>
                    <a:cs typeface="Fira Code Medium"/>
                    <a:sym typeface="Fira Code Medium"/>
                  </a:rPr>
                  <a:t>PRIMARY KEY (ProjID, EmpID)</a:t>
                </a:r>
                <a:endParaRPr b="0" sz="1050">
                  <a:solidFill>
                    <a:srgbClr val="2563EB"/>
                  </a:solidFill>
                  <a:highlight>
                    <a:srgbClr val="F8FAFC"/>
                  </a:highlight>
                  <a:latin typeface="Fira Code Medium"/>
                  <a:ea typeface="Fira Code Medium"/>
                  <a:cs typeface="Fira Code Medium"/>
                  <a:sym typeface="Fira Code Medium"/>
                </a:endParaRPr>
              </a:p>
              <a:p>
                <a:pPr indent="0" lvl="0" marL="0" rtl="0" algn="l">
                  <a:spcBef>
                    <a:spcPts val="900"/>
                  </a:spcBef>
                  <a:spcAft>
                    <a:spcPts val="0"/>
                  </a:spcAft>
                  <a:buNone/>
                </a:pPr>
                <a:r>
                  <a:rPr b="0" lang="en" sz="975">
                    <a:solidFill>
                      <a:srgbClr val="64748B"/>
                    </a:solidFill>
                    <a:latin typeface="Inter"/>
                    <a:ea typeface="Inter"/>
                    <a:cs typeface="Inter"/>
                    <a:sym typeface="Inter"/>
                  </a:rPr>
                  <a:t>Essential for junction tables and multi-column primary keys.</a:t>
                </a:r>
                <a:endParaRPr b="0" sz="975">
                  <a:solidFill>
                    <a:srgbClr val="64748B"/>
                  </a:solidFill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</p:grpSp>
      </p:grp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22" name="Shape 3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23" name="Google Shape;323;p25"/>
          <p:cNvGrpSpPr/>
          <p:nvPr/>
        </p:nvGrpSpPr>
        <p:grpSpPr>
          <a:xfrm>
            <a:off x="0" y="0"/>
            <a:ext cx="9144000" cy="5143500"/>
            <a:chOff x="0" y="0"/>
            <a:chExt cx="9144000" cy="5143500"/>
          </a:xfrm>
        </p:grpSpPr>
        <p:sp>
          <p:nvSpPr>
            <p:cNvPr id="324" name="Google Shape;324;p25"/>
            <p:cNvSpPr/>
            <p:nvPr/>
          </p:nvSpPr>
          <p:spPr>
            <a:xfrm>
              <a:off x="0" y="0"/>
              <a:ext cx="9144000" cy="5143500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25" name="Google Shape;325;p25"/>
            <p:cNvSpPr/>
            <p:nvPr/>
          </p:nvSpPr>
          <p:spPr>
            <a:xfrm>
              <a:off x="590550" y="400050"/>
              <a:ext cx="190500" cy="190500"/>
            </a:xfrm>
            <a:custGeom>
              <a:rect b="b" l="l" r="r" t="t"/>
              <a:pathLst>
                <a:path extrusionOk="0" h="120000" w="120000">
                  <a:moveTo>
                    <a:pt x="60000" y="0"/>
                  </a:moveTo>
                  <a:cubicBezTo>
                    <a:pt x="26880" y="0"/>
                    <a:pt x="0" y="26880"/>
                    <a:pt x="0" y="60000"/>
                  </a:cubicBezTo>
                  <a:lnTo>
                    <a:pt x="26880" y="120000"/>
                  </a:lnTo>
                  <a:lnTo>
                    <a:pt x="60000" y="120000"/>
                  </a:lnTo>
                  <a:lnTo>
                    <a:pt x="120000" y="93120"/>
                  </a:lnTo>
                  <a:lnTo>
                    <a:pt x="120000" y="60000"/>
                  </a:lnTo>
                  <a:lnTo>
                    <a:pt x="93120" y="0"/>
                  </a:lnTo>
                  <a:lnTo>
                    <a:pt x="60000" y="0"/>
                  </a:lnTo>
                  <a:close/>
                  <a:moveTo>
                    <a:pt x="60000" y="108000"/>
                  </a:moveTo>
                  <a:cubicBezTo>
                    <a:pt x="33540" y="108000"/>
                    <a:pt x="12000" y="86460"/>
                    <a:pt x="12000" y="60000"/>
                  </a:cubicBezTo>
                  <a:lnTo>
                    <a:pt x="33540" y="12000"/>
                  </a:lnTo>
                  <a:lnTo>
                    <a:pt x="60000" y="12000"/>
                  </a:lnTo>
                  <a:lnTo>
                    <a:pt x="108000" y="33540"/>
                  </a:lnTo>
                  <a:lnTo>
                    <a:pt x="108000" y="60000"/>
                  </a:lnTo>
                  <a:lnTo>
                    <a:pt x="86460" y="108000"/>
                  </a:lnTo>
                  <a:lnTo>
                    <a:pt x="60000" y="108000"/>
                  </a:lnTo>
                  <a:close/>
                  <a:moveTo>
                    <a:pt x="54000" y="30000"/>
                  </a:moveTo>
                  <a:lnTo>
                    <a:pt x="66000" y="30000"/>
                  </a:lnTo>
                  <a:lnTo>
                    <a:pt x="66000" y="66000"/>
                  </a:lnTo>
                  <a:lnTo>
                    <a:pt x="54000" y="66000"/>
                  </a:lnTo>
                  <a:close/>
                  <a:moveTo>
                    <a:pt x="54000" y="78000"/>
                  </a:moveTo>
                  <a:lnTo>
                    <a:pt x="66000" y="78000"/>
                  </a:lnTo>
                  <a:lnTo>
                    <a:pt x="66000" y="90000"/>
                  </a:lnTo>
                  <a:lnTo>
                    <a:pt x="54000" y="90000"/>
                  </a:lnTo>
                  <a:close/>
                </a:path>
              </a:pathLst>
            </a:custGeom>
            <a:solidFill>
              <a:srgbClr val="2563EB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26" name="Google Shape;326;p25"/>
            <p:cNvSpPr txBox="1"/>
            <p:nvPr/>
          </p:nvSpPr>
          <p:spPr>
            <a:xfrm>
              <a:off x="914400" y="400050"/>
              <a:ext cx="7086600" cy="2286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lang="en" sz="900">
                  <a:solidFill>
                    <a:srgbClr val="475569"/>
                  </a:solidFill>
                  <a:latin typeface="Inter SemiBold"/>
                  <a:ea typeface="Inter SemiBold"/>
                  <a:cs typeface="Inter SemiBold"/>
                  <a:sym typeface="Inter SemiBold"/>
                </a:rPr>
                <a:t>MAC 250: DATABASE ARCHITECTURE &amp; ENGINEERING</a:t>
              </a:r>
              <a:endParaRPr b="0" sz="900">
                <a:solidFill>
                  <a:srgbClr val="475569"/>
                </a:solidFill>
                <a:latin typeface="Inter SemiBold"/>
                <a:ea typeface="Inter SemiBold"/>
                <a:cs typeface="Inter SemiBold"/>
                <a:sym typeface="Inter SemiBold"/>
              </a:endParaRPr>
            </a:p>
          </p:txBody>
        </p:sp>
        <p:grpSp>
          <p:nvGrpSpPr>
            <p:cNvPr id="327" name="Google Shape;327;p25"/>
            <p:cNvGrpSpPr/>
            <p:nvPr/>
          </p:nvGrpSpPr>
          <p:grpSpPr>
            <a:xfrm>
              <a:off x="571500" y="762000"/>
              <a:ext cx="8001000" cy="19200"/>
              <a:chOff x="0" y="0"/>
              <a:chExt cx="8001000" cy="19200"/>
            </a:xfrm>
          </p:grpSpPr>
          <p:sp>
            <p:nvSpPr>
              <p:cNvPr id="328" name="Google Shape;328;p25"/>
              <p:cNvSpPr/>
              <p:nvPr/>
            </p:nvSpPr>
            <p:spPr>
              <a:xfrm>
                <a:off x="0" y="0"/>
                <a:ext cx="8001000" cy="9600"/>
              </a:xfrm>
              <a:prstGeom prst="rect">
                <a:avLst/>
              </a:prstGeom>
              <a:solidFill>
                <a:srgbClr val="E2E8F0"/>
              </a:solidFill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29" name="Google Shape;329;p25"/>
              <p:cNvSpPr/>
              <p:nvPr/>
            </p:nvSpPr>
            <p:spPr>
              <a:xfrm>
                <a:off x="0" y="0"/>
                <a:ext cx="1143000" cy="19200"/>
              </a:xfrm>
              <a:prstGeom prst="rect">
                <a:avLst/>
              </a:prstGeom>
              <a:solidFill>
                <a:srgbClr val="2563EB"/>
              </a:solidFill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</p:grpSp>
      <p:sp>
        <p:nvSpPr>
          <p:cNvPr id="330" name="Google Shape;330;p25"/>
          <p:cNvSpPr txBox="1"/>
          <p:nvPr/>
        </p:nvSpPr>
        <p:spPr>
          <a:xfrm>
            <a:off x="571500" y="1000125"/>
            <a:ext cx="8001000" cy="809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400">
                <a:solidFill>
                  <a:srgbClr val="0F172A"/>
                </a:solidFill>
                <a:latin typeface="Inter"/>
                <a:ea typeface="Inter"/>
                <a:cs typeface="Inter"/>
                <a:sym typeface="Inter"/>
              </a:rPr>
              <a:t>Foreign Key Syntax</a:t>
            </a:r>
            <a:endParaRPr b="1" sz="2400">
              <a:solidFill>
                <a:srgbClr val="0F172A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0" lvl="0" marL="0" rtl="0" algn="l">
              <a:spcBef>
                <a:spcPts val="450"/>
              </a:spcBef>
              <a:spcAft>
                <a:spcPts val="0"/>
              </a:spcAft>
              <a:buNone/>
            </a:pPr>
            <a:r>
              <a:rPr b="0" lang="en" sz="1500">
                <a:solidFill>
                  <a:srgbClr val="2563EB"/>
                </a:solidFill>
                <a:latin typeface="Inter Medium"/>
                <a:ea typeface="Inter Medium"/>
                <a:cs typeface="Inter Medium"/>
                <a:sym typeface="Inter Medium"/>
              </a:rPr>
              <a:t>Establishing relational bridges between distinct tables</a:t>
            </a:r>
            <a:endParaRPr b="0" sz="1500">
              <a:solidFill>
                <a:srgbClr val="2563EB"/>
              </a:solidFill>
              <a:latin typeface="Inter Medium"/>
              <a:ea typeface="Inter Medium"/>
              <a:cs typeface="Inter Medium"/>
              <a:sym typeface="Inter Medium"/>
            </a:endParaRPr>
          </a:p>
        </p:txBody>
      </p:sp>
      <p:sp>
        <p:nvSpPr>
          <p:cNvPr id="331" name="Google Shape;331;p25"/>
          <p:cNvSpPr txBox="1"/>
          <p:nvPr/>
        </p:nvSpPr>
        <p:spPr>
          <a:xfrm>
            <a:off x="571500" y="1857375"/>
            <a:ext cx="8001000" cy="428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" sz="1200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To define a relational link, specify the local column and the external reference. The standard declaration syntax explicitly maps the child table column to the parent table.</a:t>
            </a:r>
            <a:endParaRPr b="0" sz="1200">
              <a:solidFill>
                <a:srgbClr val="475569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grpSp>
        <p:nvGrpSpPr>
          <p:cNvPr id="332" name="Google Shape;332;p25"/>
          <p:cNvGrpSpPr/>
          <p:nvPr/>
        </p:nvGrpSpPr>
        <p:grpSpPr>
          <a:xfrm>
            <a:off x="571500" y="2381250"/>
            <a:ext cx="8001000" cy="857400"/>
            <a:chOff x="0" y="0"/>
            <a:chExt cx="8001000" cy="857400"/>
          </a:xfrm>
        </p:grpSpPr>
        <p:sp>
          <p:nvSpPr>
            <p:cNvPr id="333" name="Google Shape;333;p25"/>
            <p:cNvSpPr/>
            <p:nvPr/>
          </p:nvSpPr>
          <p:spPr>
            <a:xfrm>
              <a:off x="0" y="0"/>
              <a:ext cx="8001000" cy="857400"/>
            </a:xfrm>
            <a:prstGeom prst="roundRect">
              <a:avLst>
                <a:gd fmla="val 6666" name="adj"/>
              </a:avLst>
            </a:prstGeom>
            <a:solidFill>
              <a:srgbClr val="F8FAFC"/>
            </a:solidFill>
            <a:ln cap="flat" cmpd="sng" w="9525">
              <a:solidFill>
                <a:srgbClr val="E2E8F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34" name="Google Shape;334;p25"/>
            <p:cNvSpPr/>
            <p:nvPr/>
          </p:nvSpPr>
          <p:spPr>
            <a:xfrm>
              <a:off x="0" y="0"/>
              <a:ext cx="57300" cy="857400"/>
            </a:xfrm>
            <a:prstGeom prst="roundRect">
              <a:avLst>
                <a:gd fmla="val 50000" name="adj"/>
              </a:avLst>
            </a:prstGeom>
            <a:solidFill>
              <a:srgbClr val="2563EB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35" name="Google Shape;335;p25"/>
            <p:cNvSpPr txBox="1"/>
            <p:nvPr/>
          </p:nvSpPr>
          <p:spPr>
            <a:xfrm>
              <a:off x="228600" y="190500"/>
              <a:ext cx="7543800" cy="4764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lang="en" sz="900">
                  <a:solidFill>
                    <a:srgbClr val="475569"/>
                  </a:solidFill>
                  <a:latin typeface="Inter SemiBold"/>
                  <a:ea typeface="Inter SemiBold"/>
                  <a:cs typeface="Inter SemiBold"/>
                  <a:sym typeface="Inter SemiBold"/>
                </a:rPr>
                <a:t>SQL DECLARATION</a:t>
              </a:r>
              <a:endParaRPr b="0" sz="900">
                <a:solidFill>
                  <a:srgbClr val="475569"/>
                </a:solidFill>
                <a:latin typeface="Inter SemiBold"/>
                <a:ea typeface="Inter SemiBold"/>
                <a:cs typeface="Inter SemiBold"/>
                <a:sym typeface="Inter SemiBold"/>
              </a:endParaRPr>
            </a:p>
            <a:p>
              <a:pPr indent="0" lvl="0" marL="0" rtl="0" algn="l">
                <a:spcBef>
                  <a:spcPts val="600"/>
                </a:spcBef>
                <a:spcAft>
                  <a:spcPts val="0"/>
                </a:spcAft>
                <a:buNone/>
              </a:pPr>
              <a:r>
                <a:rPr b="0" lang="en" sz="1125">
                  <a:solidFill>
                    <a:srgbClr val="0F172A"/>
                  </a:solidFill>
                  <a:latin typeface="Fira Code Medium"/>
                  <a:ea typeface="Fira Code Medium"/>
                  <a:cs typeface="Fira Code Medium"/>
                  <a:sym typeface="Fira Code Medium"/>
                </a:rPr>
                <a:t>DepartmentID INT, </a:t>
              </a:r>
              <a:r>
                <a:rPr b="1" lang="en" sz="1125">
                  <a:solidFill>
                    <a:srgbClr val="2563EB"/>
                  </a:solidFill>
                  <a:latin typeface="Fira Code"/>
                  <a:ea typeface="Fira Code"/>
                  <a:cs typeface="Fira Code"/>
                  <a:sym typeface="Fira Code"/>
                </a:rPr>
                <a:t>FOREIGN KEY</a:t>
              </a:r>
              <a:r>
                <a:rPr b="0" lang="en" sz="1125">
                  <a:solidFill>
                    <a:srgbClr val="0F172A"/>
                  </a:solidFill>
                  <a:latin typeface="Fira Code Medium"/>
                  <a:ea typeface="Fira Code Medium"/>
                  <a:cs typeface="Fira Code Medium"/>
                  <a:sym typeface="Fira Code Medium"/>
                </a:rPr>
                <a:t> (DepartmentID) </a:t>
              </a:r>
              <a:r>
                <a:rPr b="1" lang="en" sz="1125">
                  <a:solidFill>
                    <a:srgbClr val="2563EB"/>
                  </a:solidFill>
                  <a:latin typeface="Fira Code"/>
                  <a:ea typeface="Fira Code"/>
                  <a:cs typeface="Fira Code"/>
                  <a:sym typeface="Fira Code"/>
                </a:rPr>
                <a:t>REFERENCES</a:t>
              </a:r>
              <a:r>
                <a:rPr b="0" lang="en" sz="1125">
                  <a:solidFill>
                    <a:srgbClr val="0F172A"/>
                  </a:solidFill>
                  <a:latin typeface="Fira Code Medium"/>
                  <a:ea typeface="Fira Code Medium"/>
                  <a:cs typeface="Fira Code Medium"/>
                  <a:sym typeface="Fira Code Medium"/>
                </a:rPr>
                <a:t> Departments(DepartmentID)</a:t>
              </a:r>
              <a:endParaRPr b="0" sz="1125">
                <a:solidFill>
                  <a:srgbClr val="0F172A"/>
                </a:solidFill>
                <a:latin typeface="Fira Code Medium"/>
                <a:ea typeface="Fira Code Medium"/>
                <a:cs typeface="Fira Code Medium"/>
                <a:sym typeface="Fira Code Medium"/>
              </a:endParaRPr>
            </a:p>
          </p:txBody>
        </p:sp>
      </p:grpSp>
      <p:grpSp>
        <p:nvGrpSpPr>
          <p:cNvPr id="336" name="Google Shape;336;p25"/>
          <p:cNvGrpSpPr/>
          <p:nvPr/>
        </p:nvGrpSpPr>
        <p:grpSpPr>
          <a:xfrm>
            <a:off x="571500" y="3429000"/>
            <a:ext cx="8001000" cy="1143000"/>
            <a:chOff x="0" y="0"/>
            <a:chExt cx="8001000" cy="1143000"/>
          </a:xfrm>
        </p:grpSpPr>
        <p:sp>
          <p:nvSpPr>
            <p:cNvPr id="337" name="Google Shape;337;p25"/>
            <p:cNvSpPr/>
            <p:nvPr/>
          </p:nvSpPr>
          <p:spPr>
            <a:xfrm>
              <a:off x="0" y="0"/>
              <a:ext cx="8001000" cy="1143000"/>
            </a:xfrm>
            <a:prstGeom prst="roundRect">
              <a:avLst>
                <a:gd fmla="val 6666" name="adj"/>
              </a:avLst>
            </a:prstGeom>
            <a:solidFill>
              <a:srgbClr val="F0F9FF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38" name="Google Shape;338;p25"/>
            <p:cNvSpPr/>
            <p:nvPr/>
          </p:nvSpPr>
          <p:spPr>
            <a:xfrm>
              <a:off x="0" y="0"/>
              <a:ext cx="76200" cy="1143000"/>
            </a:xfrm>
            <a:custGeom>
              <a:rect b="b" l="l" r="r" t="t"/>
              <a:pathLst>
                <a:path extrusionOk="0" h="120000" w="120000">
                  <a:moveTo>
                    <a:pt x="0" y="8000"/>
                  </a:moveTo>
                  <a:quadBezTo>
                    <a:pt x="0" y="0"/>
                    <a:pt x="120000" y="0"/>
                  </a:quadBezTo>
                  <a:lnTo>
                    <a:pt x="120000" y="120000"/>
                  </a:lnTo>
                  <a:lnTo>
                    <a:pt x="120000" y="120000"/>
                  </a:lnTo>
                  <a:quadBezTo>
                    <a:pt x="0" y="120000"/>
                    <a:pt x="0" y="112000"/>
                  </a:quadBezTo>
                  <a:close/>
                </a:path>
              </a:pathLst>
            </a:custGeom>
            <a:solidFill>
              <a:srgbClr val="2563EB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39" name="Google Shape;339;p25"/>
            <p:cNvSpPr txBox="1"/>
            <p:nvPr/>
          </p:nvSpPr>
          <p:spPr>
            <a:xfrm>
              <a:off x="304800" y="190500"/>
              <a:ext cx="7391400" cy="762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lang="en" sz="1350">
                  <a:solidFill>
                    <a:srgbClr val="2563EB"/>
                  </a:solidFill>
                  <a:latin typeface="Inter Medium"/>
                  <a:ea typeface="Inter Medium"/>
                  <a:cs typeface="Inter Medium"/>
                  <a:sym typeface="Inter Medium"/>
                </a:rPr>
                <a:t>Referential Integrity</a:t>
              </a:r>
              <a:endParaRPr b="0" sz="1350">
                <a:solidFill>
                  <a:srgbClr val="2563EB"/>
                </a:solidFill>
                <a:latin typeface="Inter Medium"/>
                <a:ea typeface="Inter Medium"/>
                <a:cs typeface="Inter Medium"/>
                <a:sym typeface="Inter Medium"/>
              </a:endParaRPr>
            </a:p>
            <a:p>
              <a:pPr indent="0" lvl="0" marL="0" rtl="0" algn="l">
                <a:spcBef>
                  <a:spcPts val="450"/>
                </a:spcBef>
                <a:spcAft>
                  <a:spcPts val="0"/>
                </a:spcAft>
                <a:buNone/>
              </a:pPr>
              <a:r>
                <a:rPr b="0" lang="en" sz="1200">
                  <a:solidFill>
                    <a:srgbClr val="475569"/>
                  </a:solidFill>
                  <a:latin typeface="Inter"/>
                  <a:ea typeface="Inter"/>
                  <a:cs typeface="Inter"/>
                  <a:sym typeface="Inter"/>
                </a:rPr>
                <a:t>This constraint ensures referential integrity by linking the child table's column to a valid primary key in the parent table, preventing orphan records and invalid relationships.</a:t>
              </a:r>
              <a:endParaRPr b="0" sz="1200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endParaRPr>
            </a:p>
          </p:txBody>
        </p:sp>
      </p:grp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343" name="Shape 3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4" name="Google Shape;344;p26"/>
          <p:cNvSpPr/>
          <p:nvPr/>
        </p:nvSpPr>
        <p:spPr>
          <a:xfrm>
            <a:off x="590550" y="381000"/>
            <a:ext cx="190500" cy="190500"/>
          </a:xfrm>
          <a:custGeom>
            <a:rect b="b" l="l" r="r" t="t"/>
            <a:pathLst>
              <a:path extrusionOk="0" h="120000" w="120000">
                <a:moveTo>
                  <a:pt x="60000" y="0"/>
                </a:moveTo>
                <a:cubicBezTo>
                  <a:pt x="26880" y="0"/>
                  <a:pt x="0" y="26880"/>
                  <a:pt x="0" y="60000"/>
                </a:cubicBezTo>
                <a:lnTo>
                  <a:pt x="26880" y="120000"/>
                </a:lnTo>
                <a:lnTo>
                  <a:pt x="60000" y="120000"/>
                </a:lnTo>
                <a:lnTo>
                  <a:pt x="120000" y="93120"/>
                </a:lnTo>
                <a:lnTo>
                  <a:pt x="120000" y="60000"/>
                </a:lnTo>
                <a:lnTo>
                  <a:pt x="93120" y="0"/>
                </a:lnTo>
                <a:lnTo>
                  <a:pt x="60000" y="0"/>
                </a:lnTo>
                <a:close/>
                <a:moveTo>
                  <a:pt x="60000" y="108000"/>
                </a:moveTo>
                <a:cubicBezTo>
                  <a:pt x="33540" y="108000"/>
                  <a:pt x="12000" y="86460"/>
                  <a:pt x="12000" y="60000"/>
                </a:cubicBezTo>
                <a:lnTo>
                  <a:pt x="33540" y="12000"/>
                </a:lnTo>
                <a:lnTo>
                  <a:pt x="60000" y="12000"/>
                </a:lnTo>
                <a:lnTo>
                  <a:pt x="108000" y="33540"/>
                </a:lnTo>
                <a:lnTo>
                  <a:pt x="108000" y="60000"/>
                </a:lnTo>
                <a:lnTo>
                  <a:pt x="86460" y="108000"/>
                </a:lnTo>
                <a:lnTo>
                  <a:pt x="60000" y="108000"/>
                </a:lnTo>
                <a:close/>
                <a:moveTo>
                  <a:pt x="54000" y="30000"/>
                </a:moveTo>
                <a:lnTo>
                  <a:pt x="66000" y="30000"/>
                </a:lnTo>
                <a:lnTo>
                  <a:pt x="66000" y="66000"/>
                </a:lnTo>
                <a:lnTo>
                  <a:pt x="54000" y="66000"/>
                </a:lnTo>
                <a:close/>
                <a:moveTo>
                  <a:pt x="54000" y="78000"/>
                </a:moveTo>
                <a:lnTo>
                  <a:pt x="66000" y="78000"/>
                </a:lnTo>
                <a:lnTo>
                  <a:pt x="66000" y="90000"/>
                </a:lnTo>
                <a:lnTo>
                  <a:pt x="54000" y="90000"/>
                </a:lnTo>
                <a:close/>
              </a:path>
            </a:pathLst>
          </a:custGeom>
          <a:solidFill>
            <a:srgbClr val="2563EB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45" name="Google Shape;345;p26"/>
          <p:cNvSpPr txBox="1"/>
          <p:nvPr/>
        </p:nvSpPr>
        <p:spPr>
          <a:xfrm>
            <a:off x="876300" y="381000"/>
            <a:ext cx="71247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" sz="900">
                <a:solidFill>
                  <a:srgbClr val="475569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MAC 250: DATABASE ARCHITECTURE &amp; ENGINEERING</a:t>
            </a:r>
            <a:endParaRPr b="0" sz="900">
              <a:solidFill>
                <a:srgbClr val="475569"/>
              </a:solidFill>
              <a:latin typeface="Inter SemiBold"/>
              <a:ea typeface="Inter SemiBold"/>
              <a:cs typeface="Inter SemiBold"/>
              <a:sym typeface="Inter SemiBold"/>
            </a:endParaRPr>
          </a:p>
        </p:txBody>
      </p:sp>
      <p:grpSp>
        <p:nvGrpSpPr>
          <p:cNvPr id="346" name="Google Shape;346;p26"/>
          <p:cNvGrpSpPr/>
          <p:nvPr/>
        </p:nvGrpSpPr>
        <p:grpSpPr>
          <a:xfrm>
            <a:off x="571500" y="685800"/>
            <a:ext cx="8001000" cy="19200"/>
            <a:chOff x="0" y="0"/>
            <a:chExt cx="8001000" cy="19200"/>
          </a:xfrm>
        </p:grpSpPr>
        <p:sp>
          <p:nvSpPr>
            <p:cNvPr id="347" name="Google Shape;347;p26"/>
            <p:cNvSpPr/>
            <p:nvPr/>
          </p:nvSpPr>
          <p:spPr>
            <a:xfrm>
              <a:off x="0" y="0"/>
              <a:ext cx="8001000" cy="9600"/>
            </a:xfrm>
            <a:prstGeom prst="rect">
              <a:avLst/>
            </a:prstGeom>
            <a:solidFill>
              <a:srgbClr val="E2E8F0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48" name="Google Shape;348;p26"/>
            <p:cNvSpPr/>
            <p:nvPr/>
          </p:nvSpPr>
          <p:spPr>
            <a:xfrm>
              <a:off x="0" y="0"/>
              <a:ext cx="1143000" cy="19200"/>
            </a:xfrm>
            <a:prstGeom prst="rect">
              <a:avLst/>
            </a:prstGeom>
            <a:solidFill>
              <a:srgbClr val="2563EB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349" name="Google Shape;349;p26"/>
          <p:cNvSpPr txBox="1"/>
          <p:nvPr/>
        </p:nvSpPr>
        <p:spPr>
          <a:xfrm>
            <a:off x="571500" y="895350"/>
            <a:ext cx="8001000" cy="647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100">
                <a:solidFill>
                  <a:srgbClr val="0F172A"/>
                </a:solidFill>
                <a:latin typeface="Inter"/>
                <a:ea typeface="Inter"/>
                <a:cs typeface="Inter"/>
                <a:sym typeface="Inter"/>
              </a:rPr>
              <a:t>Execution Order &amp; Sequential Dependency</a:t>
            </a:r>
            <a:endParaRPr b="1" sz="2100">
              <a:solidFill>
                <a:srgbClr val="0F172A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0" lvl="0" marL="0" rtl="0" algn="l">
              <a:spcBef>
                <a:spcPts val="300"/>
              </a:spcBef>
              <a:spcAft>
                <a:spcPts val="0"/>
              </a:spcAft>
              <a:buNone/>
            </a:pPr>
            <a:r>
              <a:rPr b="0" lang="en" sz="1350">
                <a:solidFill>
                  <a:srgbClr val="2563EB"/>
                </a:solidFill>
                <a:latin typeface="Inter Medium"/>
                <a:ea typeface="Inter Medium"/>
                <a:cs typeface="Inter Medium"/>
                <a:sym typeface="Inter Medium"/>
              </a:rPr>
              <a:t>Parent tables must be created before Child tables in relational databases</a:t>
            </a:r>
            <a:endParaRPr b="0" sz="1350">
              <a:solidFill>
                <a:srgbClr val="2563EB"/>
              </a:solidFill>
              <a:latin typeface="Inter Medium"/>
              <a:ea typeface="Inter Medium"/>
              <a:cs typeface="Inter Medium"/>
              <a:sym typeface="Inter Medium"/>
            </a:endParaRPr>
          </a:p>
        </p:txBody>
      </p:sp>
      <p:grpSp>
        <p:nvGrpSpPr>
          <p:cNvPr id="350" name="Google Shape;350;p26"/>
          <p:cNvGrpSpPr/>
          <p:nvPr/>
        </p:nvGrpSpPr>
        <p:grpSpPr>
          <a:xfrm>
            <a:off x="571500" y="1638300"/>
            <a:ext cx="8001000" cy="1295400"/>
            <a:chOff x="0" y="0"/>
            <a:chExt cx="8001000" cy="1295400"/>
          </a:xfrm>
        </p:grpSpPr>
        <p:sp>
          <p:nvSpPr>
            <p:cNvPr id="351" name="Google Shape;351;p26"/>
            <p:cNvSpPr/>
            <p:nvPr/>
          </p:nvSpPr>
          <p:spPr>
            <a:xfrm>
              <a:off x="0" y="0"/>
              <a:ext cx="8001000" cy="1295400"/>
            </a:xfrm>
            <a:prstGeom prst="roundRect">
              <a:avLst>
                <a:gd fmla="val 5882" name="adj"/>
              </a:avLst>
            </a:prstGeom>
            <a:solidFill>
              <a:srgbClr val="F0F9FF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52" name="Google Shape;352;p26"/>
            <p:cNvSpPr/>
            <p:nvPr/>
          </p:nvSpPr>
          <p:spPr>
            <a:xfrm>
              <a:off x="0" y="0"/>
              <a:ext cx="76200" cy="1295400"/>
            </a:xfrm>
            <a:custGeom>
              <a:rect b="b" l="l" r="r" t="t"/>
              <a:pathLst>
                <a:path extrusionOk="0" h="120000" w="120000">
                  <a:moveTo>
                    <a:pt x="0" y="7059"/>
                  </a:moveTo>
                  <a:quadBezTo>
                    <a:pt x="0" y="0"/>
                    <a:pt x="120000" y="0"/>
                  </a:quadBezTo>
                  <a:lnTo>
                    <a:pt x="120000" y="120000"/>
                  </a:lnTo>
                  <a:lnTo>
                    <a:pt x="120000" y="120000"/>
                  </a:lnTo>
                  <a:quadBezTo>
                    <a:pt x="0" y="120000"/>
                    <a:pt x="0" y="112941"/>
                  </a:quadBezTo>
                  <a:close/>
                </a:path>
              </a:pathLst>
            </a:custGeom>
            <a:solidFill>
              <a:srgbClr val="2563EB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53" name="Google Shape;353;p26"/>
            <p:cNvSpPr txBox="1"/>
            <p:nvPr/>
          </p:nvSpPr>
          <p:spPr>
            <a:xfrm>
              <a:off x="266700" y="171450"/>
              <a:ext cx="7467600" cy="9525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lang="en" sz="1350">
                  <a:solidFill>
                    <a:srgbClr val="2563EB"/>
                  </a:solidFill>
                  <a:latin typeface="Inter SemiBold"/>
                  <a:ea typeface="Inter SemiBold"/>
                  <a:cs typeface="Inter SemiBold"/>
                  <a:sym typeface="Inter SemiBold"/>
                </a:rPr>
                <a:t>The Fundamental Rule of Sequential Dependency</a:t>
              </a:r>
              <a:endParaRPr b="0" sz="1350">
                <a:solidFill>
                  <a:srgbClr val="2563EB"/>
                </a:solidFill>
                <a:latin typeface="Inter SemiBold"/>
                <a:ea typeface="Inter SemiBold"/>
                <a:cs typeface="Inter SemiBold"/>
                <a:sym typeface="Inter SemiBold"/>
              </a:endParaRPr>
            </a:p>
            <a:p>
              <a:pPr indent="0" lvl="0" marL="0" rtl="0" algn="l">
                <a:spcBef>
                  <a:spcPts val="600"/>
                </a:spcBef>
                <a:spcAft>
                  <a:spcPts val="0"/>
                </a:spcAft>
                <a:buNone/>
              </a:pPr>
              <a:r>
                <a:rPr b="0" lang="en" sz="1125">
                  <a:solidFill>
                    <a:srgbClr val="475569"/>
                  </a:solidFill>
                  <a:latin typeface="Inter"/>
                  <a:ea typeface="Inter"/>
                  <a:cs typeface="Inter"/>
                  <a:sym typeface="Inter"/>
                </a:rPr>
                <a:t>Execution Order dictates that Parent tables must be created before Child tables. A foreign key cannot reference a structure that does not yet exist. The fundamental rule of relational database construction is sequential dependency.</a:t>
              </a:r>
              <a:endParaRPr b="0" sz="1125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endParaRPr>
            </a:p>
          </p:txBody>
        </p:sp>
      </p:grpSp>
      <p:grpSp>
        <p:nvGrpSpPr>
          <p:cNvPr id="354" name="Google Shape;354;p26"/>
          <p:cNvGrpSpPr/>
          <p:nvPr/>
        </p:nvGrpSpPr>
        <p:grpSpPr>
          <a:xfrm>
            <a:off x="571500" y="3124200"/>
            <a:ext cx="3714900" cy="1524000"/>
            <a:chOff x="0" y="0"/>
            <a:chExt cx="3714900" cy="1524000"/>
          </a:xfrm>
        </p:grpSpPr>
        <p:sp>
          <p:nvSpPr>
            <p:cNvPr id="355" name="Google Shape;355;p26"/>
            <p:cNvSpPr/>
            <p:nvPr/>
          </p:nvSpPr>
          <p:spPr>
            <a:xfrm>
              <a:off x="0" y="0"/>
              <a:ext cx="3714900" cy="1524000"/>
            </a:xfrm>
            <a:prstGeom prst="roundRect">
              <a:avLst>
                <a:gd fmla="val 3750" name="adj"/>
              </a:avLst>
            </a:prstGeom>
            <a:solidFill>
              <a:srgbClr val="F8FAFC"/>
            </a:solidFill>
            <a:ln cap="flat" cmpd="sng" w="9525">
              <a:solidFill>
                <a:srgbClr val="E2E8F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56" name="Google Shape;356;p26"/>
            <p:cNvSpPr/>
            <p:nvPr/>
          </p:nvSpPr>
          <p:spPr>
            <a:xfrm>
              <a:off x="0" y="0"/>
              <a:ext cx="3714900" cy="38100"/>
            </a:xfrm>
            <a:prstGeom prst="roundRect">
              <a:avLst>
                <a:gd fmla="val 50000" name="adj"/>
              </a:avLst>
            </a:prstGeom>
            <a:solidFill>
              <a:srgbClr val="2563EB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57" name="Google Shape;357;p26"/>
            <p:cNvSpPr/>
            <p:nvPr/>
          </p:nvSpPr>
          <p:spPr>
            <a:xfrm>
              <a:off x="190500" y="190500"/>
              <a:ext cx="571500" cy="209700"/>
            </a:xfrm>
            <a:prstGeom prst="roundRect">
              <a:avLst>
                <a:gd fmla="val 18181" name="adj"/>
              </a:avLst>
            </a:prstGeom>
            <a:solidFill>
              <a:srgbClr val="2563EB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58" name="Google Shape;358;p26"/>
            <p:cNvSpPr txBox="1"/>
            <p:nvPr/>
          </p:nvSpPr>
          <p:spPr>
            <a:xfrm>
              <a:off x="190500" y="190500"/>
              <a:ext cx="571500" cy="2097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" sz="900">
                  <a:solidFill>
                    <a:srgbClr val="FFFFFF"/>
                  </a:solidFill>
                  <a:latin typeface="Inter"/>
                  <a:ea typeface="Inter"/>
                  <a:cs typeface="Inter"/>
                  <a:sym typeface="Inter"/>
                </a:rPr>
                <a:t>STEP 1</a:t>
              </a:r>
              <a:endParaRPr/>
            </a:p>
          </p:txBody>
        </p:sp>
        <p:sp>
          <p:nvSpPr>
            <p:cNvPr id="359" name="Google Shape;359;p26"/>
            <p:cNvSpPr txBox="1"/>
            <p:nvPr/>
          </p:nvSpPr>
          <p:spPr>
            <a:xfrm>
              <a:off x="190500" y="495300"/>
              <a:ext cx="3333900" cy="8763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lang="en" sz="1200">
                  <a:solidFill>
                    <a:srgbClr val="0F172A"/>
                  </a:solidFill>
                  <a:latin typeface="Inter Medium"/>
                  <a:ea typeface="Inter Medium"/>
                  <a:cs typeface="Inter Medium"/>
                  <a:sym typeface="Inter Medium"/>
                </a:rPr>
                <a:t>Customers Table (Parent)</a:t>
              </a:r>
              <a:endParaRPr b="0" sz="1200">
                <a:solidFill>
                  <a:srgbClr val="0F172A"/>
                </a:solidFill>
                <a:latin typeface="Inter Medium"/>
                <a:ea typeface="Inter Medium"/>
                <a:cs typeface="Inter Medium"/>
                <a:sym typeface="Inter Medium"/>
              </a:endParaRPr>
            </a:p>
            <a:p>
              <a:pPr indent="0" lvl="0" marL="0" rtl="0" algn="l">
                <a:spcBef>
                  <a:spcPts val="450"/>
                </a:spcBef>
                <a:spcAft>
                  <a:spcPts val="0"/>
                </a:spcAft>
                <a:buNone/>
              </a:pPr>
              <a:r>
                <a:rPr b="0" lang="en" sz="1050">
                  <a:solidFill>
                    <a:srgbClr val="475569"/>
                  </a:solidFill>
                  <a:latin typeface="Inter"/>
                  <a:ea typeface="Inter"/>
                  <a:cs typeface="Inter"/>
                  <a:sym typeface="Inter"/>
                </a:rPr>
                <a:t>Must be successfully executed first. Holds primary keys referenced by downstream entity relationships.</a:t>
              </a:r>
              <a:endParaRPr b="0" sz="1050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endParaRPr>
            </a:p>
          </p:txBody>
        </p:sp>
      </p:grpSp>
      <p:grpSp>
        <p:nvGrpSpPr>
          <p:cNvPr id="360" name="Google Shape;360;p26"/>
          <p:cNvGrpSpPr/>
          <p:nvPr/>
        </p:nvGrpSpPr>
        <p:grpSpPr>
          <a:xfrm>
            <a:off x="4419600" y="3733800"/>
            <a:ext cx="304800" cy="304800"/>
            <a:chOff x="38100" y="-57150"/>
            <a:chExt cx="304800" cy="304800"/>
          </a:xfrm>
        </p:grpSpPr>
        <p:sp>
          <p:nvSpPr>
            <p:cNvPr id="361" name="Google Shape;361;p26"/>
            <p:cNvSpPr/>
            <p:nvPr/>
          </p:nvSpPr>
          <p:spPr>
            <a:xfrm>
              <a:off x="38100" y="-57150"/>
              <a:ext cx="304800" cy="304800"/>
            </a:xfrm>
            <a:prstGeom prst="ellipse">
              <a:avLst/>
            </a:prstGeom>
            <a:solidFill>
              <a:srgbClr val="F0F9FF"/>
            </a:solidFill>
            <a:ln cap="flat" cmpd="sng" w="14300">
              <a:solidFill>
                <a:srgbClr val="2563EB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62" name="Google Shape;362;p26"/>
            <p:cNvSpPr/>
            <p:nvPr/>
          </p:nvSpPr>
          <p:spPr>
            <a:xfrm>
              <a:off x="133350" y="57150"/>
              <a:ext cx="95400" cy="76200"/>
            </a:xfrm>
            <a:custGeom>
              <a:rect b="b" l="l" r="r" t="t"/>
              <a:pathLst>
                <a:path extrusionOk="0" h="120000" w="120000">
                  <a:moveTo>
                    <a:pt x="0" y="60000"/>
                  </a:moveTo>
                  <a:lnTo>
                    <a:pt x="120000" y="60000"/>
                  </a:lnTo>
                  <a:moveTo>
                    <a:pt x="72000" y="0"/>
                  </a:moveTo>
                  <a:lnTo>
                    <a:pt x="120000" y="60000"/>
                  </a:lnTo>
                  <a:lnTo>
                    <a:pt x="72000" y="120000"/>
                  </a:lnTo>
                </a:path>
              </a:pathLst>
            </a:custGeom>
            <a:solidFill>
              <a:srgbClr val="000000">
                <a:alpha val="0"/>
              </a:srgbClr>
            </a:solidFill>
            <a:ln cap="rnd" cmpd="sng" w="19050">
              <a:solidFill>
                <a:srgbClr val="2563EB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363" name="Google Shape;363;p26"/>
          <p:cNvGrpSpPr/>
          <p:nvPr/>
        </p:nvGrpSpPr>
        <p:grpSpPr>
          <a:xfrm>
            <a:off x="4857750" y="3124200"/>
            <a:ext cx="3714900" cy="1524000"/>
            <a:chOff x="0" y="0"/>
            <a:chExt cx="3714900" cy="1524000"/>
          </a:xfrm>
        </p:grpSpPr>
        <p:sp>
          <p:nvSpPr>
            <p:cNvPr id="364" name="Google Shape;364;p26"/>
            <p:cNvSpPr/>
            <p:nvPr/>
          </p:nvSpPr>
          <p:spPr>
            <a:xfrm>
              <a:off x="0" y="0"/>
              <a:ext cx="3714900" cy="1524000"/>
            </a:xfrm>
            <a:prstGeom prst="roundRect">
              <a:avLst>
                <a:gd fmla="val 3750" name="adj"/>
              </a:avLst>
            </a:prstGeom>
            <a:solidFill>
              <a:srgbClr val="F8FAFC"/>
            </a:solidFill>
            <a:ln cap="flat" cmpd="sng" w="9525">
              <a:solidFill>
                <a:srgbClr val="E2E8F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65" name="Google Shape;365;p26"/>
            <p:cNvSpPr/>
            <p:nvPr/>
          </p:nvSpPr>
          <p:spPr>
            <a:xfrm>
              <a:off x="0" y="0"/>
              <a:ext cx="3714900" cy="38100"/>
            </a:xfrm>
            <a:prstGeom prst="roundRect">
              <a:avLst>
                <a:gd fmla="val 50000" name="adj"/>
              </a:avLst>
            </a:prstGeom>
            <a:solidFill>
              <a:srgbClr val="475569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66" name="Google Shape;366;p26"/>
            <p:cNvSpPr/>
            <p:nvPr/>
          </p:nvSpPr>
          <p:spPr>
            <a:xfrm>
              <a:off x="190500" y="190500"/>
              <a:ext cx="571500" cy="209700"/>
            </a:xfrm>
            <a:prstGeom prst="roundRect">
              <a:avLst>
                <a:gd fmla="val 18181" name="adj"/>
              </a:avLst>
            </a:prstGeom>
            <a:solidFill>
              <a:srgbClr val="475569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67" name="Google Shape;367;p26"/>
            <p:cNvSpPr txBox="1"/>
            <p:nvPr/>
          </p:nvSpPr>
          <p:spPr>
            <a:xfrm>
              <a:off x="190500" y="190500"/>
              <a:ext cx="571500" cy="2097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" sz="900">
                  <a:solidFill>
                    <a:srgbClr val="FFFFFF"/>
                  </a:solidFill>
                  <a:latin typeface="Inter"/>
                  <a:ea typeface="Inter"/>
                  <a:cs typeface="Inter"/>
                  <a:sym typeface="Inter"/>
                </a:rPr>
                <a:t>STEP 2</a:t>
              </a:r>
              <a:endParaRPr/>
            </a:p>
          </p:txBody>
        </p:sp>
        <p:sp>
          <p:nvSpPr>
            <p:cNvPr id="368" name="Google Shape;368;p26"/>
            <p:cNvSpPr txBox="1"/>
            <p:nvPr/>
          </p:nvSpPr>
          <p:spPr>
            <a:xfrm>
              <a:off x="190500" y="495300"/>
              <a:ext cx="3333900" cy="8763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lang="en" sz="1200">
                  <a:solidFill>
                    <a:srgbClr val="0F172A"/>
                  </a:solidFill>
                  <a:latin typeface="Inter Medium"/>
                  <a:ea typeface="Inter Medium"/>
                  <a:cs typeface="Inter Medium"/>
                  <a:sym typeface="Inter Medium"/>
                </a:rPr>
                <a:t>Orders Table (Child)</a:t>
              </a:r>
              <a:endParaRPr b="0" sz="1200">
                <a:solidFill>
                  <a:srgbClr val="0F172A"/>
                </a:solidFill>
                <a:latin typeface="Inter Medium"/>
                <a:ea typeface="Inter Medium"/>
                <a:cs typeface="Inter Medium"/>
                <a:sym typeface="Inter Medium"/>
              </a:endParaRPr>
            </a:p>
            <a:p>
              <a:pPr indent="0" lvl="0" marL="0" rtl="0" algn="l">
                <a:spcBef>
                  <a:spcPts val="450"/>
                </a:spcBef>
                <a:spcAft>
                  <a:spcPts val="0"/>
                </a:spcAft>
                <a:buNone/>
              </a:pPr>
              <a:r>
                <a:rPr b="0" lang="en" sz="1050">
                  <a:solidFill>
                    <a:srgbClr val="475569"/>
                  </a:solidFill>
                  <a:latin typeface="Inter"/>
                  <a:ea typeface="Inter"/>
                  <a:cs typeface="Inter"/>
                  <a:sym typeface="Inter"/>
                </a:rPr>
                <a:t>Contains a foreign key referencing the </a:t>
              </a:r>
              <a:r>
                <a:rPr b="0" lang="en" sz="1050">
                  <a:solidFill>
                    <a:srgbClr val="2563EB"/>
                  </a:solidFill>
                  <a:latin typeface="Inter SemiBold"/>
                  <a:ea typeface="Inter SemiBold"/>
                  <a:cs typeface="Inter SemiBold"/>
                  <a:sym typeface="Inter SemiBold"/>
                </a:rPr>
                <a:t>Customers</a:t>
              </a:r>
              <a:r>
                <a:rPr b="0" lang="en" sz="1050">
                  <a:solidFill>
                    <a:srgbClr val="475569"/>
                  </a:solidFill>
                  <a:latin typeface="Inter"/>
                  <a:ea typeface="Inter"/>
                  <a:cs typeface="Inter"/>
                  <a:sym typeface="Inter"/>
                </a:rPr>
                <a:t> table. Cannot be created until Customers exists.</a:t>
              </a:r>
              <a:endParaRPr b="0" sz="1050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endParaRPr>
            </a:p>
          </p:txBody>
        </p:sp>
      </p:grp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72" name="Shape 3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3" name="Google Shape;373;p27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4" name="Google Shape;374;p27"/>
          <p:cNvSpPr/>
          <p:nvPr/>
        </p:nvSpPr>
        <p:spPr>
          <a:xfrm>
            <a:off x="590550" y="381000"/>
            <a:ext cx="190500" cy="190500"/>
          </a:xfrm>
          <a:custGeom>
            <a:rect b="b" l="l" r="r" t="t"/>
            <a:pathLst>
              <a:path extrusionOk="0" h="120000" w="120000">
                <a:moveTo>
                  <a:pt x="60000" y="0"/>
                </a:moveTo>
                <a:cubicBezTo>
                  <a:pt x="26880" y="0"/>
                  <a:pt x="0" y="26880"/>
                  <a:pt x="0" y="60000"/>
                </a:cubicBezTo>
                <a:lnTo>
                  <a:pt x="26880" y="120000"/>
                </a:lnTo>
                <a:lnTo>
                  <a:pt x="60000" y="120000"/>
                </a:lnTo>
                <a:lnTo>
                  <a:pt x="120000" y="93120"/>
                </a:lnTo>
                <a:lnTo>
                  <a:pt x="120000" y="60000"/>
                </a:lnTo>
                <a:lnTo>
                  <a:pt x="93120" y="0"/>
                </a:lnTo>
                <a:lnTo>
                  <a:pt x="60000" y="0"/>
                </a:lnTo>
                <a:close/>
                <a:moveTo>
                  <a:pt x="60000" y="108000"/>
                </a:moveTo>
                <a:cubicBezTo>
                  <a:pt x="33540" y="108000"/>
                  <a:pt x="12000" y="86460"/>
                  <a:pt x="12000" y="60000"/>
                </a:cubicBezTo>
                <a:lnTo>
                  <a:pt x="33540" y="12000"/>
                </a:lnTo>
                <a:lnTo>
                  <a:pt x="60000" y="12000"/>
                </a:lnTo>
                <a:lnTo>
                  <a:pt x="108000" y="33540"/>
                </a:lnTo>
                <a:lnTo>
                  <a:pt x="108000" y="60000"/>
                </a:lnTo>
                <a:lnTo>
                  <a:pt x="86460" y="108000"/>
                </a:lnTo>
                <a:lnTo>
                  <a:pt x="60000" y="108000"/>
                </a:lnTo>
                <a:close/>
                <a:moveTo>
                  <a:pt x="54000" y="30000"/>
                </a:moveTo>
                <a:lnTo>
                  <a:pt x="66000" y="30000"/>
                </a:lnTo>
                <a:lnTo>
                  <a:pt x="66000" y="66000"/>
                </a:lnTo>
                <a:lnTo>
                  <a:pt x="54000" y="66000"/>
                </a:lnTo>
                <a:close/>
                <a:moveTo>
                  <a:pt x="54000" y="78000"/>
                </a:moveTo>
                <a:lnTo>
                  <a:pt x="66000" y="78000"/>
                </a:lnTo>
                <a:lnTo>
                  <a:pt x="66000" y="90000"/>
                </a:lnTo>
                <a:lnTo>
                  <a:pt x="54000" y="90000"/>
                </a:lnTo>
                <a:close/>
              </a:path>
            </a:pathLst>
          </a:custGeom>
          <a:solidFill>
            <a:srgbClr val="2563EB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5" name="Google Shape;375;p27"/>
          <p:cNvSpPr txBox="1"/>
          <p:nvPr/>
        </p:nvSpPr>
        <p:spPr>
          <a:xfrm>
            <a:off x="914400" y="381000"/>
            <a:ext cx="70866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" sz="900">
                <a:solidFill>
                  <a:srgbClr val="475569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MAC 250: DATABASE ARCHITECTURE &amp; ENGINEERING</a:t>
            </a:r>
            <a:endParaRPr b="0" sz="900">
              <a:solidFill>
                <a:srgbClr val="475569"/>
              </a:solidFill>
              <a:latin typeface="Inter SemiBold"/>
              <a:ea typeface="Inter SemiBold"/>
              <a:cs typeface="Inter SemiBold"/>
              <a:sym typeface="Inter SemiBold"/>
            </a:endParaRPr>
          </a:p>
        </p:txBody>
      </p:sp>
      <p:grpSp>
        <p:nvGrpSpPr>
          <p:cNvPr id="376" name="Google Shape;376;p27"/>
          <p:cNvGrpSpPr/>
          <p:nvPr/>
        </p:nvGrpSpPr>
        <p:grpSpPr>
          <a:xfrm>
            <a:off x="571500" y="723900"/>
            <a:ext cx="8001000" cy="19200"/>
            <a:chOff x="0" y="0"/>
            <a:chExt cx="8001000" cy="19200"/>
          </a:xfrm>
        </p:grpSpPr>
        <p:sp>
          <p:nvSpPr>
            <p:cNvPr id="377" name="Google Shape;377;p27"/>
            <p:cNvSpPr/>
            <p:nvPr/>
          </p:nvSpPr>
          <p:spPr>
            <a:xfrm>
              <a:off x="0" y="0"/>
              <a:ext cx="8001000" cy="9600"/>
            </a:xfrm>
            <a:prstGeom prst="rect">
              <a:avLst/>
            </a:prstGeom>
            <a:solidFill>
              <a:srgbClr val="E2E8F0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78" name="Google Shape;378;p27"/>
            <p:cNvSpPr/>
            <p:nvPr/>
          </p:nvSpPr>
          <p:spPr>
            <a:xfrm>
              <a:off x="0" y="0"/>
              <a:ext cx="1143000" cy="19200"/>
            </a:xfrm>
            <a:prstGeom prst="rect">
              <a:avLst/>
            </a:prstGeom>
            <a:solidFill>
              <a:srgbClr val="2563EB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379" name="Google Shape;379;p27"/>
          <p:cNvSpPr txBox="1"/>
          <p:nvPr/>
        </p:nvSpPr>
        <p:spPr>
          <a:xfrm>
            <a:off x="571500" y="914400"/>
            <a:ext cx="8001000" cy="619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100">
                <a:solidFill>
                  <a:srgbClr val="0F172A"/>
                </a:solidFill>
                <a:latin typeface="Inter"/>
                <a:ea typeface="Inter"/>
                <a:cs typeface="Inter"/>
                <a:sym typeface="Inter"/>
              </a:rPr>
              <a:t>DROP TABLE Command</a:t>
            </a:r>
            <a:endParaRPr b="1" sz="2100">
              <a:solidFill>
                <a:srgbClr val="0F172A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0" lvl="0" marL="0" rtl="0" algn="l">
              <a:spcBef>
                <a:spcPts val="300"/>
              </a:spcBef>
              <a:spcAft>
                <a:spcPts val="0"/>
              </a:spcAft>
              <a:buNone/>
            </a:pPr>
            <a:r>
              <a:rPr b="0" lang="en" sz="1350">
                <a:solidFill>
                  <a:srgbClr val="2563EB"/>
                </a:solidFill>
                <a:latin typeface="Inter Medium"/>
                <a:ea typeface="Inter Medium"/>
                <a:cs typeface="Inter Medium"/>
                <a:sym typeface="Inter Medium"/>
              </a:rPr>
              <a:t>Destroying Data and Schema Structures</a:t>
            </a:r>
            <a:endParaRPr b="0" sz="1350">
              <a:solidFill>
                <a:srgbClr val="2563EB"/>
              </a:solidFill>
              <a:latin typeface="Inter Medium"/>
              <a:ea typeface="Inter Medium"/>
              <a:cs typeface="Inter Medium"/>
              <a:sym typeface="Inter Medium"/>
            </a:endParaRPr>
          </a:p>
        </p:txBody>
      </p:sp>
      <p:grpSp>
        <p:nvGrpSpPr>
          <p:cNvPr id="380" name="Google Shape;380;p27"/>
          <p:cNvGrpSpPr/>
          <p:nvPr/>
        </p:nvGrpSpPr>
        <p:grpSpPr>
          <a:xfrm>
            <a:off x="571500" y="1619250"/>
            <a:ext cx="8001000" cy="762000"/>
            <a:chOff x="0" y="0"/>
            <a:chExt cx="8001000" cy="762000"/>
          </a:xfrm>
        </p:grpSpPr>
        <p:sp>
          <p:nvSpPr>
            <p:cNvPr id="381" name="Google Shape;381;p27"/>
            <p:cNvSpPr/>
            <p:nvPr/>
          </p:nvSpPr>
          <p:spPr>
            <a:xfrm>
              <a:off x="0" y="0"/>
              <a:ext cx="8001000" cy="762000"/>
            </a:xfrm>
            <a:prstGeom prst="roundRect">
              <a:avLst>
                <a:gd fmla="val 7500" name="adj"/>
              </a:avLst>
            </a:prstGeom>
            <a:solidFill>
              <a:srgbClr val="F8FAFC"/>
            </a:solidFill>
            <a:ln cap="flat" cmpd="sng" w="9525">
              <a:solidFill>
                <a:srgbClr val="E2E8F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82" name="Google Shape;382;p27"/>
            <p:cNvSpPr/>
            <p:nvPr/>
          </p:nvSpPr>
          <p:spPr>
            <a:xfrm>
              <a:off x="0" y="0"/>
              <a:ext cx="57300" cy="762000"/>
            </a:xfrm>
            <a:prstGeom prst="roundRect">
              <a:avLst>
                <a:gd fmla="val 50000" name="adj"/>
              </a:avLst>
            </a:prstGeom>
            <a:solidFill>
              <a:srgbClr val="2563EB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83" name="Google Shape;383;p27"/>
            <p:cNvSpPr txBox="1"/>
            <p:nvPr/>
          </p:nvSpPr>
          <p:spPr>
            <a:xfrm>
              <a:off x="228600" y="152400"/>
              <a:ext cx="7543800" cy="45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lang="en" sz="900">
                  <a:solidFill>
                    <a:srgbClr val="475569"/>
                  </a:solidFill>
                  <a:latin typeface="Inter SemiBold"/>
                  <a:ea typeface="Inter SemiBold"/>
                  <a:cs typeface="Inter SemiBold"/>
                  <a:sym typeface="Inter SemiBold"/>
                </a:rPr>
                <a:t>SQL Syntax</a:t>
              </a:r>
              <a:endParaRPr b="0" sz="900">
                <a:solidFill>
                  <a:srgbClr val="475569"/>
                </a:solidFill>
                <a:latin typeface="Inter SemiBold"/>
                <a:ea typeface="Inter SemiBold"/>
                <a:cs typeface="Inter SemiBold"/>
                <a:sym typeface="Inter SemiBold"/>
              </a:endParaRPr>
            </a:p>
            <a:p>
              <a:pPr indent="0" lvl="0" marL="0" rtl="0" algn="l">
                <a:spcBef>
                  <a:spcPts val="450"/>
                </a:spcBef>
                <a:spcAft>
                  <a:spcPts val="0"/>
                </a:spcAft>
                <a:buNone/>
              </a:pPr>
              <a:r>
                <a:rPr b="1" lang="en" sz="1200">
                  <a:solidFill>
                    <a:srgbClr val="2563EB"/>
                  </a:solidFill>
                  <a:latin typeface="Fira Code"/>
                  <a:ea typeface="Fira Code"/>
                  <a:cs typeface="Fira Code"/>
                  <a:sym typeface="Fira Code"/>
                </a:rPr>
                <a:t>DROP TABLE</a:t>
              </a:r>
              <a:r>
                <a:rPr b="0" lang="en" sz="1200">
                  <a:solidFill>
                    <a:srgbClr val="0F172A"/>
                  </a:solidFill>
                  <a:latin typeface="Fira Code Medium"/>
                  <a:ea typeface="Fira Code Medium"/>
                  <a:cs typeface="Fira Code Medium"/>
                  <a:sym typeface="Fira Code Medium"/>
                </a:rPr>
                <a:t> table_name;</a:t>
              </a:r>
              <a:endParaRPr b="0" sz="1200">
                <a:solidFill>
                  <a:srgbClr val="0F172A"/>
                </a:solidFill>
                <a:latin typeface="Fira Code Medium"/>
                <a:ea typeface="Fira Code Medium"/>
                <a:cs typeface="Fira Code Medium"/>
                <a:sym typeface="Fira Code Medium"/>
              </a:endParaRPr>
            </a:p>
          </p:txBody>
        </p:sp>
      </p:grpSp>
      <p:grpSp>
        <p:nvGrpSpPr>
          <p:cNvPr id="384" name="Google Shape;384;p27"/>
          <p:cNvGrpSpPr/>
          <p:nvPr/>
        </p:nvGrpSpPr>
        <p:grpSpPr>
          <a:xfrm>
            <a:off x="571500" y="2552700"/>
            <a:ext cx="8001000" cy="952500"/>
            <a:chOff x="0" y="0"/>
            <a:chExt cx="8001000" cy="952500"/>
          </a:xfrm>
        </p:grpSpPr>
        <p:sp>
          <p:nvSpPr>
            <p:cNvPr id="385" name="Google Shape;385;p27"/>
            <p:cNvSpPr/>
            <p:nvPr/>
          </p:nvSpPr>
          <p:spPr>
            <a:xfrm>
              <a:off x="0" y="0"/>
              <a:ext cx="8001000" cy="952500"/>
            </a:xfrm>
            <a:prstGeom prst="roundRect">
              <a:avLst>
                <a:gd fmla="val 6000" name="adj"/>
              </a:avLst>
            </a:prstGeom>
            <a:solidFill>
              <a:srgbClr val="FEF2F2"/>
            </a:solidFill>
            <a:ln cap="flat" cmpd="sng" w="9525">
              <a:solidFill>
                <a:srgbClr val="FCA5A5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86" name="Google Shape;386;p27"/>
            <p:cNvSpPr/>
            <p:nvPr/>
          </p:nvSpPr>
          <p:spPr>
            <a:xfrm>
              <a:off x="0" y="0"/>
              <a:ext cx="57300" cy="952500"/>
            </a:xfrm>
            <a:custGeom>
              <a:rect b="b" l="l" r="r" t="t"/>
              <a:pathLst>
                <a:path extrusionOk="0" h="120000" w="120000">
                  <a:moveTo>
                    <a:pt x="0" y="7200"/>
                  </a:moveTo>
                  <a:quadBezTo>
                    <a:pt x="0" y="0"/>
                    <a:pt x="120000" y="0"/>
                  </a:quadBezTo>
                  <a:lnTo>
                    <a:pt x="120000" y="120000"/>
                  </a:lnTo>
                  <a:lnTo>
                    <a:pt x="120000" y="120000"/>
                  </a:lnTo>
                  <a:quadBezTo>
                    <a:pt x="0" y="120000"/>
                    <a:pt x="0" y="112800"/>
                  </a:quadBezTo>
                  <a:close/>
                </a:path>
              </a:pathLst>
            </a:custGeom>
            <a:solidFill>
              <a:srgbClr val="EF4444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87" name="Google Shape;387;p27"/>
            <p:cNvSpPr txBox="1"/>
            <p:nvPr/>
          </p:nvSpPr>
          <p:spPr>
            <a:xfrm>
              <a:off x="266700" y="152400"/>
              <a:ext cx="7467600" cy="6477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" sz="1125">
                  <a:solidFill>
                    <a:srgbClr val="991B1B"/>
                  </a:solidFill>
                  <a:latin typeface="Inter"/>
                  <a:ea typeface="Inter"/>
                  <a:cs typeface="Inter"/>
                  <a:sym typeface="Inter"/>
                </a:rPr>
                <a:t>Critical Warning: Permanent Structural Deletion</a:t>
              </a:r>
              <a:endParaRPr b="1" sz="1125">
                <a:solidFill>
                  <a:srgbClr val="991B1B"/>
                </a:solidFill>
                <a:latin typeface="Inter"/>
                <a:ea typeface="Inter"/>
                <a:cs typeface="Inter"/>
                <a:sym typeface="Inter"/>
              </a:endParaRPr>
            </a:p>
            <a:p>
              <a:pPr indent="0" lvl="0" marL="0" rtl="0" algn="l">
                <a:spcBef>
                  <a:spcPts val="450"/>
                </a:spcBef>
                <a:spcAft>
                  <a:spcPts val="0"/>
                </a:spcAft>
                <a:buNone/>
              </a:pPr>
              <a:r>
                <a:rPr b="0" lang="en" sz="1050">
                  <a:solidFill>
                    <a:srgbClr val="7F1D1D"/>
                  </a:solidFill>
                  <a:latin typeface="Inter"/>
                  <a:ea typeface="Inter"/>
                  <a:cs typeface="Inter"/>
                  <a:sym typeface="Inter"/>
                </a:rPr>
                <a:t>Executing this command completely deletes the table structure and permanently erases all data housed within it. This action cannot be easily undone.</a:t>
              </a:r>
              <a:endParaRPr b="0" sz="1050">
                <a:solidFill>
                  <a:srgbClr val="7F1D1D"/>
                </a:solidFill>
                <a:latin typeface="Inter"/>
                <a:ea typeface="Inter"/>
                <a:cs typeface="Inter"/>
                <a:sym typeface="Inter"/>
              </a:endParaRPr>
            </a:p>
          </p:txBody>
        </p:sp>
      </p:grpSp>
      <p:grpSp>
        <p:nvGrpSpPr>
          <p:cNvPr id="388" name="Google Shape;388;p27"/>
          <p:cNvGrpSpPr/>
          <p:nvPr/>
        </p:nvGrpSpPr>
        <p:grpSpPr>
          <a:xfrm>
            <a:off x="571500" y="3676650"/>
            <a:ext cx="8001000" cy="990600"/>
            <a:chOff x="0" y="0"/>
            <a:chExt cx="8001000" cy="990600"/>
          </a:xfrm>
        </p:grpSpPr>
        <p:sp>
          <p:nvSpPr>
            <p:cNvPr id="389" name="Google Shape;389;p27"/>
            <p:cNvSpPr/>
            <p:nvPr/>
          </p:nvSpPr>
          <p:spPr>
            <a:xfrm>
              <a:off x="0" y="0"/>
              <a:ext cx="8001000" cy="990600"/>
            </a:xfrm>
            <a:prstGeom prst="roundRect">
              <a:avLst>
                <a:gd fmla="val 7692" name="adj"/>
              </a:avLst>
            </a:prstGeom>
            <a:solidFill>
              <a:srgbClr val="F0F9FF"/>
            </a:solidFill>
            <a:ln cap="flat" cmpd="sng" w="9525">
              <a:solidFill>
                <a:srgbClr val="BAE6FD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90" name="Google Shape;390;p27"/>
            <p:cNvSpPr/>
            <p:nvPr/>
          </p:nvSpPr>
          <p:spPr>
            <a:xfrm>
              <a:off x="0" y="0"/>
              <a:ext cx="76200" cy="990600"/>
            </a:xfrm>
            <a:custGeom>
              <a:rect b="b" l="l" r="r" t="t"/>
              <a:pathLst>
                <a:path extrusionOk="0" h="120000" w="120000">
                  <a:moveTo>
                    <a:pt x="0" y="9231"/>
                  </a:moveTo>
                  <a:quadBezTo>
                    <a:pt x="0" y="0"/>
                    <a:pt x="120000" y="0"/>
                  </a:quadBezTo>
                  <a:lnTo>
                    <a:pt x="120000" y="120000"/>
                  </a:lnTo>
                  <a:lnTo>
                    <a:pt x="120000" y="120000"/>
                  </a:lnTo>
                  <a:quadBezTo>
                    <a:pt x="0" y="120000"/>
                    <a:pt x="0" y="110769"/>
                  </a:quadBezTo>
                  <a:close/>
                </a:path>
              </a:pathLst>
            </a:custGeom>
            <a:solidFill>
              <a:srgbClr val="2563EB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91" name="Google Shape;391;p27"/>
            <p:cNvSpPr txBox="1"/>
            <p:nvPr/>
          </p:nvSpPr>
          <p:spPr>
            <a:xfrm>
              <a:off x="266700" y="171450"/>
              <a:ext cx="7467600" cy="6477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" sz="1200">
                  <a:solidFill>
                    <a:srgbClr val="2563EB"/>
                  </a:solidFill>
                  <a:latin typeface="Inter"/>
                  <a:ea typeface="Inter"/>
                  <a:cs typeface="Inter"/>
                  <a:sym typeface="Inter"/>
                </a:rPr>
                <a:t>Execution Order &amp; Referential Integrity</a:t>
              </a:r>
              <a:endParaRPr b="1" sz="1200">
                <a:solidFill>
                  <a:srgbClr val="2563EB"/>
                </a:solidFill>
                <a:latin typeface="Inter"/>
                <a:ea typeface="Inter"/>
                <a:cs typeface="Inter"/>
                <a:sym typeface="Inter"/>
              </a:endParaRPr>
            </a:p>
            <a:p>
              <a:pPr indent="0" lvl="0" marL="0" rtl="0" algn="l">
                <a:spcBef>
                  <a:spcPts val="450"/>
                </a:spcBef>
                <a:spcAft>
                  <a:spcPts val="0"/>
                </a:spcAft>
                <a:buNone/>
              </a:pPr>
              <a:r>
                <a:rPr b="0" lang="en" sz="1125">
                  <a:solidFill>
                    <a:srgbClr val="1E293B"/>
                  </a:solidFill>
                  <a:latin typeface="Inter"/>
                  <a:ea typeface="Inter"/>
                  <a:cs typeface="Inter"/>
                  <a:sym typeface="Inter"/>
                </a:rPr>
                <a:t>To prevent foreign key dependency errors, you </a:t>
              </a:r>
              <a:r>
                <a:rPr b="1" lang="en" sz="1125">
                  <a:solidFill>
                    <a:srgbClr val="1E293B"/>
                  </a:solidFill>
                  <a:latin typeface="Inter"/>
                  <a:ea typeface="Inter"/>
                  <a:cs typeface="Inter"/>
                  <a:sym typeface="Inter"/>
                </a:rPr>
                <a:t>must drop Child tables before Parent tables</a:t>
              </a:r>
              <a:r>
                <a:rPr b="0" lang="en" sz="1125">
                  <a:solidFill>
                    <a:srgbClr val="1E293B"/>
                  </a:solidFill>
                  <a:latin typeface="Inter"/>
                  <a:ea typeface="Inter"/>
                  <a:cs typeface="Inter"/>
                  <a:sym typeface="Inter"/>
                </a:rPr>
                <a:t>. Attempting to drop a Parent table first violates referential integrity constraints.</a:t>
              </a:r>
              <a:endParaRPr b="0" sz="1125">
                <a:solidFill>
                  <a:srgbClr val="1E293B"/>
                </a:solidFill>
                <a:latin typeface="Inter"/>
                <a:ea typeface="Inter"/>
                <a:cs typeface="Inter"/>
                <a:sym typeface="Inter"/>
              </a:endParaRPr>
            </a:p>
          </p:txBody>
        </p:sp>
      </p:grp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8FAFC"/>
        </a:solidFill>
      </p:bgPr>
    </p:bg>
    <p:spTree>
      <p:nvGrpSpPr>
        <p:cNvPr id="395" name="Shape 3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6" name="Google Shape;396;p28"/>
          <p:cNvSpPr/>
          <p:nvPr/>
        </p:nvSpPr>
        <p:spPr>
          <a:xfrm>
            <a:off x="590550" y="400050"/>
            <a:ext cx="190500" cy="190500"/>
          </a:xfrm>
          <a:custGeom>
            <a:rect b="b" l="l" r="r" t="t"/>
            <a:pathLst>
              <a:path extrusionOk="0" h="120000" w="120000">
                <a:moveTo>
                  <a:pt x="60000" y="0"/>
                </a:moveTo>
                <a:cubicBezTo>
                  <a:pt x="26880" y="0"/>
                  <a:pt x="0" y="26880"/>
                  <a:pt x="0" y="60000"/>
                </a:cubicBezTo>
                <a:lnTo>
                  <a:pt x="26880" y="120000"/>
                </a:lnTo>
                <a:lnTo>
                  <a:pt x="60000" y="120000"/>
                </a:lnTo>
                <a:lnTo>
                  <a:pt x="120000" y="93120"/>
                </a:lnTo>
                <a:lnTo>
                  <a:pt x="120000" y="60000"/>
                </a:lnTo>
                <a:lnTo>
                  <a:pt x="93120" y="0"/>
                </a:lnTo>
                <a:lnTo>
                  <a:pt x="60000" y="0"/>
                </a:lnTo>
                <a:close/>
                <a:moveTo>
                  <a:pt x="60000" y="108000"/>
                </a:moveTo>
                <a:cubicBezTo>
                  <a:pt x="33540" y="108000"/>
                  <a:pt x="12000" y="86460"/>
                  <a:pt x="12000" y="60000"/>
                </a:cubicBezTo>
                <a:lnTo>
                  <a:pt x="33540" y="12000"/>
                </a:lnTo>
                <a:lnTo>
                  <a:pt x="60000" y="12000"/>
                </a:lnTo>
                <a:lnTo>
                  <a:pt x="108000" y="33540"/>
                </a:lnTo>
                <a:lnTo>
                  <a:pt x="108000" y="60000"/>
                </a:lnTo>
                <a:lnTo>
                  <a:pt x="86460" y="108000"/>
                </a:lnTo>
                <a:lnTo>
                  <a:pt x="60000" y="108000"/>
                </a:lnTo>
                <a:close/>
                <a:moveTo>
                  <a:pt x="54000" y="30000"/>
                </a:moveTo>
                <a:lnTo>
                  <a:pt x="66000" y="30000"/>
                </a:lnTo>
                <a:lnTo>
                  <a:pt x="66000" y="66000"/>
                </a:lnTo>
                <a:lnTo>
                  <a:pt x="54000" y="66000"/>
                </a:lnTo>
                <a:close/>
                <a:moveTo>
                  <a:pt x="54000" y="78000"/>
                </a:moveTo>
                <a:lnTo>
                  <a:pt x="66000" y="78000"/>
                </a:lnTo>
                <a:lnTo>
                  <a:pt x="66000" y="90000"/>
                </a:lnTo>
                <a:lnTo>
                  <a:pt x="54000" y="90000"/>
                </a:lnTo>
                <a:close/>
              </a:path>
            </a:pathLst>
          </a:custGeom>
          <a:solidFill>
            <a:srgbClr val="2563EB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97" name="Google Shape;397;p28"/>
          <p:cNvSpPr txBox="1"/>
          <p:nvPr/>
        </p:nvSpPr>
        <p:spPr>
          <a:xfrm>
            <a:off x="914400" y="400050"/>
            <a:ext cx="70866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" sz="900">
                <a:solidFill>
                  <a:srgbClr val="475569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MODULE 2: IMPLEMENTATION</a:t>
            </a:r>
            <a:endParaRPr b="0" sz="900">
              <a:solidFill>
                <a:srgbClr val="475569"/>
              </a:solidFill>
              <a:latin typeface="Inter SemiBold"/>
              <a:ea typeface="Inter SemiBold"/>
              <a:cs typeface="Inter SemiBold"/>
              <a:sym typeface="Inter SemiBold"/>
            </a:endParaRPr>
          </a:p>
        </p:txBody>
      </p:sp>
      <p:sp>
        <p:nvSpPr>
          <p:cNvPr id="398" name="Google Shape;398;p28"/>
          <p:cNvSpPr txBox="1"/>
          <p:nvPr/>
        </p:nvSpPr>
        <p:spPr>
          <a:xfrm>
            <a:off x="571500" y="857250"/>
            <a:ext cx="8001000" cy="1047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400">
                <a:solidFill>
                  <a:srgbClr val="0F172A"/>
                </a:solidFill>
                <a:latin typeface="Inter"/>
                <a:ea typeface="Inter"/>
                <a:cs typeface="Inter"/>
                <a:sym typeface="Inter"/>
              </a:rPr>
              <a:t>Modifying Table Structure: ALTER TABLE</a:t>
            </a:r>
            <a:endParaRPr b="1" sz="2400">
              <a:solidFill>
                <a:srgbClr val="0F172A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b="0" lang="en" sz="1200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ALTER TABLE is utilized for modifying the structure of a table after its initial creation. This allows schemas to evolve without data loss.</a:t>
            </a:r>
            <a:endParaRPr b="0" sz="1200">
              <a:solidFill>
                <a:srgbClr val="475569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grpSp>
        <p:nvGrpSpPr>
          <p:cNvPr id="399" name="Google Shape;399;p28"/>
          <p:cNvGrpSpPr/>
          <p:nvPr/>
        </p:nvGrpSpPr>
        <p:grpSpPr>
          <a:xfrm>
            <a:off x="571500" y="2095500"/>
            <a:ext cx="8001000" cy="2286000"/>
            <a:chOff x="0" y="0"/>
            <a:chExt cx="8001000" cy="2286000"/>
          </a:xfrm>
        </p:grpSpPr>
        <p:grpSp>
          <p:nvGrpSpPr>
            <p:cNvPr id="400" name="Google Shape;400;p28"/>
            <p:cNvGrpSpPr/>
            <p:nvPr/>
          </p:nvGrpSpPr>
          <p:grpSpPr>
            <a:xfrm>
              <a:off x="0" y="0"/>
              <a:ext cx="3810000" cy="2286000"/>
              <a:chOff x="0" y="0"/>
              <a:chExt cx="3810000" cy="2286000"/>
            </a:xfrm>
          </p:grpSpPr>
          <p:sp>
            <p:nvSpPr>
              <p:cNvPr id="401" name="Google Shape;401;p28"/>
              <p:cNvSpPr/>
              <p:nvPr/>
            </p:nvSpPr>
            <p:spPr>
              <a:xfrm>
                <a:off x="0" y="0"/>
                <a:ext cx="3810000" cy="2286000"/>
              </a:xfrm>
              <a:prstGeom prst="roundRect">
                <a:avLst>
                  <a:gd fmla="val 3333" name="adj"/>
                </a:avLst>
              </a:prstGeom>
              <a:solidFill>
                <a:srgbClr val="FFFFFF"/>
              </a:solidFill>
              <a:ln cap="flat" cmpd="sng" w="9525">
                <a:solidFill>
                  <a:srgbClr val="E2E8F0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02" name="Google Shape;402;p28"/>
              <p:cNvSpPr/>
              <p:nvPr/>
            </p:nvSpPr>
            <p:spPr>
              <a:xfrm>
                <a:off x="0" y="0"/>
                <a:ext cx="3810000" cy="38100"/>
              </a:xfrm>
              <a:prstGeom prst="roundRect">
                <a:avLst>
                  <a:gd fmla="val 50000" name="adj"/>
                </a:avLst>
              </a:prstGeom>
              <a:solidFill>
                <a:srgbClr val="2563EB"/>
              </a:solidFill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03" name="Google Shape;403;p28"/>
              <p:cNvSpPr txBox="1"/>
              <p:nvPr/>
            </p:nvSpPr>
            <p:spPr>
              <a:xfrm>
                <a:off x="228600" y="228600"/>
                <a:ext cx="3352800" cy="18288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b="0" lang="en" sz="900">
                    <a:solidFill>
                      <a:srgbClr val="2563EB"/>
                    </a:solidFill>
                    <a:latin typeface="Inter SemiBold"/>
                    <a:ea typeface="Inter SemiBold"/>
                    <a:cs typeface="Inter SemiBold"/>
                    <a:sym typeface="Inter SemiBold"/>
                  </a:rPr>
                  <a:t>APPEND A NEW FIELD</a:t>
                </a:r>
                <a:endParaRPr b="0" sz="900">
                  <a:solidFill>
                    <a:srgbClr val="2563EB"/>
                  </a:solidFill>
                  <a:latin typeface="Inter SemiBold"/>
                  <a:ea typeface="Inter SemiBold"/>
                  <a:cs typeface="Inter SemiBold"/>
                  <a:sym typeface="Inter SemiBold"/>
                </a:endParaRPr>
              </a:p>
              <a:p>
                <a:pPr indent="0" lvl="0" marL="0" rtl="0" algn="l">
                  <a:spcBef>
                    <a:spcPts val="600"/>
                  </a:spcBef>
                  <a:spcAft>
                    <a:spcPts val="0"/>
                  </a:spcAft>
                  <a:buNone/>
                </a:pPr>
                <a:r>
                  <a:rPr b="0" lang="en" sz="1050">
                    <a:solidFill>
                      <a:srgbClr val="475569"/>
                    </a:solidFill>
                    <a:latin typeface="Inter"/>
                    <a:ea typeface="Inter"/>
                    <a:cs typeface="Inter"/>
                    <a:sym typeface="Inter"/>
                  </a:rPr>
                  <a:t>To append a new field, use:</a:t>
                </a:r>
                <a:endParaRPr b="0" sz="1050">
                  <a:solidFill>
                    <a:srgbClr val="475569"/>
                  </a:solidFill>
                  <a:latin typeface="Inter"/>
                  <a:ea typeface="Inter"/>
                  <a:cs typeface="Inter"/>
                  <a:sym typeface="Inter"/>
                </a:endParaRPr>
              </a:p>
              <a:p>
                <a:pPr indent="0" lvl="0" marL="0" rtl="0" algn="l">
                  <a:spcBef>
                    <a:spcPts val="1500"/>
                  </a:spcBef>
                  <a:spcAft>
                    <a:spcPts val="0"/>
                  </a:spcAft>
                  <a:buNone/>
                </a:pPr>
                <a:r>
                  <a:rPr b="1" lang="en" sz="1050">
                    <a:solidFill>
                      <a:srgbClr val="2563EB"/>
                    </a:solidFill>
                    <a:highlight>
                      <a:srgbClr val="F8FAFC"/>
                    </a:highlight>
                    <a:latin typeface="Fira Code"/>
                    <a:ea typeface="Fira Code"/>
                    <a:cs typeface="Fira Code"/>
                    <a:sym typeface="Fira Code"/>
                  </a:rPr>
                  <a:t>ALTER TABLE </a:t>
                </a:r>
                <a:r>
                  <a:rPr b="0" lang="en" sz="1050">
                    <a:solidFill>
                      <a:srgbClr val="0F172A"/>
                    </a:solidFill>
                    <a:highlight>
                      <a:srgbClr val="F8FAFC"/>
                    </a:highlight>
                    <a:latin typeface="Fira Code Medium"/>
                    <a:ea typeface="Fira Code Medium"/>
                    <a:cs typeface="Fira Code Medium"/>
                    <a:sym typeface="Fira Code Medium"/>
                  </a:rPr>
                  <a:t>Users</a:t>
                </a:r>
                <a:endParaRPr b="1" sz="1050">
                  <a:solidFill>
                    <a:srgbClr val="2563EB"/>
                  </a:solidFill>
                  <a:highlight>
                    <a:srgbClr val="F8FAFC"/>
                  </a:highlight>
                  <a:latin typeface="Fira Code"/>
                  <a:ea typeface="Fira Code"/>
                  <a:cs typeface="Fira Code"/>
                  <a:sym typeface="Fira Code"/>
                </a:endParaRPr>
              </a:p>
              <a:p>
                <a:pPr indent="0" lvl="0" marL="0" rtl="0" algn="l">
                  <a:spcBef>
                    <a:spcPts val="450"/>
                  </a:spcBef>
                  <a:spcAft>
                    <a:spcPts val="0"/>
                  </a:spcAft>
                  <a:buNone/>
                </a:pPr>
                <a:r>
                  <a:rPr b="1" lang="en" sz="1050">
                    <a:solidFill>
                      <a:srgbClr val="2563EB"/>
                    </a:solidFill>
                    <a:highlight>
                      <a:srgbClr val="F8FAFC"/>
                    </a:highlight>
                    <a:latin typeface="Fira Code"/>
                    <a:ea typeface="Fira Code"/>
                    <a:cs typeface="Fira Code"/>
                    <a:sym typeface="Fira Code"/>
                  </a:rPr>
                  <a:t>ADD COLUMN </a:t>
                </a:r>
                <a:r>
                  <a:rPr b="0" lang="en" sz="1050">
                    <a:solidFill>
                      <a:srgbClr val="0F172A"/>
                    </a:solidFill>
                    <a:highlight>
                      <a:srgbClr val="F8FAFC"/>
                    </a:highlight>
                    <a:latin typeface="Fira Code Medium"/>
                    <a:ea typeface="Fira Code Medium"/>
                    <a:cs typeface="Fira Code Medium"/>
                    <a:sym typeface="Fira Code Medium"/>
                  </a:rPr>
                  <a:t>PhoneNumber VARCHAR(15);</a:t>
                </a:r>
                <a:endParaRPr b="1" sz="1050">
                  <a:solidFill>
                    <a:srgbClr val="2563EB"/>
                  </a:solidFill>
                  <a:highlight>
                    <a:srgbClr val="F8FAFC"/>
                  </a:highlight>
                  <a:latin typeface="Fira Code"/>
                  <a:ea typeface="Fira Code"/>
                  <a:cs typeface="Fira Code"/>
                  <a:sym typeface="Fira Code"/>
                </a:endParaRPr>
              </a:p>
            </p:txBody>
          </p:sp>
        </p:grpSp>
        <p:grpSp>
          <p:nvGrpSpPr>
            <p:cNvPr id="404" name="Google Shape;404;p28"/>
            <p:cNvGrpSpPr/>
            <p:nvPr/>
          </p:nvGrpSpPr>
          <p:grpSpPr>
            <a:xfrm>
              <a:off x="4191000" y="0"/>
              <a:ext cx="3810000" cy="2286000"/>
              <a:chOff x="0" y="0"/>
              <a:chExt cx="3810000" cy="2286000"/>
            </a:xfrm>
          </p:grpSpPr>
          <p:sp>
            <p:nvSpPr>
              <p:cNvPr id="405" name="Google Shape;405;p28"/>
              <p:cNvSpPr/>
              <p:nvPr/>
            </p:nvSpPr>
            <p:spPr>
              <a:xfrm>
                <a:off x="0" y="0"/>
                <a:ext cx="3810000" cy="2286000"/>
              </a:xfrm>
              <a:prstGeom prst="roundRect">
                <a:avLst>
                  <a:gd fmla="val 3333" name="adj"/>
                </a:avLst>
              </a:prstGeom>
              <a:solidFill>
                <a:srgbClr val="FFFFFF"/>
              </a:solidFill>
              <a:ln cap="flat" cmpd="sng" w="9525">
                <a:solidFill>
                  <a:srgbClr val="E2E8F0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06" name="Google Shape;406;p28"/>
              <p:cNvSpPr/>
              <p:nvPr/>
            </p:nvSpPr>
            <p:spPr>
              <a:xfrm>
                <a:off x="0" y="0"/>
                <a:ext cx="3810000" cy="38100"/>
              </a:xfrm>
              <a:prstGeom prst="roundRect">
                <a:avLst>
                  <a:gd fmla="val 50000" name="adj"/>
                </a:avLst>
              </a:prstGeom>
              <a:solidFill>
                <a:srgbClr val="475569"/>
              </a:solidFill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07" name="Google Shape;407;p28"/>
              <p:cNvSpPr txBox="1"/>
              <p:nvPr/>
            </p:nvSpPr>
            <p:spPr>
              <a:xfrm>
                <a:off x="228600" y="228600"/>
                <a:ext cx="3352800" cy="18288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b="0" lang="en" sz="900">
                    <a:solidFill>
                      <a:srgbClr val="475569"/>
                    </a:solidFill>
                    <a:latin typeface="Inter SemiBold"/>
                    <a:ea typeface="Inter SemiBold"/>
                    <a:cs typeface="Inter SemiBold"/>
                    <a:sym typeface="Inter SemiBold"/>
                  </a:rPr>
                  <a:t>REMOVE AN EXISTING FIELD</a:t>
                </a:r>
                <a:endParaRPr b="0" sz="900">
                  <a:solidFill>
                    <a:srgbClr val="475569"/>
                  </a:solidFill>
                  <a:latin typeface="Inter SemiBold"/>
                  <a:ea typeface="Inter SemiBold"/>
                  <a:cs typeface="Inter SemiBold"/>
                  <a:sym typeface="Inter SemiBold"/>
                </a:endParaRPr>
              </a:p>
              <a:p>
                <a:pPr indent="0" lvl="0" marL="0" rtl="0" algn="l">
                  <a:spcBef>
                    <a:spcPts val="600"/>
                  </a:spcBef>
                  <a:spcAft>
                    <a:spcPts val="0"/>
                  </a:spcAft>
                  <a:buNone/>
                </a:pPr>
                <a:r>
                  <a:rPr b="0" lang="en" sz="1050">
                    <a:solidFill>
                      <a:srgbClr val="475569"/>
                    </a:solidFill>
                    <a:latin typeface="Inter"/>
                    <a:ea typeface="Inter"/>
                    <a:cs typeface="Inter"/>
                    <a:sym typeface="Inter"/>
                  </a:rPr>
                  <a:t>Conversely, to remove an existing field, the syntax is:</a:t>
                </a:r>
                <a:endParaRPr b="0" sz="1050">
                  <a:solidFill>
                    <a:srgbClr val="475569"/>
                  </a:solidFill>
                  <a:latin typeface="Inter"/>
                  <a:ea typeface="Inter"/>
                  <a:cs typeface="Inter"/>
                  <a:sym typeface="Inter"/>
                </a:endParaRPr>
              </a:p>
              <a:p>
                <a:pPr indent="0" lvl="0" marL="0" rtl="0" algn="l">
                  <a:spcBef>
                    <a:spcPts val="1500"/>
                  </a:spcBef>
                  <a:spcAft>
                    <a:spcPts val="0"/>
                  </a:spcAft>
                  <a:buNone/>
                </a:pPr>
                <a:r>
                  <a:rPr b="1" lang="en" sz="1050">
                    <a:solidFill>
                      <a:srgbClr val="2563EB"/>
                    </a:solidFill>
                    <a:highlight>
                      <a:srgbClr val="F8FAFC"/>
                    </a:highlight>
                    <a:latin typeface="Fira Code"/>
                    <a:ea typeface="Fira Code"/>
                    <a:cs typeface="Fira Code"/>
                    <a:sym typeface="Fira Code"/>
                  </a:rPr>
                  <a:t>ALTER TABLE </a:t>
                </a:r>
                <a:r>
                  <a:rPr b="0" lang="en" sz="1050">
                    <a:solidFill>
                      <a:srgbClr val="0F172A"/>
                    </a:solidFill>
                    <a:highlight>
                      <a:srgbClr val="F8FAFC"/>
                    </a:highlight>
                    <a:latin typeface="Fira Code Medium"/>
                    <a:ea typeface="Fira Code Medium"/>
                    <a:cs typeface="Fira Code Medium"/>
                    <a:sym typeface="Fira Code Medium"/>
                  </a:rPr>
                  <a:t>Users</a:t>
                </a:r>
                <a:endParaRPr b="1" sz="1050">
                  <a:solidFill>
                    <a:srgbClr val="2563EB"/>
                  </a:solidFill>
                  <a:highlight>
                    <a:srgbClr val="F8FAFC"/>
                  </a:highlight>
                  <a:latin typeface="Fira Code"/>
                  <a:ea typeface="Fira Code"/>
                  <a:cs typeface="Fira Code"/>
                  <a:sym typeface="Fira Code"/>
                </a:endParaRPr>
              </a:p>
              <a:p>
                <a:pPr indent="0" lvl="0" marL="0" rtl="0" algn="l">
                  <a:spcBef>
                    <a:spcPts val="450"/>
                  </a:spcBef>
                  <a:spcAft>
                    <a:spcPts val="0"/>
                  </a:spcAft>
                  <a:buNone/>
                </a:pPr>
                <a:r>
                  <a:rPr b="1" lang="en" sz="1050">
                    <a:solidFill>
                      <a:srgbClr val="991B1B"/>
                    </a:solidFill>
                    <a:highlight>
                      <a:srgbClr val="F8FAFC"/>
                    </a:highlight>
                    <a:latin typeface="Fira Code"/>
                    <a:ea typeface="Fira Code"/>
                    <a:cs typeface="Fira Code"/>
                    <a:sym typeface="Fira Code"/>
                  </a:rPr>
                  <a:t>DROP COLUMN </a:t>
                </a:r>
                <a:r>
                  <a:rPr b="0" lang="en" sz="1050">
                    <a:solidFill>
                      <a:srgbClr val="0F172A"/>
                    </a:solidFill>
                    <a:highlight>
                      <a:srgbClr val="F8FAFC"/>
                    </a:highlight>
                    <a:latin typeface="Fira Code Medium"/>
                    <a:ea typeface="Fira Code Medium"/>
                    <a:cs typeface="Fira Code Medium"/>
                    <a:sym typeface="Fira Code Medium"/>
                  </a:rPr>
                  <a:t>PhoneNumber;</a:t>
                </a:r>
                <a:endParaRPr b="1" sz="1050">
                  <a:solidFill>
                    <a:srgbClr val="991B1B"/>
                  </a:solidFill>
                  <a:highlight>
                    <a:srgbClr val="F8FAFC"/>
                  </a:highlight>
                  <a:latin typeface="Fira Code"/>
                  <a:ea typeface="Fira Code"/>
                  <a:cs typeface="Fira Code"/>
                  <a:sym typeface="Fira Code"/>
                </a:endParaRPr>
              </a:p>
            </p:txBody>
          </p:sp>
        </p:grpSp>
      </p:grp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411" name="Shape 4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2" name="Google Shape;412;p29"/>
          <p:cNvSpPr/>
          <p:nvPr/>
        </p:nvSpPr>
        <p:spPr>
          <a:xfrm>
            <a:off x="590550" y="400050"/>
            <a:ext cx="190500" cy="190500"/>
          </a:xfrm>
          <a:custGeom>
            <a:rect b="b" l="l" r="r" t="t"/>
            <a:pathLst>
              <a:path extrusionOk="0" h="120000" w="120000">
                <a:moveTo>
                  <a:pt x="60000" y="0"/>
                </a:moveTo>
                <a:cubicBezTo>
                  <a:pt x="26880" y="0"/>
                  <a:pt x="0" y="26880"/>
                  <a:pt x="0" y="60000"/>
                </a:cubicBezTo>
                <a:lnTo>
                  <a:pt x="26880" y="120000"/>
                </a:lnTo>
                <a:lnTo>
                  <a:pt x="60000" y="120000"/>
                </a:lnTo>
                <a:lnTo>
                  <a:pt x="120000" y="93120"/>
                </a:lnTo>
                <a:lnTo>
                  <a:pt x="120000" y="60000"/>
                </a:lnTo>
                <a:lnTo>
                  <a:pt x="93120" y="0"/>
                </a:lnTo>
                <a:lnTo>
                  <a:pt x="60000" y="0"/>
                </a:lnTo>
                <a:close/>
                <a:moveTo>
                  <a:pt x="60000" y="108000"/>
                </a:moveTo>
                <a:cubicBezTo>
                  <a:pt x="33540" y="108000"/>
                  <a:pt x="12000" y="86460"/>
                  <a:pt x="12000" y="60000"/>
                </a:cubicBezTo>
                <a:lnTo>
                  <a:pt x="33540" y="12000"/>
                </a:lnTo>
                <a:lnTo>
                  <a:pt x="60000" y="12000"/>
                </a:lnTo>
                <a:lnTo>
                  <a:pt x="108000" y="33540"/>
                </a:lnTo>
                <a:lnTo>
                  <a:pt x="108000" y="60000"/>
                </a:lnTo>
                <a:lnTo>
                  <a:pt x="86460" y="108000"/>
                </a:lnTo>
                <a:lnTo>
                  <a:pt x="60000" y="108000"/>
                </a:lnTo>
                <a:close/>
                <a:moveTo>
                  <a:pt x="54000" y="30000"/>
                </a:moveTo>
                <a:lnTo>
                  <a:pt x="66000" y="30000"/>
                </a:lnTo>
                <a:lnTo>
                  <a:pt x="66000" y="66000"/>
                </a:lnTo>
                <a:lnTo>
                  <a:pt x="54000" y="66000"/>
                </a:lnTo>
                <a:close/>
                <a:moveTo>
                  <a:pt x="54000" y="78000"/>
                </a:moveTo>
                <a:lnTo>
                  <a:pt x="66000" y="78000"/>
                </a:lnTo>
                <a:lnTo>
                  <a:pt x="66000" y="90000"/>
                </a:lnTo>
                <a:lnTo>
                  <a:pt x="54000" y="90000"/>
                </a:lnTo>
                <a:close/>
              </a:path>
            </a:pathLst>
          </a:custGeom>
          <a:solidFill>
            <a:srgbClr val="2563EB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13" name="Google Shape;413;p29"/>
          <p:cNvSpPr txBox="1"/>
          <p:nvPr/>
        </p:nvSpPr>
        <p:spPr>
          <a:xfrm>
            <a:off x="914400" y="400050"/>
            <a:ext cx="70866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" sz="900">
                <a:solidFill>
                  <a:srgbClr val="475569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MAC 250: DATABASE ARCHITECTURE &amp; ENGINEERING</a:t>
            </a:r>
            <a:endParaRPr b="0" sz="900">
              <a:solidFill>
                <a:srgbClr val="475569"/>
              </a:solidFill>
              <a:latin typeface="Inter SemiBold"/>
              <a:ea typeface="Inter SemiBold"/>
              <a:cs typeface="Inter SemiBold"/>
              <a:sym typeface="Inter SemiBold"/>
            </a:endParaRPr>
          </a:p>
        </p:txBody>
      </p:sp>
      <p:grpSp>
        <p:nvGrpSpPr>
          <p:cNvPr id="414" name="Google Shape;414;p29"/>
          <p:cNvGrpSpPr/>
          <p:nvPr/>
        </p:nvGrpSpPr>
        <p:grpSpPr>
          <a:xfrm>
            <a:off x="571500" y="762000"/>
            <a:ext cx="8001000" cy="19200"/>
            <a:chOff x="0" y="0"/>
            <a:chExt cx="8001000" cy="19200"/>
          </a:xfrm>
        </p:grpSpPr>
        <p:sp>
          <p:nvSpPr>
            <p:cNvPr id="415" name="Google Shape;415;p29"/>
            <p:cNvSpPr/>
            <p:nvPr/>
          </p:nvSpPr>
          <p:spPr>
            <a:xfrm>
              <a:off x="0" y="0"/>
              <a:ext cx="8001000" cy="9600"/>
            </a:xfrm>
            <a:prstGeom prst="rect">
              <a:avLst/>
            </a:prstGeom>
            <a:solidFill>
              <a:srgbClr val="E2E8F0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16" name="Google Shape;416;p29"/>
            <p:cNvSpPr/>
            <p:nvPr/>
          </p:nvSpPr>
          <p:spPr>
            <a:xfrm>
              <a:off x="0" y="0"/>
              <a:ext cx="1143000" cy="19200"/>
            </a:xfrm>
            <a:prstGeom prst="rect">
              <a:avLst/>
            </a:prstGeom>
            <a:solidFill>
              <a:srgbClr val="2563EB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417" name="Google Shape;417;p29"/>
          <p:cNvSpPr txBox="1"/>
          <p:nvPr/>
        </p:nvSpPr>
        <p:spPr>
          <a:xfrm>
            <a:off x="571500" y="1000125"/>
            <a:ext cx="8001000" cy="714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250">
                <a:solidFill>
                  <a:srgbClr val="0F172A"/>
                </a:solidFill>
                <a:latin typeface="Inter"/>
                <a:ea typeface="Inter"/>
                <a:cs typeface="Inter"/>
                <a:sym typeface="Inter"/>
              </a:rPr>
              <a:t>Building a SQL Script</a:t>
            </a:r>
            <a:endParaRPr b="1" sz="2250">
              <a:solidFill>
                <a:srgbClr val="0F172A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0" lvl="0" marL="0" rtl="0" algn="l">
              <a:spcBef>
                <a:spcPts val="450"/>
              </a:spcBef>
              <a:spcAft>
                <a:spcPts val="0"/>
              </a:spcAft>
              <a:buNone/>
            </a:pPr>
            <a:r>
              <a:rPr b="0" lang="en" sz="1350">
                <a:solidFill>
                  <a:srgbClr val="2563EB"/>
                </a:solidFill>
                <a:latin typeface="Inter Medium"/>
                <a:ea typeface="Inter Medium"/>
                <a:cs typeface="Inter Medium"/>
                <a:sym typeface="Inter Medium"/>
              </a:rPr>
              <a:t>Best practices for compiling repeatable and error-free .sql files</a:t>
            </a:r>
            <a:endParaRPr b="0" sz="1350">
              <a:solidFill>
                <a:srgbClr val="2563EB"/>
              </a:solidFill>
              <a:latin typeface="Inter Medium"/>
              <a:ea typeface="Inter Medium"/>
              <a:cs typeface="Inter Medium"/>
              <a:sym typeface="Inter Medium"/>
            </a:endParaRPr>
          </a:p>
        </p:txBody>
      </p:sp>
      <p:sp>
        <p:nvSpPr>
          <p:cNvPr id="418" name="Google Shape;418;p29"/>
          <p:cNvSpPr txBox="1"/>
          <p:nvPr/>
        </p:nvSpPr>
        <p:spPr>
          <a:xfrm>
            <a:off x="571500" y="1857375"/>
            <a:ext cx="4476900" cy="2857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" sz="1125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A SQL script compiles multiple database commands into a single executable </a:t>
            </a:r>
            <a:r>
              <a:rPr b="0" lang="en" sz="975">
                <a:solidFill>
                  <a:srgbClr val="0F172A"/>
                </a:solidFill>
                <a:highlight>
                  <a:srgbClr val="F1F5F9"/>
                </a:highlight>
                <a:latin typeface="Fira Code Medium"/>
                <a:ea typeface="Fira Code Medium"/>
                <a:cs typeface="Fira Code Medium"/>
                <a:sym typeface="Fira Code Medium"/>
              </a:rPr>
              <a:t>.sql</a:t>
            </a:r>
            <a:r>
              <a:rPr b="0" lang="en" sz="1125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 file. Adhere to standard organization rules to ensure smooth re-execution during development.</a:t>
            </a:r>
            <a:endParaRPr b="0" sz="1125">
              <a:solidFill>
                <a:srgbClr val="475569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0" lvl="0" marL="0" rtl="0" algn="l">
              <a:spcBef>
                <a:spcPts val="1500"/>
              </a:spcBef>
              <a:spcAft>
                <a:spcPts val="0"/>
              </a:spcAft>
              <a:buNone/>
            </a:pPr>
            <a:r>
              <a:rPr b="0" lang="en" sz="1125">
                <a:solidFill>
                  <a:srgbClr val="0F172A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Top-Level Cleanup:</a:t>
            </a:r>
            <a:r>
              <a:rPr b="0" lang="en" sz="1125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 Place all necessary </a:t>
            </a:r>
            <a:r>
              <a:rPr b="0" lang="en" sz="975">
                <a:solidFill>
                  <a:srgbClr val="2563EB"/>
                </a:solidFill>
                <a:latin typeface="Fira Code Medium"/>
                <a:ea typeface="Fira Code Medium"/>
                <a:cs typeface="Fira Code Medium"/>
                <a:sym typeface="Fira Code Medium"/>
              </a:rPr>
              <a:t>DROP TABLE</a:t>
            </a:r>
            <a:r>
              <a:rPr b="0" lang="en" sz="1125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 statements at the very top of the file.</a:t>
            </a:r>
            <a:endParaRPr b="0" sz="1125">
              <a:solidFill>
                <a:srgbClr val="475569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b="0" lang="en" sz="1125">
                <a:solidFill>
                  <a:srgbClr val="0F172A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Sequential Creation:</a:t>
            </a:r>
            <a:r>
              <a:rPr b="0" lang="en" sz="1125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 Immediately follow cleanup with sequential </a:t>
            </a:r>
            <a:r>
              <a:rPr b="0" lang="en" sz="975">
                <a:solidFill>
                  <a:srgbClr val="2563EB"/>
                </a:solidFill>
                <a:latin typeface="Fira Code Medium"/>
                <a:ea typeface="Fira Code Medium"/>
                <a:cs typeface="Fira Code Medium"/>
                <a:sym typeface="Fira Code Medium"/>
              </a:rPr>
              <a:t>CREATE TABLE</a:t>
            </a:r>
            <a:r>
              <a:rPr b="0" lang="en" sz="1125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 statements.</a:t>
            </a:r>
            <a:endParaRPr b="0" sz="1125">
              <a:solidFill>
                <a:srgbClr val="475569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rPr b="0" lang="en" sz="1125">
                <a:solidFill>
                  <a:srgbClr val="0F172A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Development Workflow:</a:t>
            </a:r>
            <a:r>
              <a:rPr b="0" lang="en" sz="1125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 Prevents database state errors when executing the script multiple times.</a:t>
            </a:r>
            <a:endParaRPr b="0" sz="1125">
              <a:solidFill>
                <a:srgbClr val="475569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grpSp>
        <p:nvGrpSpPr>
          <p:cNvPr id="419" name="Google Shape;419;p29"/>
          <p:cNvGrpSpPr/>
          <p:nvPr/>
        </p:nvGrpSpPr>
        <p:grpSpPr>
          <a:xfrm>
            <a:off x="5334000" y="1857375"/>
            <a:ext cx="3238500" cy="2762400"/>
            <a:chOff x="0" y="0"/>
            <a:chExt cx="3238500" cy="2762400"/>
          </a:xfrm>
        </p:grpSpPr>
        <p:sp>
          <p:nvSpPr>
            <p:cNvPr id="420" name="Google Shape;420;p29"/>
            <p:cNvSpPr/>
            <p:nvPr/>
          </p:nvSpPr>
          <p:spPr>
            <a:xfrm>
              <a:off x="0" y="0"/>
              <a:ext cx="3238500" cy="2762400"/>
            </a:xfrm>
            <a:prstGeom prst="roundRect">
              <a:avLst>
                <a:gd fmla="val 2758" name="adj"/>
              </a:avLst>
            </a:prstGeom>
            <a:solidFill>
              <a:srgbClr val="F8FAFC"/>
            </a:solidFill>
            <a:ln cap="flat" cmpd="sng" w="9525">
              <a:solidFill>
                <a:srgbClr val="E2E8F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21" name="Google Shape;421;p29"/>
            <p:cNvSpPr/>
            <p:nvPr/>
          </p:nvSpPr>
          <p:spPr>
            <a:xfrm>
              <a:off x="0" y="0"/>
              <a:ext cx="3238500" cy="304800"/>
            </a:xfrm>
            <a:custGeom>
              <a:rect b="b" l="l" r="r" t="t"/>
              <a:pathLst>
                <a:path extrusionOk="0" h="120000" w="120000">
                  <a:moveTo>
                    <a:pt x="0" y="30000"/>
                  </a:moveTo>
                  <a:quadBezTo>
                    <a:pt x="0" y="0"/>
                    <a:pt x="2824" y="0"/>
                  </a:quadBezTo>
                  <a:lnTo>
                    <a:pt x="117176" y="0"/>
                  </a:lnTo>
                  <a:quadBezTo>
                    <a:pt x="120000" y="0"/>
                    <a:pt x="120000" y="30000"/>
                  </a:quadBezTo>
                  <a:lnTo>
                    <a:pt x="120000" y="120000"/>
                  </a:lnTo>
                  <a:lnTo>
                    <a:pt x="0" y="120000"/>
                  </a:lnTo>
                  <a:close/>
                </a:path>
              </a:pathLst>
            </a:custGeom>
            <a:solidFill>
              <a:srgbClr val="E2E8F0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22" name="Google Shape;422;p29"/>
            <p:cNvSpPr/>
            <p:nvPr/>
          </p:nvSpPr>
          <p:spPr>
            <a:xfrm>
              <a:off x="114300" y="114300"/>
              <a:ext cx="76200" cy="76200"/>
            </a:xfrm>
            <a:prstGeom prst="ellipse">
              <a:avLst/>
            </a:prstGeom>
            <a:solidFill>
              <a:srgbClr val="94A3B8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23" name="Google Shape;423;p29"/>
            <p:cNvSpPr/>
            <p:nvPr/>
          </p:nvSpPr>
          <p:spPr>
            <a:xfrm>
              <a:off x="228600" y="114300"/>
              <a:ext cx="76200" cy="76200"/>
            </a:xfrm>
            <a:prstGeom prst="ellipse">
              <a:avLst/>
            </a:prstGeom>
            <a:solidFill>
              <a:srgbClr val="CBD5E1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24" name="Google Shape;424;p29"/>
            <p:cNvSpPr/>
            <p:nvPr/>
          </p:nvSpPr>
          <p:spPr>
            <a:xfrm>
              <a:off x="342900" y="114300"/>
              <a:ext cx="76200" cy="76200"/>
            </a:xfrm>
            <a:prstGeom prst="ellipse">
              <a:avLst/>
            </a:prstGeom>
            <a:solidFill>
              <a:srgbClr val="CBD5E1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25" name="Google Shape;425;p29"/>
            <p:cNvSpPr txBox="1"/>
            <p:nvPr/>
          </p:nvSpPr>
          <p:spPr>
            <a:xfrm>
              <a:off x="533400" y="57150"/>
              <a:ext cx="2095500" cy="1905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lang="en" sz="825">
                  <a:solidFill>
                    <a:srgbClr val="475569"/>
                  </a:solidFill>
                  <a:latin typeface="Fira Code SemiBold"/>
                  <a:ea typeface="Fira Code SemiBold"/>
                  <a:cs typeface="Fira Code SemiBold"/>
                  <a:sym typeface="Fira Code SemiBold"/>
                </a:rPr>
                <a:t>schema_build.sql</a:t>
              </a:r>
              <a:endParaRPr b="0" sz="825">
                <a:solidFill>
                  <a:srgbClr val="475569"/>
                </a:solidFill>
                <a:latin typeface="Fira Code SemiBold"/>
                <a:ea typeface="Fira Code SemiBold"/>
                <a:cs typeface="Fira Code SemiBold"/>
                <a:sym typeface="Fira Code SemiBold"/>
              </a:endParaRPr>
            </a:p>
          </p:txBody>
        </p:sp>
        <p:sp>
          <p:nvSpPr>
            <p:cNvPr id="426" name="Google Shape;426;p29"/>
            <p:cNvSpPr txBox="1"/>
            <p:nvPr/>
          </p:nvSpPr>
          <p:spPr>
            <a:xfrm>
              <a:off x="190500" y="419100"/>
              <a:ext cx="2857500" cy="21909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lang="en" sz="975">
                  <a:solidFill>
                    <a:srgbClr val="64748B"/>
                  </a:solidFill>
                  <a:latin typeface="Fira Code"/>
                  <a:ea typeface="Fira Code"/>
                  <a:cs typeface="Fira Code"/>
                  <a:sym typeface="Fira Code"/>
                </a:rPr>
                <a:t>-- 1. DROP TABLES FIRST (Top)</a:t>
              </a:r>
              <a:endParaRPr b="0" sz="975">
                <a:solidFill>
                  <a:srgbClr val="64748B"/>
                </a:solidFill>
                <a:latin typeface="Fira Code"/>
                <a:ea typeface="Fira Code"/>
                <a:cs typeface="Fira Code"/>
                <a:sym typeface="Fira Code"/>
              </a:endParaRPr>
            </a:p>
            <a:p>
              <a:pPr indent="0" lvl="0" marL="0" rtl="0" algn="l">
                <a:spcBef>
                  <a:spcPts val="300"/>
                </a:spcBef>
                <a:spcAft>
                  <a:spcPts val="0"/>
                </a:spcAft>
                <a:buNone/>
              </a:pPr>
              <a:r>
                <a:rPr b="0" lang="en" sz="975">
                  <a:solidFill>
                    <a:srgbClr val="2563EB"/>
                  </a:solidFill>
                  <a:latin typeface="Fira Code SemiBold"/>
                  <a:ea typeface="Fira Code SemiBold"/>
                  <a:cs typeface="Fira Code SemiBold"/>
                  <a:sym typeface="Fira Code SemiBold"/>
                </a:rPr>
                <a:t>DROP TABLE IF EXISTS</a:t>
              </a:r>
              <a:r>
                <a:rPr b="0" lang="en" sz="975">
                  <a:solidFill>
                    <a:srgbClr val="0F172A"/>
                  </a:solidFill>
                  <a:latin typeface="Fira Code Medium"/>
                  <a:ea typeface="Fira Code Medium"/>
                  <a:cs typeface="Fira Code Medium"/>
                  <a:sym typeface="Fira Code Medium"/>
                </a:rPr>
                <a:t> orders;</a:t>
              </a:r>
              <a:endParaRPr b="0" sz="975">
                <a:solidFill>
                  <a:srgbClr val="0F172A"/>
                </a:solidFill>
                <a:latin typeface="Fira Code Medium"/>
                <a:ea typeface="Fira Code Medium"/>
                <a:cs typeface="Fira Code Medium"/>
                <a:sym typeface="Fira Code Medium"/>
              </a:endParaRPr>
            </a:p>
            <a:p>
              <a:pPr indent="0" lvl="0" marL="0" rtl="0" algn="l">
                <a:spcBef>
                  <a:spcPts val="150"/>
                </a:spcBef>
                <a:spcAft>
                  <a:spcPts val="0"/>
                </a:spcAft>
                <a:buNone/>
              </a:pPr>
              <a:r>
                <a:rPr b="0" lang="en" sz="975">
                  <a:solidFill>
                    <a:srgbClr val="2563EB"/>
                  </a:solidFill>
                  <a:latin typeface="Fira Code SemiBold"/>
                  <a:ea typeface="Fira Code SemiBold"/>
                  <a:cs typeface="Fira Code SemiBold"/>
                  <a:sym typeface="Fira Code SemiBold"/>
                </a:rPr>
                <a:t>DROP TABLE IF EXISTS</a:t>
              </a:r>
              <a:r>
                <a:rPr b="0" lang="en" sz="975">
                  <a:solidFill>
                    <a:srgbClr val="0F172A"/>
                  </a:solidFill>
                  <a:latin typeface="Fira Code Medium"/>
                  <a:ea typeface="Fira Code Medium"/>
                  <a:cs typeface="Fira Code Medium"/>
                  <a:sym typeface="Fira Code Medium"/>
                </a:rPr>
                <a:t> customers;</a:t>
              </a:r>
              <a:endParaRPr b="0" sz="975">
                <a:solidFill>
                  <a:srgbClr val="0F172A"/>
                </a:solidFill>
                <a:latin typeface="Fira Code Medium"/>
                <a:ea typeface="Fira Code Medium"/>
                <a:cs typeface="Fira Code Medium"/>
                <a:sym typeface="Fira Code Medium"/>
              </a:endParaRPr>
            </a:p>
            <a:p>
              <a:pPr indent="0" lvl="0" marL="0" rtl="0" algn="l">
                <a:spcBef>
                  <a:spcPts val="1200"/>
                </a:spcBef>
                <a:spcAft>
                  <a:spcPts val="0"/>
                </a:spcAft>
                <a:buNone/>
              </a:pPr>
              <a:r>
                <a:rPr b="0" lang="en" sz="975">
                  <a:solidFill>
                    <a:srgbClr val="64748B"/>
                  </a:solidFill>
                  <a:latin typeface="Fira Code"/>
                  <a:ea typeface="Fira Code"/>
                  <a:cs typeface="Fira Code"/>
                  <a:sym typeface="Fira Code"/>
                </a:rPr>
                <a:t>-- 2. SEQUENTIAL CREATE TABLES</a:t>
              </a:r>
              <a:endParaRPr b="0" sz="975">
                <a:solidFill>
                  <a:srgbClr val="64748B"/>
                </a:solidFill>
                <a:latin typeface="Fira Code"/>
                <a:ea typeface="Fira Code"/>
                <a:cs typeface="Fira Code"/>
                <a:sym typeface="Fira Code"/>
              </a:endParaRPr>
            </a:p>
            <a:p>
              <a:pPr indent="0" lvl="0" marL="0" rtl="0" algn="l">
                <a:spcBef>
                  <a:spcPts val="300"/>
                </a:spcBef>
                <a:spcAft>
                  <a:spcPts val="0"/>
                </a:spcAft>
                <a:buNone/>
              </a:pPr>
              <a:r>
                <a:rPr b="0" lang="en" sz="975">
                  <a:solidFill>
                    <a:srgbClr val="2563EB"/>
                  </a:solidFill>
                  <a:latin typeface="Fira Code SemiBold"/>
                  <a:ea typeface="Fira Code SemiBold"/>
                  <a:cs typeface="Fira Code SemiBold"/>
                  <a:sym typeface="Fira Code SemiBold"/>
                </a:rPr>
                <a:t>CREATE TABLE</a:t>
              </a:r>
              <a:r>
                <a:rPr b="0" lang="en" sz="975">
                  <a:solidFill>
                    <a:srgbClr val="0F172A"/>
                  </a:solidFill>
                  <a:latin typeface="Fira Code Medium"/>
                  <a:ea typeface="Fira Code Medium"/>
                  <a:cs typeface="Fira Code Medium"/>
                  <a:sym typeface="Fira Code Medium"/>
                </a:rPr>
                <a:t> customers (</a:t>
              </a:r>
              <a:endParaRPr b="0" sz="975">
                <a:solidFill>
                  <a:srgbClr val="0F172A"/>
                </a:solidFill>
                <a:latin typeface="Fira Code Medium"/>
                <a:ea typeface="Fira Code Medium"/>
                <a:cs typeface="Fira Code Medium"/>
                <a:sym typeface="Fira Code Medium"/>
              </a:endParaRPr>
            </a:p>
            <a:p>
              <a:pPr indent="0" lvl="0" marL="0" rtl="0" algn="l">
                <a:spcBef>
                  <a:spcPts val="150"/>
                </a:spcBef>
                <a:spcAft>
                  <a:spcPts val="0"/>
                </a:spcAft>
                <a:buNone/>
              </a:pPr>
              <a:r>
                <a:rPr b="0" lang="en" sz="975">
                  <a:solidFill>
                    <a:srgbClr val="0F172A"/>
                  </a:solidFill>
                  <a:latin typeface="Fira Code Medium"/>
                  <a:ea typeface="Fira Code Medium"/>
                  <a:cs typeface="Fira Code Medium"/>
                  <a:sym typeface="Fira Code Medium"/>
                </a:rPr>
                <a:t>id </a:t>
              </a:r>
              <a:r>
                <a:rPr b="0" lang="en" sz="975">
                  <a:solidFill>
                    <a:srgbClr val="2563EB"/>
                  </a:solidFill>
                  <a:latin typeface="Fira Code SemiBold"/>
                  <a:ea typeface="Fira Code SemiBold"/>
                  <a:cs typeface="Fira Code SemiBold"/>
                  <a:sym typeface="Fira Code SemiBold"/>
                </a:rPr>
                <a:t>INT PRIMARY KEY</a:t>
              </a:r>
              <a:r>
                <a:rPr b="0" lang="en" sz="975">
                  <a:solidFill>
                    <a:srgbClr val="0F172A"/>
                  </a:solidFill>
                  <a:latin typeface="Fira Code Medium"/>
                  <a:ea typeface="Fira Code Medium"/>
                  <a:cs typeface="Fira Code Medium"/>
                  <a:sym typeface="Fira Code Medium"/>
                </a:rPr>
                <a:t>,</a:t>
              </a:r>
              <a:endParaRPr b="0" sz="975">
                <a:solidFill>
                  <a:srgbClr val="0F172A"/>
                </a:solidFill>
                <a:latin typeface="Fira Code Medium"/>
                <a:ea typeface="Fira Code Medium"/>
                <a:cs typeface="Fira Code Medium"/>
                <a:sym typeface="Fira Code Medium"/>
              </a:endParaRPr>
            </a:p>
            <a:p>
              <a:pPr indent="0" lvl="0" marL="0" rtl="0" algn="l">
                <a:spcBef>
                  <a:spcPts val="150"/>
                </a:spcBef>
                <a:spcAft>
                  <a:spcPts val="0"/>
                </a:spcAft>
                <a:buNone/>
              </a:pPr>
              <a:r>
                <a:rPr b="0" lang="en" sz="975">
                  <a:solidFill>
                    <a:srgbClr val="0F172A"/>
                  </a:solidFill>
                  <a:latin typeface="Fira Code Medium"/>
                  <a:ea typeface="Fira Code Medium"/>
                  <a:cs typeface="Fira Code Medium"/>
                  <a:sym typeface="Fira Code Medium"/>
                </a:rPr>
                <a:t>name </a:t>
              </a:r>
              <a:r>
                <a:rPr b="0" lang="en" sz="975">
                  <a:solidFill>
                    <a:srgbClr val="2563EB"/>
                  </a:solidFill>
                  <a:latin typeface="Fira Code SemiBold"/>
                  <a:ea typeface="Fira Code SemiBold"/>
                  <a:cs typeface="Fira Code SemiBold"/>
                  <a:sym typeface="Fira Code SemiBold"/>
                </a:rPr>
                <a:t>VARCHAR</a:t>
              </a:r>
              <a:r>
                <a:rPr b="0" lang="en" sz="975">
                  <a:solidFill>
                    <a:srgbClr val="0F172A"/>
                  </a:solidFill>
                  <a:latin typeface="Fira Code Medium"/>
                  <a:ea typeface="Fira Code Medium"/>
                  <a:cs typeface="Fira Code Medium"/>
                  <a:sym typeface="Fira Code Medium"/>
                </a:rPr>
                <a:t>(100)</a:t>
              </a:r>
              <a:endParaRPr b="0" sz="975">
                <a:solidFill>
                  <a:srgbClr val="0F172A"/>
                </a:solidFill>
                <a:latin typeface="Fira Code Medium"/>
                <a:ea typeface="Fira Code Medium"/>
                <a:cs typeface="Fira Code Medium"/>
                <a:sym typeface="Fira Code Medium"/>
              </a:endParaRPr>
            </a:p>
            <a:p>
              <a:pPr indent="0" lvl="0" marL="0" rtl="0" algn="l">
                <a:spcBef>
                  <a:spcPts val="150"/>
                </a:spcBef>
                <a:spcAft>
                  <a:spcPts val="0"/>
                </a:spcAft>
                <a:buNone/>
              </a:pPr>
              <a:r>
                <a:rPr b="0" lang="en" sz="975">
                  <a:solidFill>
                    <a:srgbClr val="0F172A"/>
                  </a:solidFill>
                  <a:latin typeface="Fira Code Medium"/>
                  <a:ea typeface="Fira Code Medium"/>
                  <a:cs typeface="Fira Code Medium"/>
                  <a:sym typeface="Fira Code Medium"/>
                </a:rPr>
                <a:t>);</a:t>
              </a:r>
              <a:endParaRPr b="0" sz="975">
                <a:solidFill>
                  <a:srgbClr val="0F172A"/>
                </a:solidFill>
                <a:latin typeface="Fira Code Medium"/>
                <a:ea typeface="Fira Code Medium"/>
                <a:cs typeface="Fira Code Medium"/>
                <a:sym typeface="Fira Code Medium"/>
              </a:endParaRPr>
            </a:p>
            <a:p>
              <a:pPr indent="0" lvl="0" marL="0" rtl="0" algn="l">
                <a:spcBef>
                  <a:spcPts val="600"/>
                </a:spcBef>
                <a:spcAft>
                  <a:spcPts val="0"/>
                </a:spcAft>
                <a:buNone/>
              </a:pPr>
              <a:r>
                <a:rPr b="0" lang="en" sz="975">
                  <a:solidFill>
                    <a:srgbClr val="2563EB"/>
                  </a:solidFill>
                  <a:latin typeface="Fira Code SemiBold"/>
                  <a:ea typeface="Fira Code SemiBold"/>
                  <a:cs typeface="Fira Code SemiBold"/>
                  <a:sym typeface="Fira Code SemiBold"/>
                </a:rPr>
                <a:t>CREATE TABLE</a:t>
              </a:r>
              <a:r>
                <a:rPr b="0" lang="en" sz="975">
                  <a:solidFill>
                    <a:srgbClr val="0F172A"/>
                  </a:solidFill>
                  <a:latin typeface="Fira Code Medium"/>
                  <a:ea typeface="Fira Code Medium"/>
                  <a:cs typeface="Fira Code Medium"/>
                  <a:sym typeface="Fira Code Medium"/>
                </a:rPr>
                <a:t> orders (</a:t>
              </a:r>
              <a:endParaRPr b="0" sz="975">
                <a:solidFill>
                  <a:srgbClr val="0F172A"/>
                </a:solidFill>
                <a:latin typeface="Fira Code Medium"/>
                <a:ea typeface="Fira Code Medium"/>
                <a:cs typeface="Fira Code Medium"/>
                <a:sym typeface="Fira Code Medium"/>
              </a:endParaRPr>
            </a:p>
            <a:p>
              <a:pPr indent="0" lvl="0" marL="0" rtl="0" algn="l">
                <a:spcBef>
                  <a:spcPts val="150"/>
                </a:spcBef>
                <a:spcAft>
                  <a:spcPts val="0"/>
                </a:spcAft>
                <a:buNone/>
              </a:pPr>
              <a:r>
                <a:rPr b="0" lang="en" sz="975">
                  <a:solidFill>
                    <a:srgbClr val="0F172A"/>
                  </a:solidFill>
                  <a:latin typeface="Fira Code Medium"/>
                  <a:ea typeface="Fira Code Medium"/>
                  <a:cs typeface="Fira Code Medium"/>
                  <a:sym typeface="Fira Code Medium"/>
                </a:rPr>
                <a:t>id </a:t>
              </a:r>
              <a:r>
                <a:rPr b="0" lang="en" sz="975">
                  <a:solidFill>
                    <a:srgbClr val="2563EB"/>
                  </a:solidFill>
                  <a:latin typeface="Fira Code SemiBold"/>
                  <a:ea typeface="Fira Code SemiBold"/>
                  <a:cs typeface="Fira Code SemiBold"/>
                  <a:sym typeface="Fira Code SemiBold"/>
                </a:rPr>
                <a:t>INT PRIMARY KEY</a:t>
              </a:r>
              <a:endParaRPr b="0" sz="975">
                <a:solidFill>
                  <a:srgbClr val="0F172A"/>
                </a:solidFill>
                <a:latin typeface="Fira Code Medium"/>
                <a:ea typeface="Fira Code Medium"/>
                <a:cs typeface="Fira Code Medium"/>
                <a:sym typeface="Fira Code Medium"/>
              </a:endParaRPr>
            </a:p>
            <a:p>
              <a:pPr indent="0" lvl="0" marL="0" rtl="0" algn="l">
                <a:spcBef>
                  <a:spcPts val="150"/>
                </a:spcBef>
                <a:spcAft>
                  <a:spcPts val="0"/>
                </a:spcAft>
                <a:buNone/>
              </a:pPr>
              <a:r>
                <a:rPr b="0" lang="en" sz="975">
                  <a:solidFill>
                    <a:srgbClr val="0F172A"/>
                  </a:solidFill>
                  <a:latin typeface="Fira Code Medium"/>
                  <a:ea typeface="Fira Code Medium"/>
                  <a:cs typeface="Fira Code Medium"/>
                  <a:sym typeface="Fira Code Medium"/>
                </a:rPr>
                <a:t>);</a:t>
              </a:r>
              <a:endParaRPr b="0" sz="975">
                <a:solidFill>
                  <a:srgbClr val="0F172A"/>
                </a:solidFill>
                <a:latin typeface="Fira Code Medium"/>
                <a:ea typeface="Fira Code Medium"/>
                <a:cs typeface="Fira Code Medium"/>
                <a:sym typeface="Fira Code Medium"/>
              </a:endParaRPr>
            </a:p>
          </p:txBody>
        </p:sp>
      </p:grp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30" name="Shape 4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31" name="Google Shape;431;p30"/>
          <p:cNvGrpSpPr/>
          <p:nvPr/>
        </p:nvGrpSpPr>
        <p:grpSpPr>
          <a:xfrm>
            <a:off x="0" y="0"/>
            <a:ext cx="9144000" cy="5143500"/>
            <a:chOff x="0" y="0"/>
            <a:chExt cx="9144000" cy="5143500"/>
          </a:xfrm>
        </p:grpSpPr>
        <p:sp>
          <p:nvSpPr>
            <p:cNvPr id="432" name="Google Shape;432;p30"/>
            <p:cNvSpPr/>
            <p:nvPr/>
          </p:nvSpPr>
          <p:spPr>
            <a:xfrm>
              <a:off x="0" y="0"/>
              <a:ext cx="9144000" cy="5143500"/>
            </a:xfrm>
            <a:prstGeom prst="rect">
              <a:avLst/>
            </a:prstGeom>
            <a:solidFill>
              <a:srgbClr val="F8FAFC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33" name="Google Shape;433;p30"/>
            <p:cNvSpPr/>
            <p:nvPr/>
          </p:nvSpPr>
          <p:spPr>
            <a:xfrm>
              <a:off x="590550" y="400050"/>
              <a:ext cx="190500" cy="190500"/>
            </a:xfrm>
            <a:custGeom>
              <a:rect b="b" l="l" r="r" t="t"/>
              <a:pathLst>
                <a:path extrusionOk="0" h="120000" w="120000">
                  <a:moveTo>
                    <a:pt x="60000" y="0"/>
                  </a:moveTo>
                  <a:cubicBezTo>
                    <a:pt x="26880" y="0"/>
                    <a:pt x="0" y="26880"/>
                    <a:pt x="0" y="60000"/>
                  </a:cubicBezTo>
                  <a:lnTo>
                    <a:pt x="26880" y="120000"/>
                  </a:lnTo>
                  <a:lnTo>
                    <a:pt x="60000" y="120000"/>
                  </a:lnTo>
                  <a:lnTo>
                    <a:pt x="120000" y="93120"/>
                  </a:lnTo>
                  <a:lnTo>
                    <a:pt x="120000" y="60000"/>
                  </a:lnTo>
                  <a:lnTo>
                    <a:pt x="93120" y="0"/>
                  </a:lnTo>
                  <a:lnTo>
                    <a:pt x="60000" y="0"/>
                  </a:lnTo>
                  <a:close/>
                  <a:moveTo>
                    <a:pt x="60000" y="108000"/>
                  </a:moveTo>
                  <a:cubicBezTo>
                    <a:pt x="33540" y="108000"/>
                    <a:pt x="12000" y="86460"/>
                    <a:pt x="12000" y="60000"/>
                  </a:cubicBezTo>
                  <a:lnTo>
                    <a:pt x="33540" y="12000"/>
                  </a:lnTo>
                  <a:lnTo>
                    <a:pt x="60000" y="12000"/>
                  </a:lnTo>
                  <a:lnTo>
                    <a:pt x="108000" y="33540"/>
                  </a:lnTo>
                  <a:lnTo>
                    <a:pt x="108000" y="60000"/>
                  </a:lnTo>
                  <a:lnTo>
                    <a:pt x="86460" y="108000"/>
                  </a:lnTo>
                  <a:lnTo>
                    <a:pt x="60000" y="108000"/>
                  </a:lnTo>
                  <a:close/>
                  <a:moveTo>
                    <a:pt x="54000" y="30000"/>
                  </a:moveTo>
                  <a:lnTo>
                    <a:pt x="66000" y="30000"/>
                  </a:lnTo>
                  <a:lnTo>
                    <a:pt x="66000" y="66000"/>
                  </a:lnTo>
                  <a:lnTo>
                    <a:pt x="54000" y="66000"/>
                  </a:lnTo>
                  <a:close/>
                  <a:moveTo>
                    <a:pt x="54000" y="78000"/>
                  </a:moveTo>
                  <a:lnTo>
                    <a:pt x="66000" y="78000"/>
                  </a:lnTo>
                  <a:lnTo>
                    <a:pt x="66000" y="90000"/>
                  </a:lnTo>
                  <a:lnTo>
                    <a:pt x="54000" y="90000"/>
                  </a:lnTo>
                  <a:close/>
                </a:path>
              </a:pathLst>
            </a:custGeom>
            <a:solidFill>
              <a:srgbClr val="2563EB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34" name="Google Shape;434;p30"/>
            <p:cNvSpPr txBox="1"/>
            <p:nvPr/>
          </p:nvSpPr>
          <p:spPr>
            <a:xfrm>
              <a:off x="914400" y="400050"/>
              <a:ext cx="7086600" cy="2286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lang="en" sz="900">
                  <a:solidFill>
                    <a:srgbClr val="475569"/>
                  </a:solidFill>
                  <a:latin typeface="Inter SemiBold"/>
                  <a:ea typeface="Inter SemiBold"/>
                  <a:cs typeface="Inter SemiBold"/>
                  <a:sym typeface="Inter SemiBold"/>
                </a:rPr>
                <a:t>MODULE 2: IMPLEMENTATION</a:t>
              </a:r>
              <a:endParaRPr b="0" sz="900">
                <a:solidFill>
                  <a:srgbClr val="475569"/>
                </a:solidFill>
                <a:latin typeface="Inter SemiBold"/>
                <a:ea typeface="Inter SemiBold"/>
                <a:cs typeface="Inter SemiBold"/>
                <a:sym typeface="Inter SemiBold"/>
              </a:endParaRPr>
            </a:p>
          </p:txBody>
        </p:sp>
      </p:grpSp>
      <p:sp>
        <p:nvSpPr>
          <p:cNvPr id="435" name="Google Shape;435;p30"/>
          <p:cNvSpPr txBox="1"/>
          <p:nvPr/>
        </p:nvSpPr>
        <p:spPr>
          <a:xfrm>
            <a:off x="571500" y="762000"/>
            <a:ext cx="8001000" cy="666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100">
                <a:solidFill>
                  <a:srgbClr val="0F172A"/>
                </a:solidFill>
                <a:latin typeface="Inter"/>
                <a:ea typeface="Inter"/>
                <a:cs typeface="Inter"/>
                <a:sym typeface="Inter"/>
              </a:rPr>
              <a:t>Syntax Example: The Complete Script</a:t>
            </a:r>
            <a:endParaRPr b="1" sz="2100">
              <a:solidFill>
                <a:srgbClr val="0F172A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0" lvl="0" marL="0" rtl="0" algn="l">
              <a:spcBef>
                <a:spcPts val="450"/>
              </a:spcBef>
              <a:spcAft>
                <a:spcPts val="0"/>
              </a:spcAft>
              <a:buNone/>
            </a:pPr>
            <a:r>
              <a:rPr b="0" lang="en" sz="1350">
                <a:solidFill>
                  <a:srgbClr val="2563EB"/>
                </a:solidFill>
                <a:latin typeface="Inter Medium"/>
                <a:ea typeface="Inter Medium"/>
                <a:cs typeface="Inter Medium"/>
                <a:sym typeface="Inter Medium"/>
              </a:rPr>
              <a:t>Demonstrating a standard reset and build pattern for relational schemas.</a:t>
            </a:r>
            <a:endParaRPr b="0" sz="1350">
              <a:solidFill>
                <a:srgbClr val="2563EB"/>
              </a:solidFill>
              <a:latin typeface="Inter Medium"/>
              <a:ea typeface="Inter Medium"/>
              <a:cs typeface="Inter Medium"/>
              <a:sym typeface="Inter Medium"/>
            </a:endParaRPr>
          </a:p>
        </p:txBody>
      </p:sp>
      <p:grpSp>
        <p:nvGrpSpPr>
          <p:cNvPr id="436" name="Google Shape;436;p30"/>
          <p:cNvGrpSpPr/>
          <p:nvPr/>
        </p:nvGrpSpPr>
        <p:grpSpPr>
          <a:xfrm>
            <a:off x="571500" y="1476375"/>
            <a:ext cx="8001000" cy="571500"/>
            <a:chOff x="0" y="0"/>
            <a:chExt cx="8001000" cy="571500"/>
          </a:xfrm>
        </p:grpSpPr>
        <p:sp>
          <p:nvSpPr>
            <p:cNvPr id="437" name="Google Shape;437;p30"/>
            <p:cNvSpPr/>
            <p:nvPr/>
          </p:nvSpPr>
          <p:spPr>
            <a:xfrm>
              <a:off x="0" y="0"/>
              <a:ext cx="8001000" cy="571500"/>
            </a:xfrm>
            <a:prstGeom prst="roundRect">
              <a:avLst>
                <a:gd fmla="val 10000" name="adj"/>
              </a:avLst>
            </a:prstGeom>
            <a:solidFill>
              <a:srgbClr val="F0F9FF"/>
            </a:solidFill>
            <a:ln cap="flat" cmpd="sng" w="9525">
              <a:solidFill>
                <a:srgbClr val="BAE6FD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38" name="Google Shape;438;p30"/>
            <p:cNvSpPr/>
            <p:nvPr/>
          </p:nvSpPr>
          <p:spPr>
            <a:xfrm>
              <a:off x="0" y="0"/>
              <a:ext cx="57300" cy="571500"/>
            </a:xfrm>
            <a:custGeom>
              <a:rect b="b" l="l" r="r" t="t"/>
              <a:pathLst>
                <a:path extrusionOk="0" h="120000" w="120000">
                  <a:moveTo>
                    <a:pt x="0" y="12000"/>
                  </a:moveTo>
                  <a:quadBezTo>
                    <a:pt x="0" y="0"/>
                    <a:pt x="120000" y="0"/>
                  </a:quadBezTo>
                  <a:lnTo>
                    <a:pt x="120000" y="120000"/>
                  </a:lnTo>
                  <a:lnTo>
                    <a:pt x="120000" y="120000"/>
                  </a:lnTo>
                  <a:quadBezTo>
                    <a:pt x="0" y="120000"/>
                    <a:pt x="0" y="108000"/>
                  </a:quadBezTo>
                  <a:close/>
                </a:path>
              </a:pathLst>
            </a:custGeom>
            <a:solidFill>
              <a:srgbClr val="2563EB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39" name="Google Shape;439;p30"/>
            <p:cNvSpPr txBox="1"/>
            <p:nvPr/>
          </p:nvSpPr>
          <p:spPr>
            <a:xfrm>
              <a:off x="190500" y="95250"/>
              <a:ext cx="7620000" cy="381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" sz="1050">
                  <a:solidFill>
                    <a:srgbClr val="1E293B"/>
                  </a:solidFill>
                  <a:latin typeface="Inter"/>
                  <a:ea typeface="Inter"/>
                  <a:cs typeface="Inter"/>
                  <a:sym typeface="Inter"/>
                </a:rPr>
                <a:t>Execution Strategy:</a:t>
              </a:r>
              <a:r>
                <a:rPr b="0" lang="en" sz="1050">
                  <a:solidFill>
                    <a:srgbClr val="1E293B"/>
                  </a:solidFill>
                  <a:latin typeface="Inter"/>
                  <a:ea typeface="Inter"/>
                  <a:cs typeface="Inter"/>
                  <a:sym typeface="Inter"/>
                </a:rPr>
                <a:t> The script begins with safety checks (</a:t>
              </a:r>
              <a:r>
                <a:rPr b="0" lang="en" sz="975">
                  <a:solidFill>
                    <a:srgbClr val="2563EB"/>
                  </a:solidFill>
                  <a:latin typeface="Fira Code Medium"/>
                  <a:ea typeface="Fira Code Medium"/>
                  <a:cs typeface="Fira Code Medium"/>
                  <a:sym typeface="Fira Code Medium"/>
                </a:rPr>
                <a:t>DROP TABLE IF EXISTS</a:t>
              </a:r>
              <a:r>
                <a:rPr b="0" lang="en" sz="1050">
                  <a:solidFill>
                    <a:srgbClr val="1E293B"/>
                  </a:solidFill>
                  <a:latin typeface="Inter"/>
                  <a:ea typeface="Inter"/>
                  <a:cs typeface="Inter"/>
                  <a:sym typeface="Inter"/>
                </a:rPr>
                <a:t>) to remove existing child and parent entities, followed by the </a:t>
              </a:r>
              <a:r>
                <a:rPr b="0" lang="en" sz="975">
                  <a:solidFill>
                    <a:srgbClr val="2563EB"/>
                  </a:solidFill>
                  <a:latin typeface="Fira Code Medium"/>
                  <a:ea typeface="Fira Code Medium"/>
                  <a:cs typeface="Fira Code Medium"/>
                  <a:sym typeface="Fira Code Medium"/>
                </a:rPr>
                <a:t>CREATE TABLE</a:t>
              </a:r>
              <a:r>
                <a:rPr b="0" lang="en" sz="1050">
                  <a:solidFill>
                    <a:srgbClr val="1E293B"/>
                  </a:solidFill>
                  <a:latin typeface="Inter"/>
                  <a:ea typeface="Inter"/>
                  <a:cs typeface="Inter"/>
                  <a:sym typeface="Inter"/>
                </a:rPr>
                <a:t> statement to construct the parent table structure.</a:t>
              </a:r>
              <a:endParaRPr b="0" sz="1050">
                <a:solidFill>
                  <a:srgbClr val="1E293B"/>
                </a:solidFill>
                <a:latin typeface="Inter"/>
                <a:ea typeface="Inter"/>
                <a:cs typeface="Inter"/>
                <a:sym typeface="Inter"/>
              </a:endParaRPr>
            </a:p>
          </p:txBody>
        </p:sp>
      </p:grpSp>
      <p:grpSp>
        <p:nvGrpSpPr>
          <p:cNvPr id="440" name="Google Shape;440;p30"/>
          <p:cNvGrpSpPr/>
          <p:nvPr/>
        </p:nvGrpSpPr>
        <p:grpSpPr>
          <a:xfrm>
            <a:off x="571500" y="2190750"/>
            <a:ext cx="8001000" cy="2476500"/>
            <a:chOff x="0" y="0"/>
            <a:chExt cx="8001000" cy="2476500"/>
          </a:xfrm>
        </p:grpSpPr>
        <p:sp>
          <p:nvSpPr>
            <p:cNvPr id="441" name="Google Shape;441;p30"/>
            <p:cNvSpPr/>
            <p:nvPr/>
          </p:nvSpPr>
          <p:spPr>
            <a:xfrm>
              <a:off x="0" y="0"/>
              <a:ext cx="8001000" cy="2476500"/>
            </a:xfrm>
            <a:prstGeom prst="roundRect">
              <a:avLst>
                <a:gd fmla="val 3076" name="adj"/>
              </a:avLst>
            </a:prstGeom>
            <a:solidFill>
              <a:srgbClr val="FFFFFF"/>
            </a:solidFill>
            <a:ln cap="flat" cmpd="sng" w="9525">
              <a:solidFill>
                <a:srgbClr val="E2E8F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42" name="Google Shape;442;p30"/>
            <p:cNvSpPr/>
            <p:nvPr/>
          </p:nvSpPr>
          <p:spPr>
            <a:xfrm>
              <a:off x="0" y="0"/>
              <a:ext cx="8001000" cy="342900"/>
            </a:xfrm>
            <a:prstGeom prst="roundRect">
              <a:avLst>
                <a:gd fmla="val 22222" name="adj"/>
              </a:avLst>
            </a:prstGeom>
            <a:solidFill>
              <a:srgbClr val="F1F5F9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43" name="Google Shape;443;p30"/>
            <p:cNvSpPr/>
            <p:nvPr/>
          </p:nvSpPr>
          <p:spPr>
            <a:xfrm>
              <a:off x="0" y="266700"/>
              <a:ext cx="8001000" cy="76200"/>
            </a:xfrm>
            <a:prstGeom prst="rect">
              <a:avLst/>
            </a:prstGeom>
            <a:solidFill>
              <a:srgbClr val="F1F5F9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cxnSp>
          <p:nvCxnSpPr>
            <p:cNvPr id="444" name="Google Shape;444;p30"/>
            <p:cNvCxnSpPr/>
            <p:nvPr/>
          </p:nvCxnSpPr>
          <p:spPr>
            <a:xfrm>
              <a:off x="0" y="342900"/>
              <a:ext cx="8001000" cy="0"/>
            </a:xfrm>
            <a:prstGeom prst="straightConnector1">
              <a:avLst/>
            </a:prstGeom>
            <a:solidFill>
              <a:srgbClr val="FFFFFF"/>
            </a:solidFill>
            <a:ln cap="flat" cmpd="sng" w="9525">
              <a:solidFill>
                <a:srgbClr val="E2E8F0"/>
              </a:solidFill>
              <a:prstDash val="solid"/>
              <a:round/>
              <a:headEnd len="sm" w="sm" type="none"/>
              <a:tailEnd len="sm" w="sm" type="none"/>
            </a:ln>
          </p:spPr>
        </p:cxnSp>
        <p:sp>
          <p:nvSpPr>
            <p:cNvPr id="445" name="Google Shape;445;p30"/>
            <p:cNvSpPr txBox="1"/>
            <p:nvPr/>
          </p:nvSpPr>
          <p:spPr>
            <a:xfrm>
              <a:off x="190500" y="76200"/>
              <a:ext cx="3810000" cy="1905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lang="en" sz="825">
                  <a:solidFill>
                    <a:srgbClr val="64748B"/>
                  </a:solidFill>
                  <a:latin typeface="Inter SemiBold"/>
                  <a:ea typeface="Inter SemiBold"/>
                  <a:cs typeface="Inter SemiBold"/>
                  <a:sym typeface="Inter SemiBold"/>
                </a:rPr>
                <a:t>SQL SCHEMA SCRIPT (reset_and_build.sql)</a:t>
              </a:r>
              <a:endParaRPr/>
            </a:p>
          </p:txBody>
        </p:sp>
        <p:sp>
          <p:nvSpPr>
            <p:cNvPr id="446" name="Google Shape;446;p30"/>
            <p:cNvSpPr/>
            <p:nvPr/>
          </p:nvSpPr>
          <p:spPr>
            <a:xfrm>
              <a:off x="0" y="342900"/>
              <a:ext cx="38100" cy="2133600"/>
            </a:xfrm>
            <a:prstGeom prst="rect">
              <a:avLst/>
            </a:prstGeom>
            <a:solidFill>
              <a:srgbClr val="2563EB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47" name="Google Shape;447;p30"/>
            <p:cNvSpPr txBox="1"/>
            <p:nvPr/>
          </p:nvSpPr>
          <p:spPr>
            <a:xfrm>
              <a:off x="228600" y="495300"/>
              <a:ext cx="7543800" cy="18288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i="1" lang="en" sz="902">
                  <a:solidFill>
                    <a:srgbClr val="64748B"/>
                  </a:solidFill>
                  <a:latin typeface="Fira Code Medium"/>
                  <a:ea typeface="Fira Code Medium"/>
                  <a:cs typeface="Fira Code Medium"/>
                  <a:sym typeface="Fira Code Medium"/>
                </a:rPr>
                <a:t>-- Step 1: Safety checks (Drop existing entities in reverse dependency order)</a:t>
              </a:r>
              <a:endParaRPr b="0" sz="902">
                <a:solidFill>
                  <a:srgbClr val="0F172A"/>
                </a:solidFill>
                <a:latin typeface="Fira Code Medium"/>
                <a:ea typeface="Fira Code Medium"/>
                <a:cs typeface="Fira Code Medium"/>
                <a:sym typeface="Fira Code Medium"/>
              </a:endParaRPr>
            </a:p>
            <a:p>
              <a:pPr indent="0" lvl="0" marL="0" rtl="0" algn="l">
                <a:spcBef>
                  <a:spcPts val="900"/>
                </a:spcBef>
                <a:spcAft>
                  <a:spcPts val="0"/>
                </a:spcAft>
                <a:buNone/>
              </a:pPr>
              <a:r>
                <a:rPr b="1" lang="en" sz="902">
                  <a:solidFill>
                    <a:srgbClr val="2563EB"/>
                  </a:solidFill>
                  <a:latin typeface="Fira Code"/>
                  <a:ea typeface="Fira Code"/>
                  <a:cs typeface="Fira Code"/>
                  <a:sym typeface="Fira Code"/>
                </a:rPr>
                <a:t>DROP TABLE IF EXISTS</a:t>
              </a:r>
              <a:r>
                <a:rPr b="0" lang="en" sz="902">
                  <a:solidFill>
                    <a:srgbClr val="0F172A"/>
                  </a:solidFill>
                  <a:latin typeface="Fira Code Medium"/>
                  <a:ea typeface="Fira Code Medium"/>
                  <a:cs typeface="Fira Code Medium"/>
                  <a:sym typeface="Fira Code Medium"/>
                </a:rPr>
                <a:t> Posts;</a:t>
              </a:r>
              <a:endParaRPr b="0" sz="902">
                <a:solidFill>
                  <a:srgbClr val="0F172A"/>
                </a:solidFill>
                <a:latin typeface="Fira Code Medium"/>
                <a:ea typeface="Fira Code Medium"/>
                <a:cs typeface="Fira Code Medium"/>
                <a:sym typeface="Fira Code Medium"/>
              </a:endParaRPr>
            </a:p>
            <a:p>
              <a:pPr indent="0" lvl="0" marL="0" rtl="0" algn="l">
                <a:spcBef>
                  <a:spcPts val="450"/>
                </a:spcBef>
                <a:spcAft>
                  <a:spcPts val="0"/>
                </a:spcAft>
                <a:buNone/>
              </a:pPr>
              <a:r>
                <a:rPr b="1" lang="en" sz="902">
                  <a:solidFill>
                    <a:srgbClr val="2563EB"/>
                  </a:solidFill>
                  <a:latin typeface="Fira Code"/>
                  <a:ea typeface="Fira Code"/>
                  <a:cs typeface="Fira Code"/>
                  <a:sym typeface="Fira Code"/>
                </a:rPr>
                <a:t>DROP TABLE IF EXISTS</a:t>
              </a:r>
              <a:r>
                <a:rPr b="0" lang="en" sz="902">
                  <a:solidFill>
                    <a:srgbClr val="0F172A"/>
                  </a:solidFill>
                  <a:latin typeface="Fira Code Medium"/>
                  <a:ea typeface="Fira Code Medium"/>
                  <a:cs typeface="Fira Code Medium"/>
                  <a:sym typeface="Fira Code Medium"/>
                </a:rPr>
                <a:t> Users;</a:t>
              </a:r>
              <a:endParaRPr b="0" sz="902">
                <a:solidFill>
                  <a:srgbClr val="0F172A"/>
                </a:solidFill>
                <a:latin typeface="Fira Code Medium"/>
                <a:ea typeface="Fira Code Medium"/>
                <a:cs typeface="Fira Code Medium"/>
                <a:sym typeface="Fira Code Medium"/>
              </a:endParaRPr>
            </a:p>
            <a:p>
              <a:pPr indent="0" lvl="0" marL="0" rtl="0" algn="l">
                <a:spcBef>
                  <a:spcPts val="1500"/>
                </a:spcBef>
                <a:spcAft>
                  <a:spcPts val="0"/>
                </a:spcAft>
                <a:buNone/>
              </a:pPr>
              <a:r>
                <a:rPr b="0" i="1" lang="en" sz="902">
                  <a:solidFill>
                    <a:srgbClr val="64748B"/>
                  </a:solidFill>
                  <a:latin typeface="Fira Code Medium"/>
                  <a:ea typeface="Fira Code Medium"/>
                  <a:cs typeface="Fira Code Medium"/>
                  <a:sym typeface="Fira Code Medium"/>
                </a:rPr>
                <a:t>-- Step 2: Construct the parent entity</a:t>
              </a:r>
              <a:endParaRPr b="0" sz="902">
                <a:solidFill>
                  <a:srgbClr val="0F172A"/>
                </a:solidFill>
                <a:latin typeface="Fira Code Medium"/>
                <a:ea typeface="Fira Code Medium"/>
                <a:cs typeface="Fira Code Medium"/>
                <a:sym typeface="Fira Code Medium"/>
              </a:endParaRPr>
            </a:p>
            <a:p>
              <a:pPr indent="0" lvl="0" marL="0" rtl="0" algn="l">
                <a:spcBef>
                  <a:spcPts val="900"/>
                </a:spcBef>
                <a:spcAft>
                  <a:spcPts val="0"/>
                </a:spcAft>
                <a:buNone/>
              </a:pPr>
              <a:r>
                <a:rPr b="1" lang="en" sz="902">
                  <a:solidFill>
                    <a:srgbClr val="2563EB"/>
                  </a:solidFill>
                  <a:latin typeface="Fira Code"/>
                  <a:ea typeface="Fira Code"/>
                  <a:cs typeface="Fira Code"/>
                  <a:sym typeface="Fira Code"/>
                </a:rPr>
                <a:t>CREATE TABLE</a:t>
              </a:r>
              <a:r>
                <a:rPr b="0" lang="en" sz="902">
                  <a:solidFill>
                    <a:srgbClr val="0F172A"/>
                  </a:solidFill>
                  <a:latin typeface="Fira Code Medium"/>
                  <a:ea typeface="Fira Code Medium"/>
                  <a:cs typeface="Fira Code Medium"/>
                  <a:sym typeface="Fira Code Medium"/>
                </a:rPr>
                <a:t> Users (</a:t>
              </a:r>
              <a:endParaRPr b="0" sz="902">
                <a:solidFill>
                  <a:srgbClr val="0F172A"/>
                </a:solidFill>
                <a:latin typeface="Fira Code Medium"/>
                <a:ea typeface="Fira Code Medium"/>
                <a:cs typeface="Fira Code Medium"/>
                <a:sym typeface="Fira Code Medium"/>
              </a:endParaRPr>
            </a:p>
            <a:p>
              <a:pPr indent="0" lvl="0" marL="0" rtl="0" algn="l">
                <a:spcBef>
                  <a:spcPts val="450"/>
                </a:spcBef>
                <a:spcAft>
                  <a:spcPts val="0"/>
                </a:spcAft>
                <a:buNone/>
              </a:pPr>
              <a:r>
                <a:rPr b="0" lang="en" sz="902">
                  <a:solidFill>
                    <a:srgbClr val="0F172A"/>
                  </a:solidFill>
                  <a:latin typeface="Fira Code Medium"/>
                  <a:ea typeface="Fira Code Medium"/>
                  <a:cs typeface="Fira Code Medium"/>
                  <a:sym typeface="Fira Code Medium"/>
                </a:rPr>
                <a:t>UserID </a:t>
              </a:r>
              <a:r>
                <a:rPr b="0" lang="en" sz="902">
                  <a:solidFill>
                    <a:srgbClr val="7C3AED"/>
                  </a:solidFill>
                  <a:latin typeface="Fira Code SemiBold"/>
                  <a:ea typeface="Fira Code SemiBold"/>
                  <a:cs typeface="Fira Code SemiBold"/>
                  <a:sym typeface="Fira Code SemiBold"/>
                </a:rPr>
                <a:t>INT</a:t>
              </a:r>
              <a:r>
                <a:rPr b="0" lang="en" sz="902">
                  <a:solidFill>
                    <a:srgbClr val="0F172A"/>
                  </a:solidFill>
                  <a:latin typeface="Fira Code Medium"/>
                  <a:ea typeface="Fira Code Medium"/>
                  <a:cs typeface="Fira Code Medium"/>
                  <a:sym typeface="Fira Code Medium"/>
                </a:rPr>
                <a:t> </a:t>
              </a:r>
              <a:r>
                <a:rPr b="1" lang="en" sz="902">
                  <a:solidFill>
                    <a:srgbClr val="2563EB"/>
                  </a:solidFill>
                  <a:latin typeface="Fira Code"/>
                  <a:ea typeface="Fira Code"/>
                  <a:cs typeface="Fira Code"/>
                  <a:sym typeface="Fira Code"/>
                </a:rPr>
                <a:t>PRIMARY KEY</a:t>
              </a:r>
              <a:r>
                <a:rPr b="0" lang="en" sz="902">
                  <a:solidFill>
                    <a:srgbClr val="0F172A"/>
                  </a:solidFill>
                  <a:latin typeface="Fira Code Medium"/>
                  <a:ea typeface="Fira Code Medium"/>
                  <a:cs typeface="Fira Code Medium"/>
                  <a:sym typeface="Fira Code Medium"/>
                </a:rPr>
                <a:t>,</a:t>
              </a:r>
              <a:endParaRPr b="0" sz="902">
                <a:solidFill>
                  <a:srgbClr val="0F172A"/>
                </a:solidFill>
                <a:latin typeface="Fira Code Medium"/>
                <a:ea typeface="Fira Code Medium"/>
                <a:cs typeface="Fira Code Medium"/>
                <a:sym typeface="Fira Code Medium"/>
              </a:endParaRPr>
            </a:p>
            <a:p>
              <a:pPr indent="0" lvl="0" marL="0" rtl="0" algn="l">
                <a:spcBef>
                  <a:spcPts val="450"/>
                </a:spcBef>
                <a:spcAft>
                  <a:spcPts val="0"/>
                </a:spcAft>
                <a:buNone/>
              </a:pPr>
              <a:r>
                <a:rPr b="0" lang="en" sz="902">
                  <a:solidFill>
                    <a:srgbClr val="0F172A"/>
                  </a:solidFill>
                  <a:latin typeface="Fira Code Medium"/>
                  <a:ea typeface="Fira Code Medium"/>
                  <a:cs typeface="Fira Code Medium"/>
                  <a:sym typeface="Fira Code Medium"/>
                </a:rPr>
                <a:t>Username </a:t>
              </a:r>
              <a:r>
                <a:rPr b="0" lang="en" sz="902">
                  <a:solidFill>
                    <a:srgbClr val="7C3AED"/>
                  </a:solidFill>
                  <a:latin typeface="Fira Code SemiBold"/>
                  <a:ea typeface="Fira Code SemiBold"/>
                  <a:cs typeface="Fira Code SemiBold"/>
                  <a:sym typeface="Fira Code SemiBold"/>
                </a:rPr>
                <a:t>VARCHAR</a:t>
              </a:r>
              <a:r>
                <a:rPr b="0" lang="en" sz="902">
                  <a:solidFill>
                    <a:srgbClr val="0F172A"/>
                  </a:solidFill>
                  <a:latin typeface="Fira Code Medium"/>
                  <a:ea typeface="Fira Code Medium"/>
                  <a:cs typeface="Fira Code Medium"/>
                  <a:sym typeface="Fira Code Medium"/>
                </a:rPr>
                <a:t>(50) </a:t>
              </a:r>
              <a:r>
                <a:rPr b="1" lang="en" sz="902">
                  <a:solidFill>
                    <a:srgbClr val="2563EB"/>
                  </a:solidFill>
                  <a:latin typeface="Fira Code"/>
                  <a:ea typeface="Fira Code"/>
                  <a:cs typeface="Fira Code"/>
                  <a:sym typeface="Fira Code"/>
                </a:rPr>
                <a:t>NOT NULL UNIQUE</a:t>
              </a:r>
              <a:endParaRPr b="0" sz="902">
                <a:solidFill>
                  <a:srgbClr val="0F172A"/>
                </a:solidFill>
                <a:latin typeface="Fira Code Medium"/>
                <a:ea typeface="Fira Code Medium"/>
                <a:cs typeface="Fira Code Medium"/>
                <a:sym typeface="Fira Code Medium"/>
              </a:endParaRPr>
            </a:p>
            <a:p>
              <a:pPr indent="0" lvl="0" marL="0" rtl="0" algn="l">
                <a:spcBef>
                  <a:spcPts val="450"/>
                </a:spcBef>
                <a:spcAft>
                  <a:spcPts val="0"/>
                </a:spcAft>
                <a:buNone/>
              </a:pPr>
              <a:r>
                <a:rPr b="0" lang="en" sz="902">
                  <a:solidFill>
                    <a:srgbClr val="0F172A"/>
                  </a:solidFill>
                  <a:latin typeface="Fira Code Medium"/>
                  <a:ea typeface="Fira Code Medium"/>
                  <a:cs typeface="Fira Code Medium"/>
                  <a:sym typeface="Fira Code Medium"/>
                </a:rPr>
                <a:t>);</a:t>
              </a:r>
              <a:endParaRPr b="0" sz="902">
                <a:solidFill>
                  <a:srgbClr val="0F172A"/>
                </a:solidFill>
                <a:latin typeface="Fira Code Medium"/>
                <a:ea typeface="Fira Code Medium"/>
                <a:cs typeface="Fira Code Medium"/>
                <a:sym typeface="Fira Code Medium"/>
              </a:endParaRPr>
            </a:p>
          </p:txBody>
        </p:sp>
      </p:grp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51" name="Shape 4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2" name="Google Shape;452;p3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53" name="Google Shape;453;p31"/>
          <p:cNvSpPr/>
          <p:nvPr/>
        </p:nvSpPr>
        <p:spPr>
          <a:xfrm>
            <a:off x="590550" y="361950"/>
            <a:ext cx="190500" cy="190500"/>
          </a:xfrm>
          <a:custGeom>
            <a:rect b="b" l="l" r="r" t="t"/>
            <a:pathLst>
              <a:path extrusionOk="0" h="120000" w="120000">
                <a:moveTo>
                  <a:pt x="60000" y="0"/>
                </a:moveTo>
                <a:cubicBezTo>
                  <a:pt x="26880" y="0"/>
                  <a:pt x="0" y="26880"/>
                  <a:pt x="0" y="60000"/>
                </a:cubicBezTo>
                <a:lnTo>
                  <a:pt x="26880" y="120000"/>
                </a:lnTo>
                <a:lnTo>
                  <a:pt x="60000" y="120000"/>
                </a:lnTo>
                <a:lnTo>
                  <a:pt x="120000" y="93120"/>
                </a:lnTo>
                <a:lnTo>
                  <a:pt x="120000" y="60000"/>
                </a:lnTo>
                <a:lnTo>
                  <a:pt x="93120" y="0"/>
                </a:lnTo>
                <a:lnTo>
                  <a:pt x="60000" y="0"/>
                </a:lnTo>
                <a:close/>
                <a:moveTo>
                  <a:pt x="60000" y="108000"/>
                </a:moveTo>
                <a:cubicBezTo>
                  <a:pt x="33540" y="108000"/>
                  <a:pt x="12000" y="86460"/>
                  <a:pt x="12000" y="60000"/>
                </a:cubicBezTo>
                <a:lnTo>
                  <a:pt x="33540" y="12000"/>
                </a:lnTo>
                <a:lnTo>
                  <a:pt x="60000" y="12000"/>
                </a:lnTo>
                <a:lnTo>
                  <a:pt x="108000" y="33540"/>
                </a:lnTo>
                <a:lnTo>
                  <a:pt x="108000" y="60000"/>
                </a:lnTo>
                <a:lnTo>
                  <a:pt x="86460" y="108000"/>
                </a:lnTo>
                <a:lnTo>
                  <a:pt x="60000" y="108000"/>
                </a:lnTo>
                <a:close/>
                <a:moveTo>
                  <a:pt x="54000" y="30000"/>
                </a:moveTo>
                <a:lnTo>
                  <a:pt x="66000" y="30000"/>
                </a:lnTo>
                <a:lnTo>
                  <a:pt x="66000" y="66000"/>
                </a:lnTo>
                <a:lnTo>
                  <a:pt x="54000" y="66000"/>
                </a:lnTo>
                <a:close/>
                <a:moveTo>
                  <a:pt x="54000" y="78000"/>
                </a:moveTo>
                <a:lnTo>
                  <a:pt x="66000" y="78000"/>
                </a:lnTo>
                <a:lnTo>
                  <a:pt x="66000" y="90000"/>
                </a:lnTo>
                <a:lnTo>
                  <a:pt x="54000" y="90000"/>
                </a:lnTo>
                <a:close/>
              </a:path>
            </a:pathLst>
          </a:custGeom>
          <a:solidFill>
            <a:srgbClr val="2563EB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54" name="Google Shape;454;p31"/>
          <p:cNvSpPr txBox="1"/>
          <p:nvPr/>
        </p:nvSpPr>
        <p:spPr>
          <a:xfrm>
            <a:off x="914400" y="342900"/>
            <a:ext cx="76581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" sz="900">
                <a:solidFill>
                  <a:srgbClr val="475569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MODULE 2: IMPLEMENTATION</a:t>
            </a:r>
            <a:endParaRPr b="0" sz="900">
              <a:solidFill>
                <a:srgbClr val="475569"/>
              </a:solidFill>
              <a:latin typeface="Inter SemiBold"/>
              <a:ea typeface="Inter SemiBold"/>
              <a:cs typeface="Inter SemiBold"/>
              <a:sym typeface="Inter SemiBold"/>
            </a:endParaRPr>
          </a:p>
        </p:txBody>
      </p:sp>
      <p:sp>
        <p:nvSpPr>
          <p:cNvPr id="455" name="Google Shape;455;p31"/>
          <p:cNvSpPr txBox="1"/>
          <p:nvPr/>
        </p:nvSpPr>
        <p:spPr>
          <a:xfrm>
            <a:off x="571500" y="762000"/>
            <a:ext cx="8001000" cy="619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100">
                <a:solidFill>
                  <a:srgbClr val="0F172A"/>
                </a:solidFill>
                <a:latin typeface="Inter"/>
                <a:ea typeface="Inter"/>
                <a:cs typeface="Inter"/>
                <a:sym typeface="Inter"/>
              </a:rPr>
              <a:t>Adding the Child Table</a:t>
            </a:r>
            <a:endParaRPr b="1" sz="2100">
              <a:solidFill>
                <a:srgbClr val="0F172A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0" lvl="0" marL="0" rtl="0" algn="l">
              <a:spcBef>
                <a:spcPts val="450"/>
              </a:spcBef>
              <a:spcAft>
                <a:spcPts val="0"/>
              </a:spcAft>
              <a:buNone/>
            </a:pPr>
            <a:r>
              <a:rPr b="0" lang="en" sz="1350">
                <a:solidFill>
                  <a:srgbClr val="2563EB"/>
                </a:solidFill>
                <a:latin typeface="Inter Medium"/>
                <a:ea typeface="Inter Medium"/>
                <a:cs typeface="Inter Medium"/>
                <a:sym typeface="Inter Medium"/>
              </a:rPr>
              <a:t>Establishing relational constraints referencing parent structures</a:t>
            </a:r>
            <a:endParaRPr b="0" sz="1350">
              <a:solidFill>
                <a:srgbClr val="2563EB"/>
              </a:solidFill>
              <a:latin typeface="Inter Medium"/>
              <a:ea typeface="Inter Medium"/>
              <a:cs typeface="Inter Medium"/>
              <a:sym typeface="Inter Medium"/>
            </a:endParaRPr>
          </a:p>
        </p:txBody>
      </p:sp>
      <p:sp>
        <p:nvSpPr>
          <p:cNvPr id="456" name="Google Shape;456;p31"/>
          <p:cNvSpPr txBox="1"/>
          <p:nvPr/>
        </p:nvSpPr>
        <p:spPr>
          <a:xfrm>
            <a:off x="571500" y="1476375"/>
            <a:ext cx="8001000" cy="333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" sz="1125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Adding the Child Table requires referencing the previously created parent structure.</a:t>
            </a:r>
            <a:endParaRPr b="0" sz="1125">
              <a:solidFill>
                <a:srgbClr val="475569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grpSp>
        <p:nvGrpSpPr>
          <p:cNvPr id="457" name="Google Shape;457;p31"/>
          <p:cNvGrpSpPr/>
          <p:nvPr/>
        </p:nvGrpSpPr>
        <p:grpSpPr>
          <a:xfrm>
            <a:off x="571500" y="1885950"/>
            <a:ext cx="8001000" cy="1905000"/>
            <a:chOff x="0" y="0"/>
            <a:chExt cx="8001000" cy="1905000"/>
          </a:xfrm>
        </p:grpSpPr>
        <p:sp>
          <p:nvSpPr>
            <p:cNvPr id="458" name="Google Shape;458;p31"/>
            <p:cNvSpPr/>
            <p:nvPr/>
          </p:nvSpPr>
          <p:spPr>
            <a:xfrm>
              <a:off x="0" y="0"/>
              <a:ext cx="8001000" cy="1905000"/>
            </a:xfrm>
            <a:prstGeom prst="roundRect">
              <a:avLst>
                <a:gd fmla="val 4000" name="adj"/>
              </a:avLst>
            </a:prstGeom>
            <a:solidFill>
              <a:srgbClr val="FFFFFF"/>
            </a:solidFill>
            <a:ln cap="flat" cmpd="sng" w="9525">
              <a:solidFill>
                <a:srgbClr val="E2E8F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59" name="Google Shape;459;p31"/>
            <p:cNvSpPr/>
            <p:nvPr/>
          </p:nvSpPr>
          <p:spPr>
            <a:xfrm>
              <a:off x="0" y="0"/>
              <a:ext cx="57300" cy="1905000"/>
            </a:xfrm>
            <a:prstGeom prst="roundRect">
              <a:avLst>
                <a:gd fmla="val 50000" name="adj"/>
              </a:avLst>
            </a:prstGeom>
            <a:solidFill>
              <a:srgbClr val="2563EB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60" name="Google Shape;460;p31"/>
            <p:cNvSpPr txBox="1"/>
            <p:nvPr/>
          </p:nvSpPr>
          <p:spPr>
            <a:xfrm>
              <a:off x="228600" y="152400"/>
              <a:ext cx="7543800" cy="1905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lang="en" sz="900">
                  <a:solidFill>
                    <a:srgbClr val="2563EB"/>
                  </a:solidFill>
                  <a:latin typeface="Inter SemiBold"/>
                  <a:ea typeface="Inter SemiBold"/>
                  <a:cs typeface="Inter SemiBold"/>
                  <a:sym typeface="Inter SemiBold"/>
                </a:rPr>
                <a:t>SQL SYNTAX</a:t>
              </a:r>
              <a:endParaRPr b="0" sz="900">
                <a:solidFill>
                  <a:srgbClr val="2563EB"/>
                </a:solidFill>
                <a:latin typeface="Inter SemiBold"/>
                <a:ea typeface="Inter SemiBold"/>
                <a:cs typeface="Inter SemiBold"/>
                <a:sym typeface="Inter SemiBold"/>
              </a:endParaRPr>
            </a:p>
          </p:txBody>
        </p:sp>
        <p:sp>
          <p:nvSpPr>
            <p:cNvPr id="461" name="Google Shape;461;p31"/>
            <p:cNvSpPr txBox="1"/>
            <p:nvPr/>
          </p:nvSpPr>
          <p:spPr>
            <a:xfrm>
              <a:off x="228600" y="419100"/>
              <a:ext cx="7543800" cy="13527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" sz="1050">
                  <a:solidFill>
                    <a:srgbClr val="2563EB"/>
                  </a:solidFill>
                  <a:latin typeface="Fira Code"/>
                  <a:ea typeface="Fira Code"/>
                  <a:cs typeface="Fira Code"/>
                  <a:sym typeface="Fira Code"/>
                </a:rPr>
                <a:t>CREATE TABLE</a:t>
              </a:r>
              <a:r>
                <a:rPr b="0" lang="en" sz="1050">
                  <a:solidFill>
                    <a:srgbClr val="0F172A"/>
                  </a:solidFill>
                  <a:latin typeface="Fira Code Medium"/>
                  <a:ea typeface="Fira Code Medium"/>
                  <a:cs typeface="Fira Code Medium"/>
                  <a:sym typeface="Fira Code Medium"/>
                </a:rPr>
                <a:t> Posts (</a:t>
              </a:r>
              <a:endParaRPr b="0" sz="1050">
                <a:solidFill>
                  <a:srgbClr val="0F172A"/>
                </a:solidFill>
                <a:latin typeface="Fira Code Medium"/>
                <a:ea typeface="Fira Code Medium"/>
                <a:cs typeface="Fira Code Medium"/>
                <a:sym typeface="Fira Code Medium"/>
              </a:endParaRPr>
            </a:p>
            <a:p>
              <a:pPr indent="0" lvl="0" marL="22860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lang="en" sz="1050">
                  <a:solidFill>
                    <a:srgbClr val="0F172A"/>
                  </a:solidFill>
                  <a:latin typeface="Fira Code Medium"/>
                  <a:ea typeface="Fira Code Medium"/>
                  <a:cs typeface="Fira Code Medium"/>
                  <a:sym typeface="Fira Code Medium"/>
                </a:rPr>
                <a:t>PostID </a:t>
              </a:r>
              <a:r>
                <a:rPr b="0" lang="en" sz="1050">
                  <a:solidFill>
                    <a:srgbClr val="0284C7"/>
                  </a:solidFill>
                  <a:latin typeface="Fira Code Medium"/>
                  <a:ea typeface="Fira Code Medium"/>
                  <a:cs typeface="Fira Code Medium"/>
                  <a:sym typeface="Fira Code Medium"/>
                </a:rPr>
                <a:t>INT</a:t>
              </a:r>
              <a:r>
                <a:rPr b="0" lang="en" sz="1050">
                  <a:solidFill>
                    <a:srgbClr val="0F172A"/>
                  </a:solidFill>
                  <a:latin typeface="Fira Code Medium"/>
                  <a:ea typeface="Fira Code Medium"/>
                  <a:cs typeface="Fira Code Medium"/>
                  <a:sym typeface="Fira Code Medium"/>
                </a:rPr>
                <a:t> </a:t>
              </a:r>
              <a:r>
                <a:rPr b="1" lang="en" sz="1050">
                  <a:solidFill>
                    <a:srgbClr val="2563EB"/>
                  </a:solidFill>
                  <a:latin typeface="Fira Code"/>
                  <a:ea typeface="Fira Code"/>
                  <a:cs typeface="Fira Code"/>
                  <a:sym typeface="Fira Code"/>
                </a:rPr>
                <a:t>PRIMARY KEY</a:t>
              </a:r>
              <a:r>
                <a:rPr b="0" lang="en" sz="1050">
                  <a:solidFill>
                    <a:srgbClr val="0F172A"/>
                  </a:solidFill>
                  <a:latin typeface="Fira Code Medium"/>
                  <a:ea typeface="Fira Code Medium"/>
                  <a:cs typeface="Fira Code Medium"/>
                  <a:sym typeface="Fira Code Medium"/>
                </a:rPr>
                <a:t>,</a:t>
              </a:r>
              <a:endParaRPr b="0" sz="1050">
                <a:solidFill>
                  <a:srgbClr val="0F172A"/>
                </a:solidFill>
                <a:latin typeface="Fira Code Medium"/>
                <a:ea typeface="Fira Code Medium"/>
                <a:cs typeface="Fira Code Medium"/>
                <a:sym typeface="Fira Code Medium"/>
              </a:endParaRPr>
            </a:p>
            <a:p>
              <a:pPr indent="0" lvl="0" marL="22860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lang="en" sz="1050">
                  <a:solidFill>
                    <a:srgbClr val="0F172A"/>
                  </a:solidFill>
                  <a:latin typeface="Fira Code Medium"/>
                  <a:ea typeface="Fira Code Medium"/>
                  <a:cs typeface="Fira Code Medium"/>
                  <a:sym typeface="Fira Code Medium"/>
                </a:rPr>
                <a:t>UserID </a:t>
              </a:r>
              <a:r>
                <a:rPr b="0" lang="en" sz="1050">
                  <a:solidFill>
                    <a:srgbClr val="0284C7"/>
                  </a:solidFill>
                  <a:latin typeface="Fira Code Medium"/>
                  <a:ea typeface="Fira Code Medium"/>
                  <a:cs typeface="Fira Code Medium"/>
                  <a:sym typeface="Fira Code Medium"/>
                </a:rPr>
                <a:t>INT</a:t>
              </a:r>
              <a:r>
                <a:rPr b="0" lang="en" sz="1050">
                  <a:solidFill>
                    <a:srgbClr val="0F172A"/>
                  </a:solidFill>
                  <a:latin typeface="Fira Code Medium"/>
                  <a:ea typeface="Fira Code Medium"/>
                  <a:cs typeface="Fira Code Medium"/>
                  <a:sym typeface="Fira Code Medium"/>
                </a:rPr>
                <a:t> </a:t>
              </a:r>
              <a:r>
                <a:rPr b="1" lang="en" sz="1050">
                  <a:solidFill>
                    <a:srgbClr val="2563EB"/>
                  </a:solidFill>
                  <a:latin typeface="Fira Code"/>
                  <a:ea typeface="Fira Code"/>
                  <a:cs typeface="Fira Code"/>
                  <a:sym typeface="Fira Code"/>
                </a:rPr>
                <a:t>NOT NULL</a:t>
              </a:r>
              <a:r>
                <a:rPr b="0" lang="en" sz="1050">
                  <a:solidFill>
                    <a:srgbClr val="0F172A"/>
                  </a:solidFill>
                  <a:latin typeface="Fira Code Medium"/>
                  <a:ea typeface="Fira Code Medium"/>
                  <a:cs typeface="Fira Code Medium"/>
                  <a:sym typeface="Fira Code Medium"/>
                </a:rPr>
                <a:t>,</a:t>
              </a:r>
              <a:endParaRPr b="0" sz="1050">
                <a:solidFill>
                  <a:srgbClr val="0F172A"/>
                </a:solidFill>
                <a:latin typeface="Fira Code Medium"/>
                <a:ea typeface="Fira Code Medium"/>
                <a:cs typeface="Fira Code Medium"/>
                <a:sym typeface="Fira Code Medium"/>
              </a:endParaRPr>
            </a:p>
            <a:p>
              <a:pPr indent="0" lvl="0" marL="22860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lang="en" sz="1050">
                  <a:solidFill>
                    <a:srgbClr val="0F172A"/>
                  </a:solidFill>
                  <a:latin typeface="Fira Code Medium"/>
                  <a:ea typeface="Fira Code Medium"/>
                  <a:cs typeface="Fira Code Medium"/>
                  <a:sym typeface="Fira Code Medium"/>
                </a:rPr>
                <a:t>Content </a:t>
              </a:r>
              <a:r>
                <a:rPr b="0" lang="en" sz="1050">
                  <a:solidFill>
                    <a:srgbClr val="0284C7"/>
                  </a:solidFill>
                  <a:latin typeface="Fira Code Medium"/>
                  <a:ea typeface="Fira Code Medium"/>
                  <a:cs typeface="Fira Code Medium"/>
                  <a:sym typeface="Fira Code Medium"/>
                </a:rPr>
                <a:t>TEXT</a:t>
              </a:r>
              <a:r>
                <a:rPr b="0" lang="en" sz="1050">
                  <a:solidFill>
                    <a:srgbClr val="0F172A"/>
                  </a:solidFill>
                  <a:latin typeface="Fira Code Medium"/>
                  <a:ea typeface="Fira Code Medium"/>
                  <a:cs typeface="Fira Code Medium"/>
                  <a:sym typeface="Fira Code Medium"/>
                </a:rPr>
                <a:t>,</a:t>
              </a:r>
              <a:endParaRPr b="0" sz="1050">
                <a:solidFill>
                  <a:srgbClr val="0F172A"/>
                </a:solidFill>
                <a:latin typeface="Fira Code Medium"/>
                <a:ea typeface="Fira Code Medium"/>
                <a:cs typeface="Fira Code Medium"/>
                <a:sym typeface="Fira Code Medium"/>
              </a:endParaRPr>
            </a:p>
            <a:p>
              <a:pPr indent="0" lvl="0" marL="22860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" sz="1050">
                  <a:solidFill>
                    <a:srgbClr val="2563EB"/>
                  </a:solidFill>
                  <a:latin typeface="Fira Code"/>
                  <a:ea typeface="Fira Code"/>
                  <a:cs typeface="Fira Code"/>
                  <a:sym typeface="Fira Code"/>
                </a:rPr>
                <a:t>FOREIGN KEY</a:t>
              </a:r>
              <a:r>
                <a:rPr b="0" lang="en" sz="1050">
                  <a:solidFill>
                    <a:srgbClr val="0F172A"/>
                  </a:solidFill>
                  <a:latin typeface="Fira Code Medium"/>
                  <a:ea typeface="Fira Code Medium"/>
                  <a:cs typeface="Fira Code Medium"/>
                  <a:sym typeface="Fira Code Medium"/>
                </a:rPr>
                <a:t> (UserID) </a:t>
              </a:r>
              <a:r>
                <a:rPr b="1" lang="en" sz="1050">
                  <a:solidFill>
                    <a:srgbClr val="2563EB"/>
                  </a:solidFill>
                  <a:latin typeface="Fira Code"/>
                  <a:ea typeface="Fira Code"/>
                  <a:cs typeface="Fira Code"/>
                  <a:sym typeface="Fira Code"/>
                </a:rPr>
                <a:t>REFERENCES</a:t>
              </a:r>
              <a:r>
                <a:rPr b="0" lang="en" sz="1050">
                  <a:solidFill>
                    <a:srgbClr val="0F172A"/>
                  </a:solidFill>
                  <a:latin typeface="Fira Code Medium"/>
                  <a:ea typeface="Fira Code Medium"/>
                  <a:cs typeface="Fira Code Medium"/>
                  <a:sym typeface="Fira Code Medium"/>
                </a:rPr>
                <a:t> Users(UserID)</a:t>
              </a:r>
              <a:endParaRPr b="0" sz="1050">
                <a:solidFill>
                  <a:srgbClr val="0F172A"/>
                </a:solidFill>
                <a:latin typeface="Fira Code Medium"/>
                <a:ea typeface="Fira Code Medium"/>
                <a:cs typeface="Fira Code Medium"/>
                <a:sym typeface="Fira Code Medium"/>
              </a:endParaRPr>
            </a:p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lang="en" sz="1050">
                  <a:solidFill>
                    <a:srgbClr val="0F172A"/>
                  </a:solidFill>
                  <a:latin typeface="Fira Code Medium"/>
                  <a:ea typeface="Fira Code Medium"/>
                  <a:cs typeface="Fira Code Medium"/>
                  <a:sym typeface="Fira Code Medium"/>
                </a:rPr>
                <a:t>);</a:t>
              </a:r>
              <a:endParaRPr b="0" sz="1050">
                <a:solidFill>
                  <a:srgbClr val="0F172A"/>
                </a:solidFill>
                <a:latin typeface="Fira Code Medium"/>
                <a:ea typeface="Fira Code Medium"/>
                <a:cs typeface="Fira Code Medium"/>
                <a:sym typeface="Fira Code Medium"/>
              </a:endParaRPr>
            </a:p>
          </p:txBody>
        </p:sp>
      </p:grpSp>
      <p:grpSp>
        <p:nvGrpSpPr>
          <p:cNvPr id="462" name="Google Shape;462;p31"/>
          <p:cNvGrpSpPr/>
          <p:nvPr/>
        </p:nvGrpSpPr>
        <p:grpSpPr>
          <a:xfrm>
            <a:off x="571500" y="3981450"/>
            <a:ext cx="8001000" cy="685800"/>
            <a:chOff x="0" y="0"/>
            <a:chExt cx="8001000" cy="685800"/>
          </a:xfrm>
        </p:grpSpPr>
        <p:sp>
          <p:nvSpPr>
            <p:cNvPr id="463" name="Google Shape;463;p31"/>
            <p:cNvSpPr/>
            <p:nvPr/>
          </p:nvSpPr>
          <p:spPr>
            <a:xfrm>
              <a:off x="0" y="0"/>
              <a:ext cx="8001000" cy="685800"/>
            </a:xfrm>
            <a:prstGeom prst="roundRect">
              <a:avLst>
                <a:gd fmla="val 11111" name="adj"/>
              </a:avLst>
            </a:prstGeom>
            <a:solidFill>
              <a:srgbClr val="F0F9FF"/>
            </a:solidFill>
            <a:ln cap="flat" cmpd="sng" w="9525">
              <a:solidFill>
                <a:srgbClr val="BAE6FD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64" name="Google Shape;464;p31"/>
            <p:cNvSpPr/>
            <p:nvPr/>
          </p:nvSpPr>
          <p:spPr>
            <a:xfrm>
              <a:off x="0" y="0"/>
              <a:ext cx="76200" cy="685800"/>
            </a:xfrm>
            <a:custGeom>
              <a:rect b="b" l="l" r="r" t="t"/>
              <a:pathLst>
                <a:path extrusionOk="0" h="120000" w="120000">
                  <a:moveTo>
                    <a:pt x="0" y="13333"/>
                  </a:moveTo>
                  <a:quadBezTo>
                    <a:pt x="0" y="0"/>
                    <a:pt x="120000" y="0"/>
                  </a:quadBezTo>
                  <a:lnTo>
                    <a:pt x="120000" y="120000"/>
                  </a:lnTo>
                  <a:lnTo>
                    <a:pt x="120000" y="120000"/>
                  </a:lnTo>
                  <a:quadBezTo>
                    <a:pt x="0" y="120000"/>
                    <a:pt x="0" y="106667"/>
                  </a:quadBezTo>
                  <a:close/>
                </a:path>
              </a:pathLst>
            </a:custGeom>
            <a:solidFill>
              <a:srgbClr val="2563EB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65" name="Google Shape;465;p31"/>
            <p:cNvSpPr txBox="1"/>
            <p:nvPr/>
          </p:nvSpPr>
          <p:spPr>
            <a:xfrm>
              <a:off x="266700" y="133350"/>
              <a:ext cx="7467600" cy="4191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lang="en" sz="900">
                  <a:solidFill>
                    <a:srgbClr val="2563EB"/>
                  </a:solidFill>
                  <a:latin typeface="Inter SemiBold"/>
                  <a:ea typeface="Inter SemiBold"/>
                  <a:cs typeface="Inter SemiBold"/>
                  <a:sym typeface="Inter SemiBold"/>
                </a:rPr>
                <a:t>Relational Integrity</a:t>
              </a:r>
              <a:endParaRPr b="0" sz="900">
                <a:solidFill>
                  <a:srgbClr val="2563EB"/>
                </a:solidFill>
                <a:latin typeface="Inter SemiBold"/>
                <a:ea typeface="Inter SemiBold"/>
                <a:cs typeface="Inter SemiBold"/>
                <a:sym typeface="Inter SemiBold"/>
              </a:endParaRPr>
            </a:p>
            <a:p>
              <a:pPr indent="0" lvl="0" marL="0" rtl="0" algn="l">
                <a:spcBef>
                  <a:spcPts val="300"/>
                </a:spcBef>
                <a:spcAft>
                  <a:spcPts val="0"/>
                </a:spcAft>
                <a:buNone/>
              </a:pPr>
              <a:r>
                <a:rPr b="0" lang="en" sz="1125">
                  <a:solidFill>
                    <a:srgbClr val="0F172A"/>
                  </a:solidFill>
                  <a:latin typeface="Inter"/>
                  <a:ea typeface="Inter"/>
                  <a:cs typeface="Inter"/>
                  <a:sym typeface="Inter"/>
                </a:rPr>
                <a:t>This establishes the Posts table while enforcing a strict relational link to the Users table.</a:t>
              </a:r>
              <a:endParaRPr b="0" sz="1125">
                <a:solidFill>
                  <a:srgbClr val="0F172A"/>
                </a:solidFill>
                <a:latin typeface="Inter"/>
                <a:ea typeface="Inter"/>
                <a:cs typeface="Inter"/>
                <a:sym typeface="Inter"/>
              </a:endParaRPr>
            </a:p>
          </p:txBody>
        </p:sp>
      </p:grp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69" name="Shape 4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0" name="Google Shape;470;p32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471" name="Google Shape;471;p32"/>
          <p:cNvGrpSpPr/>
          <p:nvPr/>
        </p:nvGrpSpPr>
        <p:grpSpPr>
          <a:xfrm>
            <a:off x="571500" y="400050"/>
            <a:ext cx="8001000" cy="381150"/>
            <a:chOff x="571500" y="400050"/>
            <a:chExt cx="8001000" cy="381150"/>
          </a:xfrm>
        </p:grpSpPr>
        <p:sp>
          <p:nvSpPr>
            <p:cNvPr id="472" name="Google Shape;472;p32"/>
            <p:cNvSpPr/>
            <p:nvPr/>
          </p:nvSpPr>
          <p:spPr>
            <a:xfrm>
              <a:off x="590550" y="400050"/>
              <a:ext cx="190500" cy="190500"/>
            </a:xfrm>
            <a:custGeom>
              <a:rect b="b" l="l" r="r" t="t"/>
              <a:pathLst>
                <a:path extrusionOk="0" h="120000" w="120000">
                  <a:moveTo>
                    <a:pt x="60000" y="0"/>
                  </a:moveTo>
                  <a:cubicBezTo>
                    <a:pt x="26880" y="0"/>
                    <a:pt x="0" y="26880"/>
                    <a:pt x="0" y="60000"/>
                  </a:cubicBezTo>
                  <a:lnTo>
                    <a:pt x="26880" y="120000"/>
                  </a:lnTo>
                  <a:lnTo>
                    <a:pt x="60000" y="120000"/>
                  </a:lnTo>
                  <a:lnTo>
                    <a:pt x="120000" y="93120"/>
                  </a:lnTo>
                  <a:lnTo>
                    <a:pt x="120000" y="60000"/>
                  </a:lnTo>
                  <a:lnTo>
                    <a:pt x="93120" y="0"/>
                  </a:lnTo>
                  <a:lnTo>
                    <a:pt x="60000" y="0"/>
                  </a:lnTo>
                  <a:close/>
                  <a:moveTo>
                    <a:pt x="60000" y="108000"/>
                  </a:moveTo>
                  <a:cubicBezTo>
                    <a:pt x="33540" y="108000"/>
                    <a:pt x="12000" y="86460"/>
                    <a:pt x="12000" y="60000"/>
                  </a:cubicBezTo>
                  <a:lnTo>
                    <a:pt x="33540" y="12000"/>
                  </a:lnTo>
                  <a:lnTo>
                    <a:pt x="60000" y="12000"/>
                  </a:lnTo>
                  <a:lnTo>
                    <a:pt x="108000" y="33540"/>
                  </a:lnTo>
                  <a:lnTo>
                    <a:pt x="108000" y="60000"/>
                  </a:lnTo>
                  <a:lnTo>
                    <a:pt x="86460" y="108000"/>
                  </a:lnTo>
                  <a:lnTo>
                    <a:pt x="60000" y="108000"/>
                  </a:lnTo>
                  <a:close/>
                  <a:moveTo>
                    <a:pt x="54000" y="30000"/>
                  </a:moveTo>
                  <a:lnTo>
                    <a:pt x="66000" y="30000"/>
                  </a:lnTo>
                  <a:lnTo>
                    <a:pt x="66000" y="66000"/>
                  </a:lnTo>
                  <a:lnTo>
                    <a:pt x="54000" y="66000"/>
                  </a:lnTo>
                  <a:close/>
                  <a:moveTo>
                    <a:pt x="54000" y="78000"/>
                  </a:moveTo>
                  <a:lnTo>
                    <a:pt x="66000" y="78000"/>
                  </a:lnTo>
                  <a:lnTo>
                    <a:pt x="66000" y="90000"/>
                  </a:lnTo>
                  <a:lnTo>
                    <a:pt x="54000" y="90000"/>
                  </a:lnTo>
                  <a:close/>
                </a:path>
              </a:pathLst>
            </a:custGeom>
            <a:solidFill>
              <a:srgbClr val="2563EB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73" name="Google Shape;473;p32"/>
            <p:cNvSpPr txBox="1"/>
            <p:nvPr/>
          </p:nvSpPr>
          <p:spPr>
            <a:xfrm>
              <a:off x="914400" y="400050"/>
              <a:ext cx="7086600" cy="2286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lang="en" sz="900">
                  <a:solidFill>
                    <a:srgbClr val="475569"/>
                  </a:solidFill>
                  <a:latin typeface="Inter SemiBold"/>
                  <a:ea typeface="Inter SemiBold"/>
                  <a:cs typeface="Inter SemiBold"/>
                  <a:sym typeface="Inter SemiBold"/>
                </a:rPr>
                <a:t>MAC 250: DATABASE ARCHITECTURE &amp; ENGINEERING</a:t>
              </a:r>
              <a:endParaRPr b="0" sz="900">
                <a:solidFill>
                  <a:srgbClr val="475569"/>
                </a:solidFill>
                <a:latin typeface="Inter SemiBold"/>
                <a:ea typeface="Inter SemiBold"/>
                <a:cs typeface="Inter SemiBold"/>
                <a:sym typeface="Inter SemiBold"/>
              </a:endParaRPr>
            </a:p>
          </p:txBody>
        </p:sp>
        <p:grpSp>
          <p:nvGrpSpPr>
            <p:cNvPr id="474" name="Google Shape;474;p32"/>
            <p:cNvGrpSpPr/>
            <p:nvPr/>
          </p:nvGrpSpPr>
          <p:grpSpPr>
            <a:xfrm>
              <a:off x="571500" y="762000"/>
              <a:ext cx="8001000" cy="19200"/>
              <a:chOff x="0" y="0"/>
              <a:chExt cx="8001000" cy="19200"/>
            </a:xfrm>
          </p:grpSpPr>
          <p:sp>
            <p:nvSpPr>
              <p:cNvPr id="475" name="Google Shape;475;p32"/>
              <p:cNvSpPr/>
              <p:nvPr/>
            </p:nvSpPr>
            <p:spPr>
              <a:xfrm>
                <a:off x="0" y="0"/>
                <a:ext cx="8001000" cy="9600"/>
              </a:xfrm>
              <a:prstGeom prst="rect">
                <a:avLst/>
              </a:prstGeom>
              <a:solidFill>
                <a:srgbClr val="E2E8F0"/>
              </a:solidFill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76" name="Google Shape;476;p32"/>
              <p:cNvSpPr/>
              <p:nvPr/>
            </p:nvSpPr>
            <p:spPr>
              <a:xfrm>
                <a:off x="0" y="0"/>
                <a:ext cx="1143000" cy="19200"/>
              </a:xfrm>
              <a:prstGeom prst="rect">
                <a:avLst/>
              </a:prstGeom>
              <a:solidFill>
                <a:srgbClr val="2563EB"/>
              </a:solidFill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</p:grpSp>
      <p:sp>
        <p:nvSpPr>
          <p:cNvPr id="477" name="Google Shape;477;p32"/>
          <p:cNvSpPr txBox="1"/>
          <p:nvPr/>
        </p:nvSpPr>
        <p:spPr>
          <a:xfrm>
            <a:off x="571500" y="1047750"/>
            <a:ext cx="8001000" cy="857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400">
                <a:solidFill>
                  <a:srgbClr val="0F172A"/>
                </a:solidFill>
                <a:latin typeface="Inter"/>
                <a:ea typeface="Inter"/>
                <a:cs typeface="Inter"/>
                <a:sym typeface="Inter"/>
              </a:rPr>
              <a:t>Local Database Management</a:t>
            </a:r>
            <a:endParaRPr b="1" sz="2400">
              <a:solidFill>
                <a:srgbClr val="0F172A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b="0" lang="en" sz="1500">
                <a:solidFill>
                  <a:srgbClr val="2563EB"/>
                </a:solidFill>
                <a:latin typeface="Inter Medium"/>
                <a:ea typeface="Inter Medium"/>
                <a:cs typeface="Inter Medium"/>
                <a:sym typeface="Inter Medium"/>
              </a:rPr>
              <a:t>Executing SQL locally with SQLite and DB Browser</a:t>
            </a:r>
            <a:endParaRPr b="0" sz="1500">
              <a:solidFill>
                <a:srgbClr val="2563EB"/>
              </a:solidFill>
              <a:latin typeface="Inter Medium"/>
              <a:ea typeface="Inter Medium"/>
              <a:cs typeface="Inter Medium"/>
              <a:sym typeface="Inter Medium"/>
            </a:endParaRPr>
          </a:p>
        </p:txBody>
      </p:sp>
      <p:sp>
        <p:nvSpPr>
          <p:cNvPr id="478" name="Google Shape;478;p32"/>
          <p:cNvSpPr txBox="1"/>
          <p:nvPr/>
        </p:nvSpPr>
        <p:spPr>
          <a:xfrm>
            <a:off x="571500" y="1952625"/>
            <a:ext cx="8001000" cy="857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900"/>
              </a:spcAft>
              <a:buNone/>
            </a:pPr>
            <a:r>
              <a:rPr b="0" lang="en" sz="1200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For local environments, the course utilizes </a:t>
            </a:r>
            <a:r>
              <a:rPr b="1" lang="en" sz="1200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DB Browser for SQLite</a:t>
            </a:r>
            <a:r>
              <a:rPr b="0" lang="en" sz="1200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. This application allows you to execute SQL locally without requiring complex server configurations or network setups.</a:t>
            </a:r>
            <a:endParaRPr b="0" sz="1200">
              <a:solidFill>
                <a:srgbClr val="475569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grpSp>
        <p:nvGrpSpPr>
          <p:cNvPr id="479" name="Google Shape;479;p32"/>
          <p:cNvGrpSpPr/>
          <p:nvPr/>
        </p:nvGrpSpPr>
        <p:grpSpPr>
          <a:xfrm>
            <a:off x="571500" y="2905125"/>
            <a:ext cx="8001000" cy="1428900"/>
            <a:chOff x="0" y="0"/>
            <a:chExt cx="8001000" cy="1428900"/>
          </a:xfrm>
        </p:grpSpPr>
        <p:sp>
          <p:nvSpPr>
            <p:cNvPr id="480" name="Google Shape;480;p32"/>
            <p:cNvSpPr/>
            <p:nvPr/>
          </p:nvSpPr>
          <p:spPr>
            <a:xfrm>
              <a:off x="0" y="0"/>
              <a:ext cx="8001000" cy="1428900"/>
            </a:xfrm>
            <a:prstGeom prst="roundRect">
              <a:avLst>
                <a:gd fmla="val 5333" name="adj"/>
              </a:avLst>
            </a:prstGeom>
            <a:solidFill>
              <a:srgbClr val="F0F9FF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81" name="Google Shape;481;p32"/>
            <p:cNvSpPr/>
            <p:nvPr/>
          </p:nvSpPr>
          <p:spPr>
            <a:xfrm>
              <a:off x="0" y="0"/>
              <a:ext cx="76200" cy="1428900"/>
            </a:xfrm>
            <a:custGeom>
              <a:rect b="b" l="l" r="r" t="t"/>
              <a:pathLst>
                <a:path extrusionOk="0" h="120000" w="120000">
                  <a:moveTo>
                    <a:pt x="0" y="6400"/>
                  </a:moveTo>
                  <a:quadBezTo>
                    <a:pt x="0" y="0"/>
                    <a:pt x="120000" y="0"/>
                  </a:quadBezTo>
                  <a:lnTo>
                    <a:pt x="120000" y="120000"/>
                  </a:lnTo>
                  <a:lnTo>
                    <a:pt x="120000" y="120000"/>
                  </a:lnTo>
                  <a:quadBezTo>
                    <a:pt x="0" y="120000"/>
                    <a:pt x="0" y="113600"/>
                  </a:quadBezTo>
                  <a:close/>
                </a:path>
              </a:pathLst>
            </a:custGeom>
            <a:solidFill>
              <a:srgbClr val="2563EB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82" name="Google Shape;482;p32"/>
            <p:cNvSpPr txBox="1"/>
            <p:nvPr/>
          </p:nvSpPr>
          <p:spPr>
            <a:xfrm>
              <a:off x="304800" y="190500"/>
              <a:ext cx="7391400" cy="10479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" sz="1500">
                  <a:solidFill>
                    <a:srgbClr val="2563EB"/>
                  </a:solidFill>
                  <a:latin typeface="Inter"/>
                  <a:ea typeface="Inter"/>
                  <a:cs typeface="Inter"/>
                  <a:sym typeface="Inter"/>
                </a:rPr>
                <a:t>Key Concept: Self-Contained SQLite</a:t>
              </a:r>
              <a:endParaRPr b="1" sz="1500">
                <a:solidFill>
                  <a:srgbClr val="2563EB"/>
                </a:solidFill>
                <a:latin typeface="Inter"/>
                <a:ea typeface="Inter"/>
                <a:cs typeface="Inter"/>
                <a:sym typeface="Inter"/>
              </a:endParaRPr>
            </a:p>
            <a:p>
              <a:pPr indent="0" lvl="0" marL="0" rtl="0" algn="l">
                <a:spcBef>
                  <a:spcPts val="600"/>
                </a:spcBef>
                <a:spcAft>
                  <a:spcPts val="0"/>
                </a:spcAft>
                <a:buNone/>
              </a:pPr>
              <a:r>
                <a:rPr b="0" lang="en" sz="1200">
                  <a:solidFill>
                    <a:srgbClr val="0F172A"/>
                  </a:solidFill>
                  <a:latin typeface="Inter"/>
                  <a:ea typeface="Inter"/>
                  <a:cs typeface="Inter"/>
                  <a:sym typeface="Inter"/>
                </a:rPr>
                <a:t>In SQLite, the entire relational database system is self-contained and lives entirely within a single local file on your computer's hard drive.</a:t>
              </a:r>
              <a:endParaRPr b="0" sz="1200">
                <a:solidFill>
                  <a:srgbClr val="0F172A"/>
                </a:solidFill>
                <a:latin typeface="Inter"/>
                <a:ea typeface="Inter"/>
                <a:cs typeface="Inter"/>
                <a:sym typeface="Inter"/>
              </a:endParaRPr>
            </a:p>
          </p:txBody>
        </p:sp>
      </p:grp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86" name="Shape 4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7" name="Google Shape;487;p33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88" name="Google Shape;488;p33"/>
          <p:cNvSpPr/>
          <p:nvPr/>
        </p:nvSpPr>
        <p:spPr>
          <a:xfrm>
            <a:off x="590550" y="400050"/>
            <a:ext cx="190500" cy="190500"/>
          </a:xfrm>
          <a:custGeom>
            <a:rect b="b" l="l" r="r" t="t"/>
            <a:pathLst>
              <a:path extrusionOk="0" h="120000" w="120000">
                <a:moveTo>
                  <a:pt x="60000" y="0"/>
                </a:moveTo>
                <a:cubicBezTo>
                  <a:pt x="26880" y="0"/>
                  <a:pt x="0" y="26880"/>
                  <a:pt x="0" y="60000"/>
                </a:cubicBezTo>
                <a:lnTo>
                  <a:pt x="26880" y="120000"/>
                </a:lnTo>
                <a:lnTo>
                  <a:pt x="60000" y="120000"/>
                </a:lnTo>
                <a:lnTo>
                  <a:pt x="120000" y="93120"/>
                </a:lnTo>
                <a:lnTo>
                  <a:pt x="120000" y="60000"/>
                </a:lnTo>
                <a:lnTo>
                  <a:pt x="93120" y="0"/>
                </a:lnTo>
                <a:lnTo>
                  <a:pt x="60000" y="0"/>
                </a:lnTo>
                <a:close/>
                <a:moveTo>
                  <a:pt x="60000" y="108000"/>
                </a:moveTo>
                <a:cubicBezTo>
                  <a:pt x="33540" y="108000"/>
                  <a:pt x="12000" y="86460"/>
                  <a:pt x="12000" y="60000"/>
                </a:cubicBezTo>
                <a:lnTo>
                  <a:pt x="33540" y="12000"/>
                </a:lnTo>
                <a:lnTo>
                  <a:pt x="60000" y="12000"/>
                </a:lnTo>
                <a:lnTo>
                  <a:pt x="108000" y="33540"/>
                </a:lnTo>
                <a:lnTo>
                  <a:pt x="108000" y="60000"/>
                </a:lnTo>
                <a:lnTo>
                  <a:pt x="86460" y="108000"/>
                </a:lnTo>
                <a:lnTo>
                  <a:pt x="60000" y="108000"/>
                </a:lnTo>
                <a:close/>
                <a:moveTo>
                  <a:pt x="54000" y="30000"/>
                </a:moveTo>
                <a:lnTo>
                  <a:pt x="66000" y="30000"/>
                </a:lnTo>
                <a:lnTo>
                  <a:pt x="66000" y="66000"/>
                </a:lnTo>
                <a:lnTo>
                  <a:pt x="54000" y="66000"/>
                </a:lnTo>
                <a:close/>
                <a:moveTo>
                  <a:pt x="54000" y="78000"/>
                </a:moveTo>
                <a:lnTo>
                  <a:pt x="66000" y="78000"/>
                </a:lnTo>
                <a:lnTo>
                  <a:pt x="66000" y="90000"/>
                </a:lnTo>
                <a:lnTo>
                  <a:pt x="54000" y="90000"/>
                </a:lnTo>
                <a:close/>
              </a:path>
            </a:pathLst>
          </a:custGeom>
          <a:solidFill>
            <a:srgbClr val="2563EB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89" name="Google Shape;489;p33"/>
          <p:cNvSpPr txBox="1"/>
          <p:nvPr/>
        </p:nvSpPr>
        <p:spPr>
          <a:xfrm>
            <a:off x="914400" y="400050"/>
            <a:ext cx="70866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" sz="900">
                <a:solidFill>
                  <a:srgbClr val="475569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MAC 250: DATABASE ARCHITECTURE &amp; ENGINEERING</a:t>
            </a:r>
            <a:endParaRPr b="0" sz="900">
              <a:solidFill>
                <a:srgbClr val="475569"/>
              </a:solidFill>
              <a:latin typeface="Inter SemiBold"/>
              <a:ea typeface="Inter SemiBold"/>
              <a:cs typeface="Inter SemiBold"/>
              <a:sym typeface="Inter SemiBold"/>
            </a:endParaRPr>
          </a:p>
        </p:txBody>
      </p:sp>
      <p:grpSp>
        <p:nvGrpSpPr>
          <p:cNvPr id="490" name="Google Shape;490;p33"/>
          <p:cNvGrpSpPr/>
          <p:nvPr/>
        </p:nvGrpSpPr>
        <p:grpSpPr>
          <a:xfrm>
            <a:off x="571500" y="762000"/>
            <a:ext cx="8001000" cy="19200"/>
            <a:chOff x="0" y="0"/>
            <a:chExt cx="8001000" cy="19200"/>
          </a:xfrm>
        </p:grpSpPr>
        <p:sp>
          <p:nvSpPr>
            <p:cNvPr id="491" name="Google Shape;491;p33"/>
            <p:cNvSpPr/>
            <p:nvPr/>
          </p:nvSpPr>
          <p:spPr>
            <a:xfrm>
              <a:off x="0" y="0"/>
              <a:ext cx="8001000" cy="9600"/>
            </a:xfrm>
            <a:prstGeom prst="rect">
              <a:avLst/>
            </a:prstGeom>
            <a:solidFill>
              <a:srgbClr val="E2E8F0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92" name="Google Shape;492;p33"/>
            <p:cNvSpPr/>
            <p:nvPr/>
          </p:nvSpPr>
          <p:spPr>
            <a:xfrm>
              <a:off x="0" y="0"/>
              <a:ext cx="1143000" cy="19200"/>
            </a:xfrm>
            <a:prstGeom prst="rect">
              <a:avLst/>
            </a:prstGeom>
            <a:solidFill>
              <a:srgbClr val="2563EB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493" name="Google Shape;493;p33"/>
          <p:cNvSpPr txBox="1"/>
          <p:nvPr/>
        </p:nvSpPr>
        <p:spPr>
          <a:xfrm>
            <a:off x="571500" y="971550"/>
            <a:ext cx="8001000" cy="714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250">
                <a:solidFill>
                  <a:srgbClr val="0F172A"/>
                </a:solidFill>
                <a:latin typeface="Inter"/>
                <a:ea typeface="Inter"/>
                <a:cs typeface="Inter"/>
                <a:sym typeface="Inter"/>
              </a:rPr>
              <a:t>How to Run a Script in DB Browser</a:t>
            </a:r>
            <a:endParaRPr b="1" sz="2250">
              <a:solidFill>
                <a:srgbClr val="0F172A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0" lvl="0" marL="0" rtl="0" algn="l">
              <a:spcBef>
                <a:spcPts val="450"/>
              </a:spcBef>
              <a:spcAft>
                <a:spcPts val="0"/>
              </a:spcAft>
              <a:buNone/>
            </a:pPr>
            <a:r>
              <a:rPr b="0" lang="en" sz="1200">
                <a:solidFill>
                  <a:srgbClr val="2563EB"/>
                </a:solidFill>
                <a:latin typeface="Inter Medium"/>
                <a:ea typeface="Inter Medium"/>
                <a:cs typeface="Inter Medium"/>
                <a:sym typeface="Inter Medium"/>
              </a:rPr>
              <a:t>Follow these four simple steps to execute your SQL code</a:t>
            </a:r>
            <a:endParaRPr b="0" sz="1200">
              <a:solidFill>
                <a:srgbClr val="2563EB"/>
              </a:solidFill>
              <a:latin typeface="Inter Medium"/>
              <a:ea typeface="Inter Medium"/>
              <a:cs typeface="Inter Medium"/>
              <a:sym typeface="Inter Medium"/>
            </a:endParaRPr>
          </a:p>
        </p:txBody>
      </p:sp>
      <p:grpSp>
        <p:nvGrpSpPr>
          <p:cNvPr id="494" name="Google Shape;494;p33"/>
          <p:cNvGrpSpPr/>
          <p:nvPr/>
        </p:nvGrpSpPr>
        <p:grpSpPr>
          <a:xfrm>
            <a:off x="571500" y="1809750"/>
            <a:ext cx="8001000" cy="628800"/>
            <a:chOff x="571500" y="1809750"/>
            <a:chExt cx="8001000" cy="628800"/>
          </a:xfrm>
        </p:grpSpPr>
        <p:sp>
          <p:nvSpPr>
            <p:cNvPr id="495" name="Google Shape;495;p33"/>
            <p:cNvSpPr/>
            <p:nvPr/>
          </p:nvSpPr>
          <p:spPr>
            <a:xfrm>
              <a:off x="571500" y="1809750"/>
              <a:ext cx="8001000" cy="628800"/>
            </a:xfrm>
            <a:prstGeom prst="roundRect">
              <a:avLst>
                <a:gd fmla="val 9090" name="adj"/>
              </a:avLst>
            </a:prstGeom>
            <a:solidFill>
              <a:srgbClr val="F8FAFC"/>
            </a:solidFill>
            <a:ln cap="flat" cmpd="sng" w="9525">
              <a:solidFill>
                <a:srgbClr val="E2E8F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96" name="Google Shape;496;p33"/>
            <p:cNvSpPr/>
            <p:nvPr/>
          </p:nvSpPr>
          <p:spPr>
            <a:xfrm>
              <a:off x="723900" y="1933575"/>
              <a:ext cx="381000" cy="381000"/>
            </a:xfrm>
            <a:prstGeom prst="roundRect">
              <a:avLst>
                <a:gd fmla="val 15000" name="adj"/>
              </a:avLst>
            </a:prstGeom>
            <a:solidFill>
              <a:srgbClr val="2563EB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97" name="Google Shape;497;p33"/>
            <p:cNvSpPr txBox="1"/>
            <p:nvPr/>
          </p:nvSpPr>
          <p:spPr>
            <a:xfrm>
              <a:off x="723900" y="1933575"/>
              <a:ext cx="381000" cy="381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" sz="1125">
                  <a:solidFill>
                    <a:srgbClr val="FFFFFF"/>
                  </a:solidFill>
                  <a:latin typeface="Inter"/>
                  <a:ea typeface="Inter"/>
                  <a:cs typeface="Inter"/>
                  <a:sym typeface="Inter"/>
                </a:rPr>
                <a:t>01</a:t>
              </a:r>
              <a:endParaRPr/>
            </a:p>
          </p:txBody>
        </p:sp>
        <p:sp>
          <p:nvSpPr>
            <p:cNvPr id="498" name="Google Shape;498;p33"/>
            <p:cNvSpPr txBox="1"/>
            <p:nvPr/>
          </p:nvSpPr>
          <p:spPr>
            <a:xfrm>
              <a:off x="1257300" y="1914525"/>
              <a:ext cx="7143900" cy="4191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lang="en" sz="1125">
                  <a:solidFill>
                    <a:srgbClr val="0F172A"/>
                  </a:solidFill>
                  <a:latin typeface="Inter SemiBold"/>
                  <a:ea typeface="Inter SemiBold"/>
                  <a:cs typeface="Inter SemiBold"/>
                  <a:sym typeface="Inter SemiBold"/>
                </a:rPr>
                <a:t>Step 1: Open Application</a:t>
              </a:r>
              <a:endParaRPr b="0" sz="1125">
                <a:solidFill>
                  <a:srgbClr val="0F172A"/>
                </a:solidFill>
                <a:latin typeface="Inter SemiBold"/>
                <a:ea typeface="Inter SemiBold"/>
                <a:cs typeface="Inter SemiBold"/>
                <a:sym typeface="Inter SemiBold"/>
              </a:endParaRPr>
            </a:p>
            <a:p>
              <a:pPr indent="0" lvl="0" marL="0" rtl="0" algn="l">
                <a:spcBef>
                  <a:spcPts val="150"/>
                </a:spcBef>
                <a:spcAft>
                  <a:spcPts val="0"/>
                </a:spcAft>
                <a:buNone/>
              </a:pPr>
              <a:r>
                <a:rPr b="0" lang="en" sz="1050">
                  <a:solidFill>
                    <a:srgbClr val="475569"/>
                  </a:solidFill>
                  <a:latin typeface="Inter"/>
                  <a:ea typeface="Inter"/>
                  <a:cs typeface="Inter"/>
                  <a:sym typeface="Inter"/>
                </a:rPr>
                <a:t>Open the DB Browser for SQLite application.</a:t>
              </a:r>
              <a:endParaRPr b="0" sz="1050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endParaRPr>
            </a:p>
          </p:txBody>
        </p:sp>
      </p:grpSp>
      <p:grpSp>
        <p:nvGrpSpPr>
          <p:cNvPr id="499" name="Google Shape;499;p33"/>
          <p:cNvGrpSpPr/>
          <p:nvPr/>
        </p:nvGrpSpPr>
        <p:grpSpPr>
          <a:xfrm>
            <a:off x="571500" y="2552700"/>
            <a:ext cx="8001000" cy="628800"/>
            <a:chOff x="571500" y="2552700"/>
            <a:chExt cx="8001000" cy="628800"/>
          </a:xfrm>
        </p:grpSpPr>
        <p:sp>
          <p:nvSpPr>
            <p:cNvPr id="500" name="Google Shape;500;p33"/>
            <p:cNvSpPr/>
            <p:nvPr/>
          </p:nvSpPr>
          <p:spPr>
            <a:xfrm>
              <a:off x="571500" y="2552700"/>
              <a:ext cx="8001000" cy="628800"/>
            </a:xfrm>
            <a:prstGeom prst="roundRect">
              <a:avLst>
                <a:gd fmla="val 9090" name="adj"/>
              </a:avLst>
            </a:prstGeom>
            <a:solidFill>
              <a:srgbClr val="F8FAFC"/>
            </a:solidFill>
            <a:ln cap="flat" cmpd="sng" w="9525">
              <a:solidFill>
                <a:srgbClr val="E2E8F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01" name="Google Shape;501;p33"/>
            <p:cNvSpPr/>
            <p:nvPr/>
          </p:nvSpPr>
          <p:spPr>
            <a:xfrm>
              <a:off x="723900" y="2676525"/>
              <a:ext cx="381000" cy="381000"/>
            </a:xfrm>
            <a:prstGeom prst="roundRect">
              <a:avLst>
                <a:gd fmla="val 15000" name="adj"/>
              </a:avLst>
            </a:prstGeom>
            <a:solidFill>
              <a:srgbClr val="2563EB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02" name="Google Shape;502;p33"/>
            <p:cNvSpPr txBox="1"/>
            <p:nvPr/>
          </p:nvSpPr>
          <p:spPr>
            <a:xfrm>
              <a:off x="723900" y="2676525"/>
              <a:ext cx="381000" cy="381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" sz="1125">
                  <a:solidFill>
                    <a:srgbClr val="FFFFFF"/>
                  </a:solidFill>
                  <a:latin typeface="Inter"/>
                  <a:ea typeface="Inter"/>
                  <a:cs typeface="Inter"/>
                  <a:sym typeface="Inter"/>
                </a:rPr>
                <a:t>02</a:t>
              </a:r>
              <a:endParaRPr/>
            </a:p>
          </p:txBody>
        </p:sp>
        <p:sp>
          <p:nvSpPr>
            <p:cNvPr id="503" name="Google Shape;503;p33"/>
            <p:cNvSpPr txBox="1"/>
            <p:nvPr/>
          </p:nvSpPr>
          <p:spPr>
            <a:xfrm>
              <a:off x="1257300" y="2657475"/>
              <a:ext cx="7143900" cy="4191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lang="en" sz="1125">
                  <a:solidFill>
                    <a:srgbClr val="0F172A"/>
                  </a:solidFill>
                  <a:latin typeface="Inter SemiBold"/>
                  <a:ea typeface="Inter SemiBold"/>
                  <a:cs typeface="Inter SemiBold"/>
                  <a:sym typeface="Inter SemiBold"/>
                </a:rPr>
                <a:t>Step 2: Create &amp; Save Database</a:t>
              </a:r>
              <a:endParaRPr b="0" sz="1125">
                <a:solidFill>
                  <a:srgbClr val="0F172A"/>
                </a:solidFill>
                <a:latin typeface="Inter SemiBold"/>
                <a:ea typeface="Inter SemiBold"/>
                <a:cs typeface="Inter SemiBold"/>
                <a:sym typeface="Inter SemiBold"/>
              </a:endParaRPr>
            </a:p>
            <a:p>
              <a:pPr indent="0" lvl="0" marL="0" rtl="0" algn="l">
                <a:spcBef>
                  <a:spcPts val="150"/>
                </a:spcBef>
                <a:spcAft>
                  <a:spcPts val="0"/>
                </a:spcAft>
                <a:buNone/>
              </a:pPr>
              <a:r>
                <a:rPr b="0" lang="en" sz="1050">
                  <a:solidFill>
                    <a:srgbClr val="475569"/>
                  </a:solidFill>
                  <a:latin typeface="Inter"/>
                  <a:ea typeface="Inter"/>
                  <a:cs typeface="Inter"/>
                  <a:sym typeface="Inter"/>
                </a:rPr>
                <a:t>Click "New Database" and save the generated .db file to your local machine.</a:t>
              </a:r>
              <a:endParaRPr b="0" sz="1050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endParaRPr>
            </a:p>
          </p:txBody>
        </p:sp>
      </p:grpSp>
      <p:grpSp>
        <p:nvGrpSpPr>
          <p:cNvPr id="504" name="Google Shape;504;p33"/>
          <p:cNvGrpSpPr/>
          <p:nvPr/>
        </p:nvGrpSpPr>
        <p:grpSpPr>
          <a:xfrm>
            <a:off x="571500" y="3295650"/>
            <a:ext cx="8001000" cy="628800"/>
            <a:chOff x="571500" y="3295650"/>
            <a:chExt cx="8001000" cy="628800"/>
          </a:xfrm>
        </p:grpSpPr>
        <p:sp>
          <p:nvSpPr>
            <p:cNvPr id="505" name="Google Shape;505;p33"/>
            <p:cNvSpPr/>
            <p:nvPr/>
          </p:nvSpPr>
          <p:spPr>
            <a:xfrm>
              <a:off x="571500" y="3295650"/>
              <a:ext cx="8001000" cy="628800"/>
            </a:xfrm>
            <a:prstGeom prst="roundRect">
              <a:avLst>
                <a:gd fmla="val 9090" name="adj"/>
              </a:avLst>
            </a:prstGeom>
            <a:solidFill>
              <a:srgbClr val="F8FAFC"/>
            </a:solidFill>
            <a:ln cap="flat" cmpd="sng" w="9525">
              <a:solidFill>
                <a:srgbClr val="E2E8F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06" name="Google Shape;506;p33"/>
            <p:cNvSpPr/>
            <p:nvPr/>
          </p:nvSpPr>
          <p:spPr>
            <a:xfrm>
              <a:off x="723900" y="3419475"/>
              <a:ext cx="381000" cy="381000"/>
            </a:xfrm>
            <a:prstGeom prst="roundRect">
              <a:avLst>
                <a:gd fmla="val 15000" name="adj"/>
              </a:avLst>
            </a:prstGeom>
            <a:solidFill>
              <a:srgbClr val="2563EB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07" name="Google Shape;507;p33"/>
            <p:cNvSpPr txBox="1"/>
            <p:nvPr/>
          </p:nvSpPr>
          <p:spPr>
            <a:xfrm>
              <a:off x="723900" y="3419475"/>
              <a:ext cx="381000" cy="381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" sz="1125">
                  <a:solidFill>
                    <a:srgbClr val="FFFFFF"/>
                  </a:solidFill>
                  <a:latin typeface="Inter"/>
                  <a:ea typeface="Inter"/>
                  <a:cs typeface="Inter"/>
                  <a:sym typeface="Inter"/>
                </a:rPr>
                <a:t>03</a:t>
              </a:r>
              <a:endParaRPr/>
            </a:p>
          </p:txBody>
        </p:sp>
        <p:sp>
          <p:nvSpPr>
            <p:cNvPr id="508" name="Google Shape;508;p33"/>
            <p:cNvSpPr txBox="1"/>
            <p:nvPr/>
          </p:nvSpPr>
          <p:spPr>
            <a:xfrm>
              <a:off x="1257300" y="3400425"/>
              <a:ext cx="7143900" cy="4191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lang="en" sz="1125">
                  <a:solidFill>
                    <a:srgbClr val="0F172A"/>
                  </a:solidFill>
                  <a:latin typeface="Inter SemiBold"/>
                  <a:ea typeface="Inter SemiBold"/>
                  <a:cs typeface="Inter SemiBold"/>
                  <a:sym typeface="Inter SemiBold"/>
                </a:rPr>
                <a:t>Step 3: Open Execution Window</a:t>
              </a:r>
              <a:endParaRPr b="0" sz="1125">
                <a:solidFill>
                  <a:srgbClr val="0F172A"/>
                </a:solidFill>
                <a:latin typeface="Inter SemiBold"/>
                <a:ea typeface="Inter SemiBold"/>
                <a:cs typeface="Inter SemiBold"/>
                <a:sym typeface="Inter SemiBold"/>
              </a:endParaRPr>
            </a:p>
            <a:p>
              <a:pPr indent="0" lvl="0" marL="0" rtl="0" algn="l">
                <a:spcBef>
                  <a:spcPts val="150"/>
                </a:spcBef>
                <a:spcAft>
                  <a:spcPts val="0"/>
                </a:spcAft>
                <a:buNone/>
              </a:pPr>
              <a:r>
                <a:rPr b="0" lang="en" sz="1050">
                  <a:solidFill>
                    <a:srgbClr val="475569"/>
                  </a:solidFill>
                  <a:latin typeface="Inter"/>
                  <a:ea typeface="Inter"/>
                  <a:cs typeface="Inter"/>
                  <a:sym typeface="Inter"/>
                </a:rPr>
                <a:t>Navigate to the "Execute SQL" tab.</a:t>
              </a:r>
              <a:endParaRPr b="0" sz="1050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endParaRPr>
            </a:p>
          </p:txBody>
        </p:sp>
      </p:grpSp>
      <p:grpSp>
        <p:nvGrpSpPr>
          <p:cNvPr id="509" name="Google Shape;509;p33"/>
          <p:cNvGrpSpPr/>
          <p:nvPr/>
        </p:nvGrpSpPr>
        <p:grpSpPr>
          <a:xfrm>
            <a:off x="571500" y="4038600"/>
            <a:ext cx="8001000" cy="628800"/>
            <a:chOff x="571500" y="4038600"/>
            <a:chExt cx="8001000" cy="628800"/>
          </a:xfrm>
        </p:grpSpPr>
        <p:sp>
          <p:nvSpPr>
            <p:cNvPr id="510" name="Google Shape;510;p33"/>
            <p:cNvSpPr/>
            <p:nvPr/>
          </p:nvSpPr>
          <p:spPr>
            <a:xfrm>
              <a:off x="571500" y="4038600"/>
              <a:ext cx="8001000" cy="628800"/>
            </a:xfrm>
            <a:prstGeom prst="roundRect">
              <a:avLst>
                <a:gd fmla="val 9090" name="adj"/>
              </a:avLst>
            </a:prstGeom>
            <a:solidFill>
              <a:srgbClr val="F8FAFC"/>
            </a:solidFill>
            <a:ln cap="flat" cmpd="sng" w="9525">
              <a:solidFill>
                <a:srgbClr val="E2E8F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11" name="Google Shape;511;p33"/>
            <p:cNvSpPr/>
            <p:nvPr/>
          </p:nvSpPr>
          <p:spPr>
            <a:xfrm>
              <a:off x="723900" y="4162425"/>
              <a:ext cx="381000" cy="381000"/>
            </a:xfrm>
            <a:prstGeom prst="roundRect">
              <a:avLst>
                <a:gd fmla="val 15000" name="adj"/>
              </a:avLst>
            </a:prstGeom>
            <a:solidFill>
              <a:srgbClr val="2563EB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12" name="Google Shape;512;p33"/>
            <p:cNvSpPr txBox="1"/>
            <p:nvPr/>
          </p:nvSpPr>
          <p:spPr>
            <a:xfrm>
              <a:off x="723900" y="4162425"/>
              <a:ext cx="381000" cy="381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" sz="1125">
                  <a:solidFill>
                    <a:srgbClr val="FFFFFF"/>
                  </a:solidFill>
                  <a:latin typeface="Inter"/>
                  <a:ea typeface="Inter"/>
                  <a:cs typeface="Inter"/>
                  <a:sym typeface="Inter"/>
                </a:rPr>
                <a:t>04</a:t>
              </a:r>
              <a:endParaRPr/>
            </a:p>
          </p:txBody>
        </p:sp>
        <p:sp>
          <p:nvSpPr>
            <p:cNvPr id="513" name="Google Shape;513;p33"/>
            <p:cNvSpPr txBox="1"/>
            <p:nvPr/>
          </p:nvSpPr>
          <p:spPr>
            <a:xfrm>
              <a:off x="1257300" y="4143375"/>
              <a:ext cx="7143900" cy="4191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lang="en" sz="1125">
                  <a:solidFill>
                    <a:srgbClr val="0F172A"/>
                  </a:solidFill>
                  <a:latin typeface="Inter SemiBold"/>
                  <a:ea typeface="Inter SemiBold"/>
                  <a:cs typeface="Inter SemiBold"/>
                  <a:sym typeface="Inter SemiBold"/>
                </a:rPr>
                <a:t>Step 4: Execute Script</a:t>
              </a:r>
              <a:endParaRPr b="0" sz="1125">
                <a:solidFill>
                  <a:srgbClr val="0F172A"/>
                </a:solidFill>
                <a:latin typeface="Inter SemiBold"/>
                <a:ea typeface="Inter SemiBold"/>
                <a:cs typeface="Inter SemiBold"/>
                <a:sym typeface="Inter SemiBold"/>
              </a:endParaRPr>
            </a:p>
            <a:p>
              <a:pPr indent="0" lvl="0" marL="0" rtl="0" algn="l">
                <a:spcBef>
                  <a:spcPts val="150"/>
                </a:spcBef>
                <a:spcAft>
                  <a:spcPts val="0"/>
                </a:spcAft>
                <a:buNone/>
              </a:pPr>
              <a:r>
                <a:rPr b="0" lang="en" sz="1050">
                  <a:solidFill>
                    <a:srgbClr val="475569"/>
                  </a:solidFill>
                  <a:latin typeface="Inter"/>
                  <a:ea typeface="Inter"/>
                  <a:cs typeface="Inter"/>
                  <a:sym typeface="Inter"/>
                </a:rPr>
                <a:t>Paste your prepared SQL code into the window and click the Play button to run the script.</a:t>
              </a:r>
              <a:endParaRPr b="0" sz="1050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endParaRPr>
            </a:p>
          </p:txBody>
        </p:sp>
      </p:grp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17" name="Shape 5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8" name="Google Shape;518;p34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19" name="Google Shape;519;p34"/>
          <p:cNvSpPr/>
          <p:nvPr/>
        </p:nvSpPr>
        <p:spPr>
          <a:xfrm>
            <a:off x="590550" y="400050"/>
            <a:ext cx="190500" cy="190500"/>
          </a:xfrm>
          <a:custGeom>
            <a:rect b="b" l="l" r="r" t="t"/>
            <a:pathLst>
              <a:path extrusionOk="0" h="120000" w="120000">
                <a:moveTo>
                  <a:pt x="60000" y="0"/>
                </a:moveTo>
                <a:cubicBezTo>
                  <a:pt x="26880" y="0"/>
                  <a:pt x="0" y="26880"/>
                  <a:pt x="0" y="60000"/>
                </a:cubicBezTo>
                <a:lnTo>
                  <a:pt x="26880" y="120000"/>
                </a:lnTo>
                <a:lnTo>
                  <a:pt x="60000" y="120000"/>
                </a:lnTo>
                <a:lnTo>
                  <a:pt x="120000" y="93120"/>
                </a:lnTo>
                <a:lnTo>
                  <a:pt x="120000" y="60000"/>
                </a:lnTo>
                <a:lnTo>
                  <a:pt x="93120" y="0"/>
                </a:lnTo>
                <a:lnTo>
                  <a:pt x="60000" y="0"/>
                </a:lnTo>
                <a:close/>
                <a:moveTo>
                  <a:pt x="60000" y="108000"/>
                </a:moveTo>
                <a:cubicBezTo>
                  <a:pt x="33540" y="108000"/>
                  <a:pt x="12000" y="86460"/>
                  <a:pt x="12000" y="60000"/>
                </a:cubicBezTo>
                <a:lnTo>
                  <a:pt x="33540" y="12000"/>
                </a:lnTo>
                <a:lnTo>
                  <a:pt x="60000" y="12000"/>
                </a:lnTo>
                <a:lnTo>
                  <a:pt x="108000" y="33540"/>
                </a:lnTo>
                <a:lnTo>
                  <a:pt x="108000" y="60000"/>
                </a:lnTo>
                <a:lnTo>
                  <a:pt x="86460" y="108000"/>
                </a:lnTo>
                <a:lnTo>
                  <a:pt x="60000" y="108000"/>
                </a:lnTo>
                <a:close/>
                <a:moveTo>
                  <a:pt x="54000" y="30000"/>
                </a:moveTo>
                <a:lnTo>
                  <a:pt x="66000" y="30000"/>
                </a:lnTo>
                <a:lnTo>
                  <a:pt x="66000" y="66000"/>
                </a:lnTo>
                <a:lnTo>
                  <a:pt x="54000" y="66000"/>
                </a:lnTo>
                <a:close/>
                <a:moveTo>
                  <a:pt x="54000" y="78000"/>
                </a:moveTo>
                <a:lnTo>
                  <a:pt x="66000" y="78000"/>
                </a:lnTo>
                <a:lnTo>
                  <a:pt x="66000" y="90000"/>
                </a:lnTo>
                <a:lnTo>
                  <a:pt x="54000" y="90000"/>
                </a:lnTo>
                <a:close/>
              </a:path>
            </a:pathLst>
          </a:custGeom>
          <a:solidFill>
            <a:srgbClr val="2563EB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20" name="Google Shape;520;p34"/>
          <p:cNvSpPr txBox="1"/>
          <p:nvPr/>
        </p:nvSpPr>
        <p:spPr>
          <a:xfrm>
            <a:off x="914400" y="400050"/>
            <a:ext cx="70866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" sz="900">
                <a:solidFill>
                  <a:srgbClr val="475569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MAC 250: DATABASE ARCHITECTURE &amp; ENGINEERING</a:t>
            </a:r>
            <a:endParaRPr b="0" sz="900">
              <a:solidFill>
                <a:srgbClr val="475569"/>
              </a:solidFill>
              <a:latin typeface="Inter SemiBold"/>
              <a:ea typeface="Inter SemiBold"/>
              <a:cs typeface="Inter SemiBold"/>
              <a:sym typeface="Inter SemiBold"/>
            </a:endParaRPr>
          </a:p>
        </p:txBody>
      </p:sp>
      <p:grpSp>
        <p:nvGrpSpPr>
          <p:cNvPr id="521" name="Google Shape;521;p34"/>
          <p:cNvGrpSpPr/>
          <p:nvPr/>
        </p:nvGrpSpPr>
        <p:grpSpPr>
          <a:xfrm>
            <a:off x="571500" y="762000"/>
            <a:ext cx="8001000" cy="19200"/>
            <a:chOff x="0" y="0"/>
            <a:chExt cx="8001000" cy="19200"/>
          </a:xfrm>
        </p:grpSpPr>
        <p:sp>
          <p:nvSpPr>
            <p:cNvPr id="522" name="Google Shape;522;p34"/>
            <p:cNvSpPr/>
            <p:nvPr/>
          </p:nvSpPr>
          <p:spPr>
            <a:xfrm>
              <a:off x="0" y="0"/>
              <a:ext cx="8001000" cy="9600"/>
            </a:xfrm>
            <a:prstGeom prst="rect">
              <a:avLst/>
            </a:prstGeom>
            <a:solidFill>
              <a:srgbClr val="E2E8F0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23" name="Google Shape;523;p34"/>
            <p:cNvSpPr/>
            <p:nvPr/>
          </p:nvSpPr>
          <p:spPr>
            <a:xfrm>
              <a:off x="0" y="0"/>
              <a:ext cx="1143000" cy="19200"/>
            </a:xfrm>
            <a:prstGeom prst="rect">
              <a:avLst/>
            </a:prstGeom>
            <a:solidFill>
              <a:srgbClr val="2563EB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524" name="Google Shape;524;p34"/>
          <p:cNvSpPr txBox="1"/>
          <p:nvPr/>
        </p:nvSpPr>
        <p:spPr>
          <a:xfrm>
            <a:off x="571500" y="952500"/>
            <a:ext cx="8001000" cy="476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100">
                <a:solidFill>
                  <a:srgbClr val="0F172A"/>
                </a:solidFill>
                <a:latin typeface="Inter"/>
                <a:ea typeface="Inter"/>
                <a:cs typeface="Inter"/>
                <a:sym typeface="Inter"/>
              </a:rPr>
              <a:t>Common Syntax Errors</a:t>
            </a:r>
            <a:endParaRPr b="1" sz="2100">
              <a:solidFill>
                <a:srgbClr val="0F172A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grpSp>
        <p:nvGrpSpPr>
          <p:cNvPr id="525" name="Google Shape;525;p34"/>
          <p:cNvGrpSpPr/>
          <p:nvPr/>
        </p:nvGrpSpPr>
        <p:grpSpPr>
          <a:xfrm>
            <a:off x="571500" y="1476375"/>
            <a:ext cx="8001000" cy="857400"/>
            <a:chOff x="0" y="0"/>
            <a:chExt cx="8001000" cy="857400"/>
          </a:xfrm>
        </p:grpSpPr>
        <p:sp>
          <p:nvSpPr>
            <p:cNvPr id="526" name="Google Shape;526;p34"/>
            <p:cNvSpPr/>
            <p:nvPr/>
          </p:nvSpPr>
          <p:spPr>
            <a:xfrm>
              <a:off x="0" y="0"/>
              <a:ext cx="8001000" cy="857400"/>
            </a:xfrm>
            <a:prstGeom prst="roundRect">
              <a:avLst>
                <a:gd fmla="val 6666" name="adj"/>
              </a:avLst>
            </a:prstGeom>
            <a:solidFill>
              <a:srgbClr val="FEF2F2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27" name="Google Shape;527;p34"/>
            <p:cNvSpPr/>
            <p:nvPr/>
          </p:nvSpPr>
          <p:spPr>
            <a:xfrm>
              <a:off x="0" y="0"/>
              <a:ext cx="57300" cy="857400"/>
            </a:xfrm>
            <a:custGeom>
              <a:rect b="b" l="l" r="r" t="t"/>
              <a:pathLst>
                <a:path extrusionOk="0" h="120000" w="120000">
                  <a:moveTo>
                    <a:pt x="0" y="8000"/>
                  </a:moveTo>
                  <a:quadBezTo>
                    <a:pt x="0" y="0"/>
                    <a:pt x="120000" y="0"/>
                  </a:quadBezTo>
                  <a:lnTo>
                    <a:pt x="120000" y="120000"/>
                  </a:lnTo>
                  <a:lnTo>
                    <a:pt x="120000" y="120000"/>
                  </a:lnTo>
                  <a:quadBezTo>
                    <a:pt x="0" y="120000"/>
                    <a:pt x="0" y="112000"/>
                  </a:quadBezTo>
                  <a:close/>
                </a:path>
              </a:pathLst>
            </a:custGeom>
            <a:solidFill>
              <a:srgbClr val="EF4444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28" name="Google Shape;528;p34"/>
            <p:cNvSpPr txBox="1"/>
            <p:nvPr/>
          </p:nvSpPr>
          <p:spPr>
            <a:xfrm>
              <a:off x="228600" y="142875"/>
              <a:ext cx="7543800" cy="5715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lang="en" sz="1200">
                  <a:solidFill>
                    <a:srgbClr val="991B1B"/>
                  </a:solidFill>
                  <a:latin typeface="Inter SemiBold"/>
                  <a:ea typeface="Inter SemiBold"/>
                  <a:cs typeface="Inter SemiBold"/>
                  <a:sym typeface="Inter SemiBold"/>
                </a:rPr>
                <a:t>Missing Column Separators</a:t>
              </a:r>
              <a:endParaRPr b="0" sz="1200">
                <a:solidFill>
                  <a:srgbClr val="991B1B"/>
                </a:solidFill>
                <a:latin typeface="Inter SemiBold"/>
                <a:ea typeface="Inter SemiBold"/>
                <a:cs typeface="Inter SemiBold"/>
                <a:sym typeface="Inter SemiBold"/>
              </a:endParaRPr>
            </a:p>
            <a:p>
              <a:pPr indent="0" lvl="0" marL="0" rtl="0" algn="l">
                <a:spcBef>
                  <a:spcPts val="300"/>
                </a:spcBef>
                <a:spcAft>
                  <a:spcPts val="0"/>
                </a:spcAft>
                <a:buNone/>
              </a:pPr>
              <a:r>
                <a:rPr b="0" lang="en" sz="1050">
                  <a:solidFill>
                    <a:srgbClr val="7F1D1D"/>
                  </a:solidFill>
                  <a:latin typeface="Inter"/>
                  <a:ea typeface="Inter"/>
                  <a:cs typeface="Inter"/>
                  <a:sym typeface="Inter"/>
                </a:rPr>
                <a:t>Common Syntax Errors include missing commas between column definitions. The SQL engine requires distinct separation between elements.</a:t>
              </a:r>
              <a:endParaRPr b="0" sz="1050">
                <a:solidFill>
                  <a:srgbClr val="7F1D1D"/>
                </a:solidFill>
                <a:latin typeface="Inter"/>
                <a:ea typeface="Inter"/>
                <a:cs typeface="Inter"/>
                <a:sym typeface="Inter"/>
              </a:endParaRPr>
            </a:p>
          </p:txBody>
        </p:sp>
      </p:grpSp>
      <p:grpSp>
        <p:nvGrpSpPr>
          <p:cNvPr id="529" name="Google Shape;529;p34"/>
          <p:cNvGrpSpPr/>
          <p:nvPr/>
        </p:nvGrpSpPr>
        <p:grpSpPr>
          <a:xfrm>
            <a:off x="571500" y="2524125"/>
            <a:ext cx="8001000" cy="2000100"/>
            <a:chOff x="0" y="0"/>
            <a:chExt cx="8001000" cy="2000100"/>
          </a:xfrm>
        </p:grpSpPr>
        <p:sp>
          <p:nvSpPr>
            <p:cNvPr id="530" name="Google Shape;530;p34"/>
            <p:cNvSpPr/>
            <p:nvPr/>
          </p:nvSpPr>
          <p:spPr>
            <a:xfrm>
              <a:off x="0" y="0"/>
              <a:ext cx="3810000" cy="2000100"/>
            </a:xfrm>
            <a:prstGeom prst="roundRect">
              <a:avLst>
                <a:gd fmla="val 2857" name="adj"/>
              </a:avLst>
            </a:prstGeom>
            <a:solidFill>
              <a:srgbClr val="F8FAFC"/>
            </a:solidFill>
            <a:ln cap="flat" cmpd="sng" w="9525">
              <a:solidFill>
                <a:srgbClr val="E2E8F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31" name="Google Shape;531;p34"/>
            <p:cNvSpPr/>
            <p:nvPr/>
          </p:nvSpPr>
          <p:spPr>
            <a:xfrm>
              <a:off x="0" y="0"/>
              <a:ext cx="57300" cy="2000100"/>
            </a:xfrm>
            <a:custGeom>
              <a:rect b="b" l="l" r="r" t="t"/>
              <a:pathLst>
                <a:path extrusionOk="0" h="120000" w="120000">
                  <a:moveTo>
                    <a:pt x="0" y="3429"/>
                  </a:moveTo>
                  <a:quadBezTo>
                    <a:pt x="0" y="0"/>
                    <a:pt x="120000" y="0"/>
                  </a:quadBezTo>
                  <a:lnTo>
                    <a:pt x="120000" y="120000"/>
                  </a:lnTo>
                  <a:lnTo>
                    <a:pt x="120000" y="120000"/>
                  </a:lnTo>
                  <a:quadBezTo>
                    <a:pt x="0" y="120000"/>
                    <a:pt x="0" y="116571"/>
                  </a:quadBezTo>
                  <a:close/>
                </a:path>
              </a:pathLst>
            </a:custGeom>
            <a:solidFill>
              <a:srgbClr val="EF4444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32" name="Google Shape;532;p34"/>
            <p:cNvSpPr txBox="1"/>
            <p:nvPr/>
          </p:nvSpPr>
          <p:spPr>
            <a:xfrm>
              <a:off x="190500" y="152400"/>
              <a:ext cx="3429000" cy="16956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lang="en" sz="900">
                  <a:solidFill>
                    <a:srgbClr val="991B1B"/>
                  </a:solidFill>
                  <a:latin typeface="Inter SemiBold"/>
                  <a:ea typeface="Inter SemiBold"/>
                  <a:cs typeface="Inter SemiBold"/>
                  <a:sym typeface="Inter SemiBold"/>
                </a:rPr>
                <a:t>INCORRECT FORMAT</a:t>
              </a:r>
              <a:endParaRPr b="0" sz="900">
                <a:solidFill>
                  <a:srgbClr val="991B1B"/>
                </a:solidFill>
                <a:latin typeface="Inter SemiBold"/>
                <a:ea typeface="Inter SemiBold"/>
                <a:cs typeface="Inter SemiBold"/>
                <a:sym typeface="Inter SemiBold"/>
              </a:endParaRPr>
            </a:p>
            <a:p>
              <a:pPr indent="0" lvl="0" marL="0" rtl="0" algn="l">
                <a:spcBef>
                  <a:spcPts val="900"/>
                </a:spcBef>
                <a:spcAft>
                  <a:spcPts val="0"/>
                </a:spcAft>
                <a:buNone/>
              </a:pPr>
              <a:r>
                <a:rPr b="0" lang="en" sz="975">
                  <a:solidFill>
                    <a:srgbClr val="475569"/>
                  </a:solidFill>
                  <a:latin typeface="Fira Code Medium"/>
                  <a:ea typeface="Fira Code Medium"/>
                  <a:cs typeface="Fira Code Medium"/>
                  <a:sym typeface="Fira Code Medium"/>
                </a:rPr>
                <a:t>CREATE TABLE Users (</a:t>
              </a:r>
              <a:endParaRPr b="0" sz="975">
                <a:solidFill>
                  <a:srgbClr val="475569"/>
                </a:solidFill>
                <a:latin typeface="Fira Code Medium"/>
                <a:ea typeface="Fira Code Medium"/>
                <a:cs typeface="Fira Code Medium"/>
                <a:sym typeface="Fira Code Medium"/>
              </a:endParaRPr>
            </a:p>
            <a:p>
              <a:pPr indent="0" lvl="0" marL="0" rtl="0" algn="l">
                <a:spcBef>
                  <a:spcPts val="600"/>
                </a:spcBef>
                <a:spcAft>
                  <a:spcPts val="0"/>
                </a:spcAft>
                <a:buNone/>
              </a:pPr>
              <a:r>
                <a:rPr b="0" lang="en" sz="975">
                  <a:solidFill>
                    <a:srgbClr val="991B1B"/>
                  </a:solidFill>
                  <a:highlight>
                    <a:srgbClr val="FEE2E2"/>
                  </a:highlight>
                  <a:latin typeface="Fira Code Medium"/>
                  <a:ea typeface="Fira Code Medium"/>
                  <a:cs typeface="Fira Code Medium"/>
                  <a:sym typeface="Fira Code Medium"/>
                </a:rPr>
                <a:t>UserID INT PRIMARY KEY</a:t>
              </a:r>
              <a:endParaRPr b="0" sz="975">
                <a:solidFill>
                  <a:srgbClr val="991B1B"/>
                </a:solidFill>
                <a:highlight>
                  <a:srgbClr val="FEE2E2"/>
                </a:highlight>
                <a:latin typeface="Fira Code Medium"/>
                <a:ea typeface="Fira Code Medium"/>
                <a:cs typeface="Fira Code Medium"/>
                <a:sym typeface="Fira Code Medium"/>
              </a:endParaRPr>
            </a:p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lang="en" sz="975">
                  <a:solidFill>
                    <a:srgbClr val="991B1B"/>
                  </a:solidFill>
                  <a:highlight>
                    <a:srgbClr val="FEE2E2"/>
                  </a:highlight>
                  <a:latin typeface="Fira Code Medium"/>
                  <a:ea typeface="Fira Code Medium"/>
                  <a:cs typeface="Fira Code Medium"/>
                  <a:sym typeface="Fira Code Medium"/>
                </a:rPr>
                <a:t>Username VARCHAR(50)</a:t>
              </a:r>
              <a:endParaRPr b="0" sz="975">
                <a:solidFill>
                  <a:srgbClr val="991B1B"/>
                </a:solidFill>
                <a:highlight>
                  <a:srgbClr val="FEE2E2"/>
                </a:highlight>
                <a:latin typeface="Fira Code Medium"/>
                <a:ea typeface="Fira Code Medium"/>
                <a:cs typeface="Fira Code Medium"/>
                <a:sym typeface="Fira Code Medium"/>
              </a:endParaRPr>
            </a:p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lang="en" sz="975">
                  <a:solidFill>
                    <a:srgbClr val="475569"/>
                  </a:solidFill>
                  <a:latin typeface="Fira Code Medium"/>
                  <a:ea typeface="Fira Code Medium"/>
                  <a:cs typeface="Fira Code Medium"/>
                  <a:sym typeface="Fira Code Medium"/>
                </a:rPr>
                <a:t>);</a:t>
              </a:r>
              <a:endParaRPr b="0" sz="975">
                <a:solidFill>
                  <a:srgbClr val="475569"/>
                </a:solidFill>
                <a:latin typeface="Fira Code Medium"/>
                <a:ea typeface="Fira Code Medium"/>
                <a:cs typeface="Fira Code Medium"/>
                <a:sym typeface="Fira Code Medium"/>
              </a:endParaRPr>
            </a:p>
          </p:txBody>
        </p:sp>
        <p:sp>
          <p:nvSpPr>
            <p:cNvPr id="533" name="Google Shape;533;p34"/>
            <p:cNvSpPr/>
            <p:nvPr/>
          </p:nvSpPr>
          <p:spPr>
            <a:xfrm>
              <a:off x="4191000" y="0"/>
              <a:ext cx="3810000" cy="2000100"/>
            </a:xfrm>
            <a:prstGeom prst="roundRect">
              <a:avLst>
                <a:gd fmla="val 2857" name="adj"/>
              </a:avLst>
            </a:prstGeom>
            <a:solidFill>
              <a:srgbClr val="F8FAFC"/>
            </a:solidFill>
            <a:ln cap="flat" cmpd="sng" w="9525">
              <a:solidFill>
                <a:srgbClr val="E2E8F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34" name="Google Shape;534;p34"/>
            <p:cNvSpPr/>
            <p:nvPr/>
          </p:nvSpPr>
          <p:spPr>
            <a:xfrm>
              <a:off x="4191000" y="0"/>
              <a:ext cx="57300" cy="2000100"/>
            </a:xfrm>
            <a:custGeom>
              <a:rect b="b" l="l" r="r" t="t"/>
              <a:pathLst>
                <a:path extrusionOk="0" h="120000" w="120000">
                  <a:moveTo>
                    <a:pt x="0" y="3429"/>
                  </a:moveTo>
                  <a:quadBezTo>
                    <a:pt x="0" y="0"/>
                    <a:pt x="120000" y="0"/>
                  </a:quadBezTo>
                  <a:lnTo>
                    <a:pt x="120000" y="120000"/>
                  </a:lnTo>
                  <a:lnTo>
                    <a:pt x="120000" y="120000"/>
                  </a:lnTo>
                  <a:quadBezTo>
                    <a:pt x="0" y="120000"/>
                    <a:pt x="0" y="116571"/>
                  </a:quadBezTo>
                  <a:close/>
                </a:path>
              </a:pathLst>
            </a:custGeom>
            <a:solidFill>
              <a:srgbClr val="10B981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35" name="Google Shape;535;p34"/>
            <p:cNvSpPr txBox="1"/>
            <p:nvPr/>
          </p:nvSpPr>
          <p:spPr>
            <a:xfrm>
              <a:off x="4381500" y="152400"/>
              <a:ext cx="3429000" cy="16956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lang="en" sz="900">
                  <a:solidFill>
                    <a:srgbClr val="059669"/>
                  </a:solidFill>
                  <a:latin typeface="Inter SemiBold"/>
                  <a:ea typeface="Inter SemiBold"/>
                  <a:cs typeface="Inter SemiBold"/>
                  <a:sym typeface="Inter SemiBold"/>
                </a:rPr>
                <a:t>CORRECT OPERATIONAL FORMAT</a:t>
              </a:r>
              <a:endParaRPr b="0" sz="900">
                <a:solidFill>
                  <a:srgbClr val="059669"/>
                </a:solidFill>
                <a:latin typeface="Inter SemiBold"/>
                <a:ea typeface="Inter SemiBold"/>
                <a:cs typeface="Inter SemiBold"/>
                <a:sym typeface="Inter SemiBold"/>
              </a:endParaRPr>
            </a:p>
            <a:p>
              <a:pPr indent="0" lvl="0" marL="0" rtl="0" algn="l">
                <a:spcBef>
                  <a:spcPts val="900"/>
                </a:spcBef>
                <a:spcAft>
                  <a:spcPts val="0"/>
                </a:spcAft>
                <a:buNone/>
              </a:pPr>
              <a:r>
                <a:rPr b="0" lang="en" sz="975">
                  <a:solidFill>
                    <a:srgbClr val="475569"/>
                  </a:solidFill>
                  <a:latin typeface="Fira Code Medium"/>
                  <a:ea typeface="Fira Code Medium"/>
                  <a:cs typeface="Fira Code Medium"/>
                  <a:sym typeface="Fira Code Medium"/>
                </a:rPr>
                <a:t>CREATE TABLE Users (</a:t>
              </a:r>
              <a:endParaRPr b="0" sz="975">
                <a:solidFill>
                  <a:srgbClr val="475569"/>
                </a:solidFill>
                <a:latin typeface="Fira Code Medium"/>
                <a:ea typeface="Fira Code Medium"/>
                <a:cs typeface="Fira Code Medium"/>
                <a:sym typeface="Fira Code Medium"/>
              </a:endParaRPr>
            </a:p>
            <a:p>
              <a:pPr indent="0" lvl="0" marL="0" rtl="0" algn="l">
                <a:spcBef>
                  <a:spcPts val="600"/>
                </a:spcBef>
                <a:spcAft>
                  <a:spcPts val="0"/>
                </a:spcAft>
                <a:buNone/>
              </a:pPr>
              <a:r>
                <a:rPr b="0" lang="en" sz="975">
                  <a:solidFill>
                    <a:srgbClr val="065F46"/>
                  </a:solidFill>
                  <a:highlight>
                    <a:srgbClr val="D1FAE5"/>
                  </a:highlight>
                  <a:latin typeface="Fira Code Medium"/>
                  <a:ea typeface="Fira Code Medium"/>
                  <a:cs typeface="Fira Code Medium"/>
                  <a:sym typeface="Fira Code Medium"/>
                </a:rPr>
                <a:t>UserID INT PRIMARY KEY</a:t>
              </a:r>
              <a:r>
                <a:rPr b="1" lang="en" sz="975">
                  <a:solidFill>
                    <a:srgbClr val="059669"/>
                  </a:solidFill>
                  <a:latin typeface="Fira Code"/>
                  <a:ea typeface="Fira Code"/>
                  <a:cs typeface="Fira Code"/>
                  <a:sym typeface="Fira Code"/>
                </a:rPr>
                <a:t>,</a:t>
              </a:r>
              <a:endParaRPr b="0" sz="975">
                <a:solidFill>
                  <a:srgbClr val="065F46"/>
                </a:solidFill>
                <a:highlight>
                  <a:srgbClr val="D1FAE5"/>
                </a:highlight>
                <a:latin typeface="Fira Code Medium"/>
                <a:ea typeface="Fira Code Medium"/>
                <a:cs typeface="Fira Code Medium"/>
                <a:sym typeface="Fira Code Medium"/>
              </a:endParaRPr>
            </a:p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lang="en" sz="975">
                  <a:solidFill>
                    <a:srgbClr val="065F46"/>
                  </a:solidFill>
                  <a:highlight>
                    <a:srgbClr val="D1FAE5"/>
                  </a:highlight>
                  <a:latin typeface="Fira Code Medium"/>
                  <a:ea typeface="Fira Code Medium"/>
                  <a:cs typeface="Fira Code Medium"/>
                  <a:sym typeface="Fira Code Medium"/>
                </a:rPr>
                <a:t>Username VARCHAR(50)</a:t>
              </a:r>
              <a:endParaRPr b="0" sz="975">
                <a:solidFill>
                  <a:srgbClr val="065F46"/>
                </a:solidFill>
                <a:highlight>
                  <a:srgbClr val="D1FAE5"/>
                </a:highlight>
                <a:latin typeface="Fira Code Medium"/>
                <a:ea typeface="Fira Code Medium"/>
                <a:cs typeface="Fira Code Medium"/>
                <a:sym typeface="Fira Code Medium"/>
              </a:endParaRPr>
            </a:p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lang="en" sz="975">
                  <a:solidFill>
                    <a:srgbClr val="475569"/>
                  </a:solidFill>
                  <a:latin typeface="Fira Code Medium"/>
                  <a:ea typeface="Fira Code Medium"/>
                  <a:cs typeface="Fira Code Medium"/>
                  <a:sym typeface="Fira Code Medium"/>
                </a:rPr>
                <a:t>);</a:t>
              </a:r>
              <a:endParaRPr b="0" sz="975">
                <a:solidFill>
                  <a:srgbClr val="475569"/>
                </a:solidFill>
                <a:latin typeface="Fira Code Medium"/>
                <a:ea typeface="Fira Code Medium"/>
                <a:cs typeface="Fira Code Medium"/>
                <a:sym typeface="Fira Code Medium"/>
              </a:endParaRPr>
            </a:p>
          </p:txBody>
        </p:sp>
      </p:grp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39" name="Shape 5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40" name="Google Shape;540;p35"/>
          <p:cNvGrpSpPr/>
          <p:nvPr/>
        </p:nvGrpSpPr>
        <p:grpSpPr>
          <a:xfrm>
            <a:off x="0" y="0"/>
            <a:ext cx="9144000" cy="5143500"/>
            <a:chOff x="0" y="0"/>
            <a:chExt cx="9144000" cy="5143500"/>
          </a:xfrm>
        </p:grpSpPr>
        <p:sp>
          <p:nvSpPr>
            <p:cNvPr id="541" name="Google Shape;541;p35"/>
            <p:cNvSpPr/>
            <p:nvPr/>
          </p:nvSpPr>
          <p:spPr>
            <a:xfrm>
              <a:off x="0" y="0"/>
              <a:ext cx="9144000" cy="5143500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42" name="Google Shape;542;p35"/>
            <p:cNvSpPr/>
            <p:nvPr/>
          </p:nvSpPr>
          <p:spPr>
            <a:xfrm>
              <a:off x="590550" y="400050"/>
              <a:ext cx="190500" cy="190500"/>
            </a:xfrm>
            <a:custGeom>
              <a:rect b="b" l="l" r="r" t="t"/>
              <a:pathLst>
                <a:path extrusionOk="0" h="120000" w="120000">
                  <a:moveTo>
                    <a:pt x="60000" y="0"/>
                  </a:moveTo>
                  <a:cubicBezTo>
                    <a:pt x="26880" y="0"/>
                    <a:pt x="0" y="26880"/>
                    <a:pt x="0" y="60000"/>
                  </a:cubicBezTo>
                  <a:lnTo>
                    <a:pt x="26880" y="120000"/>
                  </a:lnTo>
                  <a:lnTo>
                    <a:pt x="60000" y="120000"/>
                  </a:lnTo>
                  <a:lnTo>
                    <a:pt x="120000" y="93120"/>
                  </a:lnTo>
                  <a:lnTo>
                    <a:pt x="120000" y="60000"/>
                  </a:lnTo>
                  <a:lnTo>
                    <a:pt x="93120" y="0"/>
                  </a:lnTo>
                  <a:lnTo>
                    <a:pt x="60000" y="0"/>
                  </a:lnTo>
                  <a:close/>
                  <a:moveTo>
                    <a:pt x="60000" y="108000"/>
                  </a:moveTo>
                  <a:cubicBezTo>
                    <a:pt x="33540" y="108000"/>
                    <a:pt x="12000" y="86460"/>
                    <a:pt x="12000" y="60000"/>
                  </a:cubicBezTo>
                  <a:lnTo>
                    <a:pt x="33540" y="12000"/>
                  </a:lnTo>
                  <a:lnTo>
                    <a:pt x="60000" y="12000"/>
                  </a:lnTo>
                  <a:lnTo>
                    <a:pt x="108000" y="33540"/>
                  </a:lnTo>
                  <a:lnTo>
                    <a:pt x="108000" y="60000"/>
                  </a:lnTo>
                  <a:lnTo>
                    <a:pt x="86460" y="108000"/>
                  </a:lnTo>
                  <a:lnTo>
                    <a:pt x="60000" y="108000"/>
                  </a:lnTo>
                  <a:close/>
                  <a:moveTo>
                    <a:pt x="54000" y="30000"/>
                  </a:moveTo>
                  <a:lnTo>
                    <a:pt x="66000" y="30000"/>
                  </a:lnTo>
                  <a:lnTo>
                    <a:pt x="66000" y="66000"/>
                  </a:lnTo>
                  <a:lnTo>
                    <a:pt x="54000" y="66000"/>
                  </a:lnTo>
                  <a:close/>
                  <a:moveTo>
                    <a:pt x="54000" y="78000"/>
                  </a:moveTo>
                  <a:lnTo>
                    <a:pt x="66000" y="78000"/>
                  </a:lnTo>
                  <a:lnTo>
                    <a:pt x="66000" y="90000"/>
                  </a:lnTo>
                  <a:lnTo>
                    <a:pt x="54000" y="90000"/>
                  </a:lnTo>
                  <a:close/>
                </a:path>
              </a:pathLst>
            </a:custGeom>
            <a:solidFill>
              <a:srgbClr val="2563EB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43" name="Google Shape;543;p35"/>
            <p:cNvSpPr txBox="1"/>
            <p:nvPr/>
          </p:nvSpPr>
          <p:spPr>
            <a:xfrm>
              <a:off x="914400" y="400050"/>
              <a:ext cx="7086600" cy="2286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lang="en" sz="900">
                  <a:solidFill>
                    <a:srgbClr val="475569"/>
                  </a:solidFill>
                  <a:latin typeface="Inter SemiBold"/>
                  <a:ea typeface="Inter SemiBold"/>
                  <a:cs typeface="Inter SemiBold"/>
                  <a:sym typeface="Inter SemiBold"/>
                </a:rPr>
                <a:t>MAC 250: DATABASE ARCHITECTURE &amp; ENGINEERING</a:t>
              </a:r>
              <a:endParaRPr b="0" sz="900">
                <a:solidFill>
                  <a:srgbClr val="475569"/>
                </a:solidFill>
                <a:latin typeface="Inter SemiBold"/>
                <a:ea typeface="Inter SemiBold"/>
                <a:cs typeface="Inter SemiBold"/>
                <a:sym typeface="Inter SemiBold"/>
              </a:endParaRPr>
            </a:p>
          </p:txBody>
        </p:sp>
        <p:grpSp>
          <p:nvGrpSpPr>
            <p:cNvPr id="544" name="Google Shape;544;p35"/>
            <p:cNvGrpSpPr/>
            <p:nvPr/>
          </p:nvGrpSpPr>
          <p:grpSpPr>
            <a:xfrm>
              <a:off x="571500" y="762000"/>
              <a:ext cx="8001000" cy="19200"/>
              <a:chOff x="0" y="0"/>
              <a:chExt cx="8001000" cy="19200"/>
            </a:xfrm>
          </p:grpSpPr>
          <p:sp>
            <p:nvSpPr>
              <p:cNvPr id="545" name="Google Shape;545;p35"/>
              <p:cNvSpPr/>
              <p:nvPr/>
            </p:nvSpPr>
            <p:spPr>
              <a:xfrm>
                <a:off x="0" y="0"/>
                <a:ext cx="8001000" cy="9600"/>
              </a:xfrm>
              <a:prstGeom prst="rect">
                <a:avLst/>
              </a:prstGeom>
              <a:solidFill>
                <a:srgbClr val="E2E8F0"/>
              </a:solidFill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546" name="Google Shape;546;p35"/>
              <p:cNvSpPr/>
              <p:nvPr/>
            </p:nvSpPr>
            <p:spPr>
              <a:xfrm>
                <a:off x="0" y="0"/>
                <a:ext cx="1143000" cy="19200"/>
              </a:xfrm>
              <a:prstGeom prst="rect">
                <a:avLst/>
              </a:prstGeom>
              <a:solidFill>
                <a:srgbClr val="2563EB"/>
              </a:solidFill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</p:grpSp>
      <p:sp>
        <p:nvSpPr>
          <p:cNvPr id="547" name="Google Shape;547;p35"/>
          <p:cNvSpPr txBox="1"/>
          <p:nvPr/>
        </p:nvSpPr>
        <p:spPr>
          <a:xfrm>
            <a:off x="571500" y="952500"/>
            <a:ext cx="8001000" cy="381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100">
                <a:solidFill>
                  <a:srgbClr val="0F172A"/>
                </a:solidFill>
                <a:latin typeface="Inter"/>
                <a:ea typeface="Inter"/>
                <a:cs typeface="Inter"/>
                <a:sym typeface="Inter"/>
              </a:rPr>
              <a:t>Syntax Errors: Trailing Commas</a:t>
            </a:r>
            <a:endParaRPr b="1" sz="2100">
              <a:solidFill>
                <a:srgbClr val="0F172A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grpSp>
        <p:nvGrpSpPr>
          <p:cNvPr id="548" name="Google Shape;548;p35"/>
          <p:cNvGrpSpPr/>
          <p:nvPr/>
        </p:nvGrpSpPr>
        <p:grpSpPr>
          <a:xfrm>
            <a:off x="571500" y="1428750"/>
            <a:ext cx="8001000" cy="952500"/>
            <a:chOff x="0" y="0"/>
            <a:chExt cx="8001000" cy="952500"/>
          </a:xfrm>
        </p:grpSpPr>
        <p:sp>
          <p:nvSpPr>
            <p:cNvPr id="549" name="Google Shape;549;p35"/>
            <p:cNvSpPr/>
            <p:nvPr/>
          </p:nvSpPr>
          <p:spPr>
            <a:xfrm>
              <a:off x="0" y="0"/>
              <a:ext cx="8001000" cy="952500"/>
            </a:xfrm>
            <a:prstGeom prst="roundRect">
              <a:avLst>
                <a:gd fmla="val 6000" name="adj"/>
              </a:avLst>
            </a:prstGeom>
            <a:solidFill>
              <a:srgbClr val="FEF2F2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50" name="Google Shape;550;p35"/>
            <p:cNvSpPr/>
            <p:nvPr/>
          </p:nvSpPr>
          <p:spPr>
            <a:xfrm>
              <a:off x="0" y="0"/>
              <a:ext cx="57300" cy="952500"/>
            </a:xfrm>
            <a:custGeom>
              <a:rect b="b" l="l" r="r" t="t"/>
              <a:pathLst>
                <a:path extrusionOk="0" h="120000" w="120000">
                  <a:moveTo>
                    <a:pt x="0" y="7200"/>
                  </a:moveTo>
                  <a:quadBezTo>
                    <a:pt x="0" y="0"/>
                    <a:pt x="120000" y="0"/>
                  </a:quadBezTo>
                  <a:lnTo>
                    <a:pt x="120000" y="120000"/>
                  </a:lnTo>
                  <a:lnTo>
                    <a:pt x="120000" y="120000"/>
                  </a:lnTo>
                  <a:quadBezTo>
                    <a:pt x="0" y="120000"/>
                    <a:pt x="0" y="112800"/>
                  </a:quadBezTo>
                  <a:close/>
                </a:path>
              </a:pathLst>
            </a:custGeom>
            <a:solidFill>
              <a:srgbClr val="EF4444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51" name="Google Shape;551;p35"/>
            <p:cNvSpPr txBox="1"/>
            <p:nvPr/>
          </p:nvSpPr>
          <p:spPr>
            <a:xfrm>
              <a:off x="266700" y="152400"/>
              <a:ext cx="7467600" cy="6477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lang="en" sz="1200">
                  <a:solidFill>
                    <a:srgbClr val="991B1B"/>
                  </a:solidFill>
                  <a:latin typeface="Inter SemiBold"/>
                  <a:ea typeface="Inter SemiBold"/>
                  <a:cs typeface="Inter SemiBold"/>
                  <a:sym typeface="Inter SemiBold"/>
                </a:rPr>
                <a:t>Common Syntax Error: Trailing Comma</a:t>
              </a:r>
              <a:endParaRPr b="0" sz="1200">
                <a:solidFill>
                  <a:srgbClr val="991B1B"/>
                </a:solidFill>
                <a:latin typeface="Inter SemiBold"/>
                <a:ea typeface="Inter SemiBold"/>
                <a:cs typeface="Inter SemiBold"/>
                <a:sym typeface="Inter SemiBold"/>
              </a:endParaRPr>
            </a:p>
            <a:p>
              <a:pPr indent="0" lvl="0" marL="0" rtl="0" algn="l">
                <a:spcBef>
                  <a:spcPts val="300"/>
                </a:spcBef>
                <a:spcAft>
                  <a:spcPts val="0"/>
                </a:spcAft>
                <a:buNone/>
              </a:pPr>
              <a:r>
                <a:rPr b="0" lang="en" sz="1050">
                  <a:solidFill>
                    <a:srgbClr val="7F1D1D"/>
                  </a:solidFill>
                  <a:latin typeface="Inter"/>
                  <a:ea typeface="Inter"/>
                  <a:cs typeface="Inter"/>
                  <a:sym typeface="Inter"/>
                </a:rPr>
                <a:t>Another frequent syntax error is the inclusion of trailing commas. This occurs when a comma is left after the final column declaration in a table definition.</a:t>
              </a:r>
              <a:endParaRPr b="0" sz="1050">
                <a:solidFill>
                  <a:srgbClr val="7F1D1D"/>
                </a:solidFill>
                <a:latin typeface="Inter"/>
                <a:ea typeface="Inter"/>
                <a:cs typeface="Inter"/>
                <a:sym typeface="Inter"/>
              </a:endParaRPr>
            </a:p>
          </p:txBody>
        </p:sp>
      </p:grpSp>
      <p:grpSp>
        <p:nvGrpSpPr>
          <p:cNvPr id="552" name="Google Shape;552;p35"/>
          <p:cNvGrpSpPr/>
          <p:nvPr/>
        </p:nvGrpSpPr>
        <p:grpSpPr>
          <a:xfrm>
            <a:off x="571500" y="2619375"/>
            <a:ext cx="8001000" cy="2000100"/>
            <a:chOff x="0" y="0"/>
            <a:chExt cx="8001000" cy="2000100"/>
          </a:xfrm>
        </p:grpSpPr>
        <p:sp>
          <p:nvSpPr>
            <p:cNvPr id="553" name="Google Shape;553;p35"/>
            <p:cNvSpPr/>
            <p:nvPr/>
          </p:nvSpPr>
          <p:spPr>
            <a:xfrm>
              <a:off x="0" y="0"/>
              <a:ext cx="3810000" cy="2000100"/>
            </a:xfrm>
            <a:prstGeom prst="roundRect">
              <a:avLst>
                <a:gd fmla="val 2857" name="adj"/>
              </a:avLst>
            </a:prstGeom>
            <a:solidFill>
              <a:srgbClr val="F8FAFC"/>
            </a:solidFill>
            <a:ln cap="flat" cmpd="sng" w="9525">
              <a:solidFill>
                <a:srgbClr val="FECACA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54" name="Google Shape;554;p35"/>
            <p:cNvSpPr/>
            <p:nvPr/>
          </p:nvSpPr>
          <p:spPr>
            <a:xfrm>
              <a:off x="0" y="0"/>
              <a:ext cx="57300" cy="2000100"/>
            </a:xfrm>
            <a:prstGeom prst="roundRect">
              <a:avLst>
                <a:gd fmla="val 50000" name="adj"/>
              </a:avLst>
            </a:prstGeom>
            <a:solidFill>
              <a:srgbClr val="EF4444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55" name="Google Shape;555;p35"/>
            <p:cNvSpPr txBox="1"/>
            <p:nvPr/>
          </p:nvSpPr>
          <p:spPr>
            <a:xfrm>
              <a:off x="228600" y="190500"/>
              <a:ext cx="3390900" cy="16191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lang="en" sz="900">
                  <a:solidFill>
                    <a:srgbClr val="DC2626"/>
                  </a:solidFill>
                  <a:latin typeface="Inter SemiBold"/>
                  <a:ea typeface="Inter SemiBold"/>
                  <a:cs typeface="Inter SemiBold"/>
                  <a:sym typeface="Inter SemiBold"/>
                </a:rPr>
                <a:t>INCORRECT SYNTAX</a:t>
              </a:r>
              <a:endParaRPr b="0" sz="900">
                <a:solidFill>
                  <a:srgbClr val="DC2626"/>
                </a:solidFill>
                <a:latin typeface="Inter SemiBold"/>
                <a:ea typeface="Inter SemiBold"/>
                <a:cs typeface="Inter SemiBold"/>
                <a:sym typeface="Inter SemiBold"/>
              </a:endParaRPr>
            </a:p>
            <a:p>
              <a:pPr indent="0" lvl="0" marL="0" rtl="0" algn="l">
                <a:spcBef>
                  <a:spcPts val="900"/>
                </a:spcBef>
                <a:spcAft>
                  <a:spcPts val="0"/>
                </a:spcAft>
                <a:buNone/>
              </a:pPr>
              <a:r>
                <a:rPr b="0" lang="en" sz="1050">
                  <a:solidFill>
                    <a:srgbClr val="475569"/>
                  </a:solidFill>
                  <a:latin typeface="Fira Code Medium"/>
                  <a:ea typeface="Fira Code Medium"/>
                  <a:cs typeface="Fira Code Medium"/>
                  <a:sym typeface="Fira Code Medium"/>
                </a:rPr>
                <a:t>-- Trailing comma before ')'</a:t>
              </a:r>
              <a:endParaRPr b="0" sz="1050">
                <a:solidFill>
                  <a:srgbClr val="475569"/>
                </a:solidFill>
                <a:latin typeface="Fira Code Medium"/>
                <a:ea typeface="Fira Code Medium"/>
                <a:cs typeface="Fira Code Medium"/>
                <a:sym typeface="Fira Code Medium"/>
              </a:endParaRPr>
            </a:p>
            <a:p>
              <a:pPr indent="0" lvl="0" marL="0" rtl="0" algn="l">
                <a:spcBef>
                  <a:spcPts val="600"/>
                </a:spcBef>
                <a:spcAft>
                  <a:spcPts val="0"/>
                </a:spcAft>
                <a:buNone/>
              </a:pPr>
              <a:r>
                <a:rPr b="0" lang="en" sz="1050">
                  <a:solidFill>
                    <a:srgbClr val="0F172A"/>
                  </a:solidFill>
                  <a:latin typeface="Fira Code Medium"/>
                  <a:ea typeface="Fira Code Medium"/>
                  <a:cs typeface="Fira Code Medium"/>
                  <a:sym typeface="Fira Code Medium"/>
                </a:rPr>
                <a:t>CREATE TABLE Users (</a:t>
              </a:r>
              <a:endParaRPr b="0" sz="1050">
                <a:solidFill>
                  <a:srgbClr val="0F172A"/>
                </a:solidFill>
                <a:latin typeface="Fira Code Medium"/>
                <a:ea typeface="Fira Code Medium"/>
                <a:cs typeface="Fira Code Medium"/>
                <a:sym typeface="Fira Code Medium"/>
              </a:endParaRPr>
            </a:p>
            <a:p>
              <a:pPr indent="0" lvl="0" marL="0" rtl="0" algn="l">
                <a:spcBef>
                  <a:spcPts val="300"/>
                </a:spcBef>
                <a:spcAft>
                  <a:spcPts val="0"/>
                </a:spcAft>
                <a:buNone/>
              </a:pPr>
              <a:r>
                <a:rPr b="0" lang="en" sz="1050">
                  <a:solidFill>
                    <a:srgbClr val="0F172A"/>
                  </a:solidFill>
                  <a:latin typeface="Fira Code Medium"/>
                  <a:ea typeface="Fira Code Medium"/>
                  <a:cs typeface="Fira Code Medium"/>
                  <a:sym typeface="Fira Code Medium"/>
                </a:rPr>
                <a:t>User_ID INT,</a:t>
              </a:r>
              <a:endParaRPr b="0" sz="1050">
                <a:solidFill>
                  <a:srgbClr val="0F172A"/>
                </a:solidFill>
                <a:latin typeface="Fira Code Medium"/>
                <a:ea typeface="Fira Code Medium"/>
                <a:cs typeface="Fira Code Medium"/>
                <a:sym typeface="Fira Code Medium"/>
              </a:endParaRPr>
            </a:p>
            <a:p>
              <a:pPr indent="0" lvl="0" marL="0" rtl="0" algn="l">
                <a:spcBef>
                  <a:spcPts val="300"/>
                </a:spcBef>
                <a:spcAft>
                  <a:spcPts val="0"/>
                </a:spcAft>
                <a:buNone/>
              </a:pPr>
              <a:r>
                <a:rPr b="1" lang="en" sz="1050">
                  <a:solidFill>
                    <a:srgbClr val="DC2626"/>
                  </a:solidFill>
                  <a:latin typeface="Fira Code"/>
                  <a:ea typeface="Fira Code"/>
                  <a:cs typeface="Fira Code"/>
                  <a:sym typeface="Fira Code"/>
                </a:rPr>
                <a:t>Email VARCHAR(100),</a:t>
              </a:r>
              <a:endParaRPr b="1" sz="1050">
                <a:solidFill>
                  <a:srgbClr val="DC2626"/>
                </a:solidFill>
                <a:latin typeface="Fira Code"/>
                <a:ea typeface="Fira Code"/>
                <a:cs typeface="Fira Code"/>
                <a:sym typeface="Fira Code"/>
              </a:endParaRPr>
            </a:p>
            <a:p>
              <a:pPr indent="0" lvl="0" marL="0" rtl="0" algn="l">
                <a:spcBef>
                  <a:spcPts val="300"/>
                </a:spcBef>
                <a:spcAft>
                  <a:spcPts val="0"/>
                </a:spcAft>
                <a:buNone/>
              </a:pPr>
              <a:r>
                <a:rPr b="0" lang="en" sz="1050">
                  <a:solidFill>
                    <a:srgbClr val="0F172A"/>
                  </a:solidFill>
                  <a:latin typeface="Fira Code Medium"/>
                  <a:ea typeface="Fira Code Medium"/>
                  <a:cs typeface="Fira Code Medium"/>
                  <a:sym typeface="Fira Code Medium"/>
                </a:rPr>
                <a:t>);</a:t>
              </a:r>
              <a:endParaRPr b="0" sz="1050">
                <a:solidFill>
                  <a:srgbClr val="0F172A"/>
                </a:solidFill>
                <a:latin typeface="Fira Code Medium"/>
                <a:ea typeface="Fira Code Medium"/>
                <a:cs typeface="Fira Code Medium"/>
                <a:sym typeface="Fira Code Medium"/>
              </a:endParaRPr>
            </a:p>
          </p:txBody>
        </p:sp>
        <p:sp>
          <p:nvSpPr>
            <p:cNvPr id="556" name="Google Shape;556;p35"/>
            <p:cNvSpPr/>
            <p:nvPr/>
          </p:nvSpPr>
          <p:spPr>
            <a:xfrm>
              <a:off x="4191000" y="0"/>
              <a:ext cx="3810000" cy="2000100"/>
            </a:xfrm>
            <a:prstGeom prst="roundRect">
              <a:avLst>
                <a:gd fmla="val 2857" name="adj"/>
              </a:avLst>
            </a:prstGeom>
            <a:solidFill>
              <a:srgbClr val="F8FAFC"/>
            </a:solidFill>
            <a:ln cap="flat" cmpd="sng" w="9525">
              <a:solidFill>
                <a:srgbClr val="A7F3D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57" name="Google Shape;557;p35"/>
            <p:cNvSpPr/>
            <p:nvPr/>
          </p:nvSpPr>
          <p:spPr>
            <a:xfrm>
              <a:off x="4191000" y="0"/>
              <a:ext cx="57300" cy="2000100"/>
            </a:xfrm>
            <a:prstGeom prst="roundRect">
              <a:avLst>
                <a:gd fmla="val 50000" name="adj"/>
              </a:avLst>
            </a:prstGeom>
            <a:solidFill>
              <a:srgbClr val="10B981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58" name="Google Shape;558;p35"/>
            <p:cNvSpPr txBox="1"/>
            <p:nvPr/>
          </p:nvSpPr>
          <p:spPr>
            <a:xfrm>
              <a:off x="4419600" y="190500"/>
              <a:ext cx="3390900" cy="16191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lang="en" sz="900">
                  <a:solidFill>
                    <a:srgbClr val="059669"/>
                  </a:solidFill>
                  <a:latin typeface="Inter SemiBold"/>
                  <a:ea typeface="Inter SemiBold"/>
                  <a:cs typeface="Inter SemiBold"/>
                  <a:sym typeface="Inter SemiBold"/>
                </a:rPr>
                <a:t>CORRECT SYNTAX</a:t>
              </a:r>
              <a:endParaRPr b="0" sz="900">
                <a:solidFill>
                  <a:srgbClr val="059669"/>
                </a:solidFill>
                <a:latin typeface="Inter SemiBold"/>
                <a:ea typeface="Inter SemiBold"/>
                <a:cs typeface="Inter SemiBold"/>
                <a:sym typeface="Inter SemiBold"/>
              </a:endParaRPr>
            </a:p>
            <a:p>
              <a:pPr indent="0" lvl="0" marL="0" rtl="0" algn="l">
                <a:spcBef>
                  <a:spcPts val="900"/>
                </a:spcBef>
                <a:spcAft>
                  <a:spcPts val="0"/>
                </a:spcAft>
                <a:buNone/>
              </a:pPr>
              <a:r>
                <a:rPr b="0" lang="en" sz="1050">
                  <a:solidFill>
                    <a:srgbClr val="475569"/>
                  </a:solidFill>
                  <a:latin typeface="Fira Code Medium"/>
                  <a:ea typeface="Fira Code Medium"/>
                  <a:cs typeface="Fira Code Medium"/>
                  <a:sym typeface="Fira Code Medium"/>
                </a:rPr>
                <a:t>-- Final column omits comma</a:t>
              </a:r>
              <a:endParaRPr b="0" sz="1050">
                <a:solidFill>
                  <a:srgbClr val="475569"/>
                </a:solidFill>
                <a:latin typeface="Fira Code Medium"/>
                <a:ea typeface="Fira Code Medium"/>
                <a:cs typeface="Fira Code Medium"/>
                <a:sym typeface="Fira Code Medium"/>
              </a:endParaRPr>
            </a:p>
            <a:p>
              <a:pPr indent="0" lvl="0" marL="0" rtl="0" algn="l">
                <a:spcBef>
                  <a:spcPts val="600"/>
                </a:spcBef>
                <a:spcAft>
                  <a:spcPts val="0"/>
                </a:spcAft>
                <a:buNone/>
              </a:pPr>
              <a:r>
                <a:rPr b="0" lang="en" sz="1050">
                  <a:solidFill>
                    <a:srgbClr val="0F172A"/>
                  </a:solidFill>
                  <a:latin typeface="Fira Code Medium"/>
                  <a:ea typeface="Fira Code Medium"/>
                  <a:cs typeface="Fira Code Medium"/>
                  <a:sym typeface="Fira Code Medium"/>
                </a:rPr>
                <a:t>CREATE TABLE Users (</a:t>
              </a:r>
              <a:endParaRPr b="0" sz="1050">
                <a:solidFill>
                  <a:srgbClr val="0F172A"/>
                </a:solidFill>
                <a:latin typeface="Fira Code Medium"/>
                <a:ea typeface="Fira Code Medium"/>
                <a:cs typeface="Fira Code Medium"/>
                <a:sym typeface="Fira Code Medium"/>
              </a:endParaRPr>
            </a:p>
            <a:p>
              <a:pPr indent="0" lvl="0" marL="0" rtl="0" algn="l">
                <a:spcBef>
                  <a:spcPts val="300"/>
                </a:spcBef>
                <a:spcAft>
                  <a:spcPts val="0"/>
                </a:spcAft>
                <a:buNone/>
              </a:pPr>
              <a:r>
                <a:rPr b="0" lang="en" sz="1050">
                  <a:solidFill>
                    <a:srgbClr val="0F172A"/>
                  </a:solidFill>
                  <a:latin typeface="Fira Code Medium"/>
                  <a:ea typeface="Fira Code Medium"/>
                  <a:cs typeface="Fira Code Medium"/>
                  <a:sym typeface="Fira Code Medium"/>
                </a:rPr>
                <a:t>User_ID INT,</a:t>
              </a:r>
              <a:endParaRPr b="0" sz="1050">
                <a:solidFill>
                  <a:srgbClr val="0F172A"/>
                </a:solidFill>
                <a:latin typeface="Fira Code Medium"/>
                <a:ea typeface="Fira Code Medium"/>
                <a:cs typeface="Fira Code Medium"/>
                <a:sym typeface="Fira Code Medium"/>
              </a:endParaRPr>
            </a:p>
            <a:p>
              <a:pPr indent="0" lvl="0" marL="0" rtl="0" algn="l">
                <a:spcBef>
                  <a:spcPts val="300"/>
                </a:spcBef>
                <a:spcAft>
                  <a:spcPts val="0"/>
                </a:spcAft>
                <a:buNone/>
              </a:pPr>
              <a:r>
                <a:rPr b="1" lang="en" sz="1050">
                  <a:solidFill>
                    <a:srgbClr val="059669"/>
                  </a:solidFill>
                  <a:latin typeface="Fira Code"/>
                  <a:ea typeface="Fira Code"/>
                  <a:cs typeface="Fira Code"/>
                  <a:sym typeface="Fira Code"/>
                </a:rPr>
                <a:t>Email VARCHAR(100)</a:t>
              </a:r>
              <a:endParaRPr b="1" sz="1050">
                <a:solidFill>
                  <a:srgbClr val="059669"/>
                </a:solidFill>
                <a:latin typeface="Fira Code"/>
                <a:ea typeface="Fira Code"/>
                <a:cs typeface="Fira Code"/>
                <a:sym typeface="Fira Code"/>
              </a:endParaRPr>
            </a:p>
            <a:p>
              <a:pPr indent="0" lvl="0" marL="0" rtl="0" algn="l">
                <a:spcBef>
                  <a:spcPts val="300"/>
                </a:spcBef>
                <a:spcAft>
                  <a:spcPts val="0"/>
                </a:spcAft>
                <a:buNone/>
              </a:pPr>
              <a:r>
                <a:rPr b="0" lang="en" sz="1050">
                  <a:solidFill>
                    <a:srgbClr val="0F172A"/>
                  </a:solidFill>
                  <a:latin typeface="Fira Code Medium"/>
                  <a:ea typeface="Fira Code Medium"/>
                  <a:cs typeface="Fira Code Medium"/>
                  <a:sym typeface="Fira Code Medium"/>
                </a:rPr>
                <a:t>);</a:t>
              </a:r>
              <a:endParaRPr b="0" sz="1050">
                <a:solidFill>
                  <a:srgbClr val="0F172A"/>
                </a:solidFill>
                <a:latin typeface="Fira Code Medium"/>
                <a:ea typeface="Fira Code Medium"/>
                <a:cs typeface="Fira Code Medium"/>
                <a:sym typeface="Fira Code Medium"/>
              </a:endParaRPr>
            </a:p>
          </p:txBody>
        </p:sp>
      </p:grp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62" name="Shape 5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63" name="Google Shape;563;p36"/>
          <p:cNvGrpSpPr/>
          <p:nvPr/>
        </p:nvGrpSpPr>
        <p:grpSpPr>
          <a:xfrm>
            <a:off x="0" y="0"/>
            <a:ext cx="9144000" cy="5143500"/>
            <a:chOff x="0" y="0"/>
            <a:chExt cx="9144000" cy="5143500"/>
          </a:xfrm>
        </p:grpSpPr>
        <p:sp>
          <p:nvSpPr>
            <p:cNvPr id="564" name="Google Shape;564;p36"/>
            <p:cNvSpPr/>
            <p:nvPr/>
          </p:nvSpPr>
          <p:spPr>
            <a:xfrm>
              <a:off x="0" y="0"/>
              <a:ext cx="9144000" cy="5143500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65" name="Google Shape;565;p36"/>
            <p:cNvSpPr/>
            <p:nvPr/>
          </p:nvSpPr>
          <p:spPr>
            <a:xfrm>
              <a:off x="590550" y="400050"/>
              <a:ext cx="190500" cy="190500"/>
            </a:xfrm>
            <a:custGeom>
              <a:rect b="b" l="l" r="r" t="t"/>
              <a:pathLst>
                <a:path extrusionOk="0" h="120000" w="120000">
                  <a:moveTo>
                    <a:pt x="60000" y="0"/>
                  </a:moveTo>
                  <a:cubicBezTo>
                    <a:pt x="26880" y="0"/>
                    <a:pt x="0" y="26880"/>
                    <a:pt x="0" y="60000"/>
                  </a:cubicBezTo>
                  <a:lnTo>
                    <a:pt x="26880" y="120000"/>
                  </a:lnTo>
                  <a:lnTo>
                    <a:pt x="60000" y="120000"/>
                  </a:lnTo>
                  <a:lnTo>
                    <a:pt x="120000" y="93120"/>
                  </a:lnTo>
                  <a:lnTo>
                    <a:pt x="120000" y="60000"/>
                  </a:lnTo>
                  <a:lnTo>
                    <a:pt x="93120" y="0"/>
                  </a:lnTo>
                  <a:lnTo>
                    <a:pt x="60000" y="0"/>
                  </a:lnTo>
                  <a:close/>
                  <a:moveTo>
                    <a:pt x="60000" y="108000"/>
                  </a:moveTo>
                  <a:cubicBezTo>
                    <a:pt x="33540" y="108000"/>
                    <a:pt x="12000" y="86460"/>
                    <a:pt x="12000" y="60000"/>
                  </a:cubicBezTo>
                  <a:lnTo>
                    <a:pt x="33540" y="12000"/>
                  </a:lnTo>
                  <a:lnTo>
                    <a:pt x="60000" y="12000"/>
                  </a:lnTo>
                  <a:lnTo>
                    <a:pt x="108000" y="33540"/>
                  </a:lnTo>
                  <a:lnTo>
                    <a:pt x="108000" y="60000"/>
                  </a:lnTo>
                  <a:lnTo>
                    <a:pt x="86460" y="108000"/>
                  </a:lnTo>
                  <a:lnTo>
                    <a:pt x="60000" y="108000"/>
                  </a:lnTo>
                  <a:close/>
                  <a:moveTo>
                    <a:pt x="54000" y="30000"/>
                  </a:moveTo>
                  <a:lnTo>
                    <a:pt x="66000" y="30000"/>
                  </a:lnTo>
                  <a:lnTo>
                    <a:pt x="66000" y="66000"/>
                  </a:lnTo>
                  <a:lnTo>
                    <a:pt x="54000" y="66000"/>
                  </a:lnTo>
                  <a:close/>
                  <a:moveTo>
                    <a:pt x="54000" y="78000"/>
                  </a:moveTo>
                  <a:lnTo>
                    <a:pt x="66000" y="78000"/>
                  </a:lnTo>
                  <a:lnTo>
                    <a:pt x="66000" y="90000"/>
                  </a:lnTo>
                  <a:lnTo>
                    <a:pt x="54000" y="90000"/>
                  </a:lnTo>
                  <a:close/>
                </a:path>
              </a:pathLst>
            </a:custGeom>
            <a:solidFill>
              <a:srgbClr val="2563EB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66" name="Google Shape;566;p36"/>
            <p:cNvSpPr txBox="1"/>
            <p:nvPr/>
          </p:nvSpPr>
          <p:spPr>
            <a:xfrm>
              <a:off x="914400" y="400050"/>
              <a:ext cx="7086600" cy="2286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lang="en" sz="900">
                  <a:solidFill>
                    <a:srgbClr val="475569"/>
                  </a:solidFill>
                  <a:latin typeface="Inter SemiBold"/>
                  <a:ea typeface="Inter SemiBold"/>
                  <a:cs typeface="Inter SemiBold"/>
                  <a:sym typeface="Inter SemiBold"/>
                </a:rPr>
                <a:t>MAC 250: DATABASE ARCHITECTURE &amp; ENGINEERING</a:t>
              </a:r>
              <a:endParaRPr b="0" sz="900">
                <a:solidFill>
                  <a:srgbClr val="475569"/>
                </a:solidFill>
                <a:latin typeface="Inter SemiBold"/>
                <a:ea typeface="Inter SemiBold"/>
                <a:cs typeface="Inter SemiBold"/>
                <a:sym typeface="Inter SemiBold"/>
              </a:endParaRPr>
            </a:p>
          </p:txBody>
        </p:sp>
        <p:grpSp>
          <p:nvGrpSpPr>
            <p:cNvPr id="567" name="Google Shape;567;p36"/>
            <p:cNvGrpSpPr/>
            <p:nvPr/>
          </p:nvGrpSpPr>
          <p:grpSpPr>
            <a:xfrm>
              <a:off x="571500" y="762000"/>
              <a:ext cx="8001000" cy="19200"/>
              <a:chOff x="0" y="0"/>
              <a:chExt cx="8001000" cy="19200"/>
            </a:xfrm>
          </p:grpSpPr>
          <p:sp>
            <p:nvSpPr>
              <p:cNvPr id="568" name="Google Shape;568;p36"/>
              <p:cNvSpPr/>
              <p:nvPr/>
            </p:nvSpPr>
            <p:spPr>
              <a:xfrm>
                <a:off x="0" y="0"/>
                <a:ext cx="8001000" cy="9600"/>
              </a:xfrm>
              <a:prstGeom prst="rect">
                <a:avLst/>
              </a:prstGeom>
              <a:solidFill>
                <a:srgbClr val="E2E8F0"/>
              </a:solidFill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569" name="Google Shape;569;p36"/>
              <p:cNvSpPr/>
              <p:nvPr/>
            </p:nvSpPr>
            <p:spPr>
              <a:xfrm>
                <a:off x="0" y="0"/>
                <a:ext cx="1143000" cy="19200"/>
              </a:xfrm>
              <a:prstGeom prst="rect">
                <a:avLst/>
              </a:prstGeom>
              <a:solidFill>
                <a:srgbClr val="2563EB"/>
              </a:solidFill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</p:grpSp>
      <p:sp>
        <p:nvSpPr>
          <p:cNvPr id="570" name="Google Shape;570;p36"/>
          <p:cNvSpPr txBox="1"/>
          <p:nvPr/>
        </p:nvSpPr>
        <p:spPr>
          <a:xfrm>
            <a:off x="571500" y="1000125"/>
            <a:ext cx="8001000" cy="666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400">
                <a:solidFill>
                  <a:srgbClr val="0F172A"/>
                </a:solidFill>
                <a:latin typeface="Inter"/>
                <a:ea typeface="Inter"/>
                <a:cs typeface="Inter"/>
                <a:sym typeface="Inter"/>
              </a:rPr>
              <a:t>Syntax Error: Missing Semicolons</a:t>
            </a:r>
            <a:endParaRPr b="1" sz="2400">
              <a:solidFill>
                <a:srgbClr val="0F172A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0" lvl="0" marL="0" rtl="0" algn="l">
              <a:spcBef>
                <a:spcPts val="450"/>
              </a:spcBef>
              <a:spcAft>
                <a:spcPts val="0"/>
              </a:spcAft>
              <a:buNone/>
            </a:pPr>
            <a:r>
              <a:rPr b="0" lang="en" sz="1500">
                <a:solidFill>
                  <a:srgbClr val="2563EB"/>
                </a:solidFill>
                <a:latin typeface="Inter Medium"/>
                <a:ea typeface="Inter Medium"/>
                <a:cs typeface="Inter Medium"/>
                <a:sym typeface="Inter Medium"/>
              </a:rPr>
              <a:t>Command boundaries and statement termination rules</a:t>
            </a:r>
            <a:endParaRPr b="0" sz="1500">
              <a:solidFill>
                <a:srgbClr val="2563EB"/>
              </a:solidFill>
              <a:latin typeface="Inter Medium"/>
              <a:ea typeface="Inter Medium"/>
              <a:cs typeface="Inter Medium"/>
              <a:sym typeface="Inter Medium"/>
            </a:endParaRPr>
          </a:p>
        </p:txBody>
      </p:sp>
      <p:grpSp>
        <p:nvGrpSpPr>
          <p:cNvPr id="571" name="Google Shape;571;p36"/>
          <p:cNvGrpSpPr/>
          <p:nvPr/>
        </p:nvGrpSpPr>
        <p:grpSpPr>
          <a:xfrm>
            <a:off x="571500" y="1857375"/>
            <a:ext cx="8001000" cy="1238400"/>
            <a:chOff x="0" y="0"/>
            <a:chExt cx="8001000" cy="1238400"/>
          </a:xfrm>
        </p:grpSpPr>
        <p:sp>
          <p:nvSpPr>
            <p:cNvPr id="572" name="Google Shape;572;p36"/>
            <p:cNvSpPr/>
            <p:nvPr/>
          </p:nvSpPr>
          <p:spPr>
            <a:xfrm>
              <a:off x="0" y="0"/>
              <a:ext cx="8001000" cy="1238400"/>
            </a:xfrm>
            <a:prstGeom prst="roundRect">
              <a:avLst>
                <a:gd fmla="val 4615" name="adj"/>
              </a:avLst>
            </a:prstGeom>
            <a:solidFill>
              <a:srgbClr val="FEF2F2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73" name="Google Shape;573;p36"/>
            <p:cNvSpPr/>
            <p:nvPr/>
          </p:nvSpPr>
          <p:spPr>
            <a:xfrm>
              <a:off x="0" y="0"/>
              <a:ext cx="57300" cy="1238400"/>
            </a:xfrm>
            <a:custGeom>
              <a:rect b="b" l="l" r="r" t="t"/>
              <a:pathLst>
                <a:path extrusionOk="0" h="120000" w="120000">
                  <a:moveTo>
                    <a:pt x="0" y="5538"/>
                  </a:moveTo>
                  <a:quadBezTo>
                    <a:pt x="0" y="0"/>
                    <a:pt x="120000" y="0"/>
                  </a:quadBezTo>
                  <a:lnTo>
                    <a:pt x="120000" y="120000"/>
                  </a:lnTo>
                  <a:lnTo>
                    <a:pt x="120000" y="120000"/>
                  </a:lnTo>
                  <a:quadBezTo>
                    <a:pt x="0" y="120000"/>
                    <a:pt x="0" y="114462"/>
                  </a:quadBezTo>
                  <a:close/>
                </a:path>
              </a:pathLst>
            </a:custGeom>
            <a:solidFill>
              <a:srgbClr val="EF4444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74" name="Google Shape;574;p36"/>
            <p:cNvSpPr txBox="1"/>
            <p:nvPr/>
          </p:nvSpPr>
          <p:spPr>
            <a:xfrm>
              <a:off x="304800" y="190500"/>
              <a:ext cx="7391400" cy="8574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lang="en" sz="1200">
                  <a:solidFill>
                    <a:srgbClr val="991B1B"/>
                  </a:solidFill>
                  <a:latin typeface="Inter SemiBold"/>
                  <a:ea typeface="Inter SemiBold"/>
                  <a:cs typeface="Inter SemiBold"/>
                  <a:sym typeface="Inter SemiBold"/>
                </a:rPr>
                <a:t>Critical Syntax Failure</a:t>
              </a:r>
              <a:endParaRPr b="0" sz="1200">
                <a:solidFill>
                  <a:srgbClr val="991B1B"/>
                </a:solidFill>
                <a:latin typeface="Inter SemiBold"/>
                <a:ea typeface="Inter SemiBold"/>
                <a:cs typeface="Inter SemiBold"/>
                <a:sym typeface="Inter SemiBold"/>
              </a:endParaRPr>
            </a:p>
            <a:p>
              <a:pPr indent="0" lvl="0" marL="0" rtl="0" algn="l">
                <a:spcBef>
                  <a:spcPts val="600"/>
                </a:spcBef>
                <a:spcAft>
                  <a:spcPts val="0"/>
                </a:spcAft>
                <a:buNone/>
              </a:pPr>
              <a:r>
                <a:rPr b="0" lang="en" sz="1200">
                  <a:solidFill>
                    <a:srgbClr val="7F1D1D"/>
                  </a:solidFill>
                  <a:latin typeface="Inter"/>
                  <a:ea typeface="Inter"/>
                  <a:cs typeface="Inter"/>
                  <a:sym typeface="Inter"/>
                </a:rPr>
                <a:t>Missing semicolons represent a critical syntax failure. The database engine relies on semicolons to understand where one command ends and the next begins. Forgetting to end the statement will cause script execution errors.</a:t>
              </a:r>
              <a:endParaRPr b="0" sz="1200">
                <a:solidFill>
                  <a:srgbClr val="7F1D1D"/>
                </a:solidFill>
                <a:latin typeface="Inter"/>
                <a:ea typeface="Inter"/>
                <a:cs typeface="Inter"/>
                <a:sym typeface="Inter"/>
              </a:endParaRPr>
            </a:p>
          </p:txBody>
        </p:sp>
      </p:grpSp>
      <p:grpSp>
        <p:nvGrpSpPr>
          <p:cNvPr id="575" name="Google Shape;575;p36"/>
          <p:cNvGrpSpPr/>
          <p:nvPr/>
        </p:nvGrpSpPr>
        <p:grpSpPr>
          <a:xfrm>
            <a:off x="571500" y="3286125"/>
            <a:ext cx="8001000" cy="1238400"/>
            <a:chOff x="0" y="0"/>
            <a:chExt cx="8001000" cy="1238400"/>
          </a:xfrm>
        </p:grpSpPr>
        <p:sp>
          <p:nvSpPr>
            <p:cNvPr id="576" name="Google Shape;576;p36"/>
            <p:cNvSpPr/>
            <p:nvPr/>
          </p:nvSpPr>
          <p:spPr>
            <a:xfrm>
              <a:off x="0" y="0"/>
              <a:ext cx="8001000" cy="1238400"/>
            </a:xfrm>
            <a:prstGeom prst="roundRect">
              <a:avLst>
                <a:gd fmla="val 6153" name="adj"/>
              </a:avLst>
            </a:prstGeom>
            <a:solidFill>
              <a:srgbClr val="F0F9FF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77" name="Google Shape;577;p36"/>
            <p:cNvSpPr/>
            <p:nvPr/>
          </p:nvSpPr>
          <p:spPr>
            <a:xfrm>
              <a:off x="0" y="0"/>
              <a:ext cx="76200" cy="1238400"/>
            </a:xfrm>
            <a:custGeom>
              <a:rect b="b" l="l" r="r" t="t"/>
              <a:pathLst>
                <a:path extrusionOk="0" h="120000" w="120000">
                  <a:moveTo>
                    <a:pt x="0" y="7385"/>
                  </a:moveTo>
                  <a:quadBezTo>
                    <a:pt x="0" y="0"/>
                    <a:pt x="120000" y="0"/>
                  </a:quadBezTo>
                  <a:lnTo>
                    <a:pt x="120000" y="120000"/>
                  </a:lnTo>
                  <a:lnTo>
                    <a:pt x="120000" y="120000"/>
                  </a:lnTo>
                  <a:quadBezTo>
                    <a:pt x="0" y="120000"/>
                    <a:pt x="0" y="112615"/>
                  </a:quadBezTo>
                  <a:close/>
                </a:path>
              </a:pathLst>
            </a:custGeom>
            <a:solidFill>
              <a:srgbClr val="2563EB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78" name="Google Shape;578;p36"/>
            <p:cNvSpPr txBox="1"/>
            <p:nvPr/>
          </p:nvSpPr>
          <p:spPr>
            <a:xfrm>
              <a:off x="304800" y="228600"/>
              <a:ext cx="7391400" cy="781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lang="en" sz="1500">
                  <a:solidFill>
                    <a:srgbClr val="2563EB"/>
                  </a:solidFill>
                  <a:latin typeface="Inter Medium"/>
                  <a:ea typeface="Inter Medium"/>
                  <a:cs typeface="Inter Medium"/>
                  <a:sym typeface="Inter Medium"/>
                </a:rPr>
                <a:t>Standard Resolution</a:t>
              </a:r>
              <a:endParaRPr b="0" sz="1500">
                <a:solidFill>
                  <a:srgbClr val="2563EB"/>
                </a:solidFill>
                <a:latin typeface="Inter Medium"/>
                <a:ea typeface="Inter Medium"/>
                <a:cs typeface="Inter Medium"/>
                <a:sym typeface="Inter Medium"/>
              </a:endParaRPr>
            </a:p>
            <a:p>
              <a:pPr indent="0" lvl="0" marL="0" rtl="0" algn="l">
                <a:spcBef>
                  <a:spcPts val="600"/>
                </a:spcBef>
                <a:spcAft>
                  <a:spcPts val="0"/>
                </a:spcAft>
                <a:buNone/>
              </a:pPr>
              <a:r>
                <a:rPr b="0" lang="en" sz="1200">
                  <a:solidFill>
                    <a:srgbClr val="475569"/>
                  </a:solidFill>
                  <a:latin typeface="Inter"/>
                  <a:ea typeface="Inter"/>
                  <a:cs typeface="Inter"/>
                  <a:sym typeface="Inter"/>
                </a:rPr>
                <a:t>The universal fix is to always place a semicolon </a:t>
              </a:r>
              <a:r>
                <a:rPr b="1" lang="en" sz="1050">
                  <a:solidFill>
                    <a:srgbClr val="0284C7"/>
                  </a:solidFill>
                  <a:latin typeface="Fira Code"/>
                  <a:ea typeface="Fira Code"/>
                  <a:cs typeface="Fira Code"/>
                  <a:sym typeface="Fira Code"/>
                </a:rPr>
                <a:t>;</a:t>
              </a:r>
              <a:r>
                <a:rPr b="0" lang="en" sz="1200">
                  <a:solidFill>
                    <a:srgbClr val="475569"/>
                  </a:solidFill>
                  <a:latin typeface="Inter"/>
                  <a:ea typeface="Inter"/>
                  <a:cs typeface="Inter"/>
                  <a:sym typeface="Inter"/>
                </a:rPr>
                <a:t> immediately after the closing parenthesis </a:t>
              </a:r>
              <a:r>
                <a:rPr b="1" lang="en" sz="1050">
                  <a:solidFill>
                    <a:srgbClr val="0284C7"/>
                  </a:solidFill>
                  <a:latin typeface="Fira Code"/>
                  <a:ea typeface="Fira Code"/>
                  <a:cs typeface="Fira Code"/>
                  <a:sym typeface="Fira Code"/>
                </a:rPr>
                <a:t>)</a:t>
              </a:r>
              <a:r>
                <a:rPr b="0" lang="en" sz="1200">
                  <a:solidFill>
                    <a:srgbClr val="475569"/>
                  </a:solidFill>
                  <a:latin typeface="Inter"/>
                  <a:ea typeface="Inter"/>
                  <a:cs typeface="Inter"/>
                  <a:sym typeface="Inter"/>
                </a:rPr>
                <a:t>.</a:t>
              </a:r>
              <a:endParaRPr b="0" sz="1200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endParaRPr>
            </a:p>
          </p:txBody>
        </p:sp>
      </p:grp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82" name="Shape 5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3" name="Google Shape;583;p37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84" name="Google Shape;584;p37"/>
          <p:cNvSpPr/>
          <p:nvPr/>
        </p:nvSpPr>
        <p:spPr>
          <a:xfrm>
            <a:off x="590550" y="400050"/>
            <a:ext cx="190500" cy="190500"/>
          </a:xfrm>
          <a:custGeom>
            <a:rect b="b" l="l" r="r" t="t"/>
            <a:pathLst>
              <a:path extrusionOk="0" h="120000" w="120000">
                <a:moveTo>
                  <a:pt x="60000" y="0"/>
                </a:moveTo>
                <a:cubicBezTo>
                  <a:pt x="26880" y="0"/>
                  <a:pt x="0" y="26880"/>
                  <a:pt x="0" y="60000"/>
                </a:cubicBezTo>
                <a:lnTo>
                  <a:pt x="26880" y="120000"/>
                </a:lnTo>
                <a:lnTo>
                  <a:pt x="60000" y="120000"/>
                </a:lnTo>
                <a:lnTo>
                  <a:pt x="120000" y="93120"/>
                </a:lnTo>
                <a:lnTo>
                  <a:pt x="120000" y="60000"/>
                </a:lnTo>
                <a:lnTo>
                  <a:pt x="93120" y="0"/>
                </a:lnTo>
                <a:lnTo>
                  <a:pt x="60000" y="0"/>
                </a:lnTo>
                <a:close/>
                <a:moveTo>
                  <a:pt x="60000" y="108000"/>
                </a:moveTo>
                <a:cubicBezTo>
                  <a:pt x="33540" y="108000"/>
                  <a:pt x="12000" y="86460"/>
                  <a:pt x="12000" y="60000"/>
                </a:cubicBezTo>
                <a:lnTo>
                  <a:pt x="33540" y="12000"/>
                </a:lnTo>
                <a:lnTo>
                  <a:pt x="60000" y="12000"/>
                </a:lnTo>
                <a:lnTo>
                  <a:pt x="108000" y="33540"/>
                </a:lnTo>
                <a:lnTo>
                  <a:pt x="108000" y="60000"/>
                </a:lnTo>
                <a:lnTo>
                  <a:pt x="86460" y="108000"/>
                </a:lnTo>
                <a:lnTo>
                  <a:pt x="60000" y="108000"/>
                </a:lnTo>
                <a:close/>
                <a:moveTo>
                  <a:pt x="54000" y="30000"/>
                </a:moveTo>
                <a:lnTo>
                  <a:pt x="66000" y="30000"/>
                </a:lnTo>
                <a:lnTo>
                  <a:pt x="66000" y="66000"/>
                </a:lnTo>
                <a:lnTo>
                  <a:pt x="54000" y="66000"/>
                </a:lnTo>
                <a:close/>
                <a:moveTo>
                  <a:pt x="54000" y="78000"/>
                </a:moveTo>
                <a:lnTo>
                  <a:pt x="66000" y="78000"/>
                </a:lnTo>
                <a:lnTo>
                  <a:pt x="66000" y="90000"/>
                </a:lnTo>
                <a:lnTo>
                  <a:pt x="54000" y="90000"/>
                </a:lnTo>
                <a:close/>
              </a:path>
            </a:pathLst>
          </a:custGeom>
          <a:solidFill>
            <a:srgbClr val="2563EB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85" name="Google Shape;585;p37"/>
          <p:cNvSpPr txBox="1"/>
          <p:nvPr/>
        </p:nvSpPr>
        <p:spPr>
          <a:xfrm>
            <a:off x="914400" y="400050"/>
            <a:ext cx="70866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" sz="900">
                <a:solidFill>
                  <a:srgbClr val="475569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MAC 250: DATABASE ARCHITECTURE &amp; ENGINEERING</a:t>
            </a:r>
            <a:endParaRPr b="0" sz="900">
              <a:solidFill>
                <a:srgbClr val="475569"/>
              </a:solidFill>
              <a:latin typeface="Inter SemiBold"/>
              <a:ea typeface="Inter SemiBold"/>
              <a:cs typeface="Inter SemiBold"/>
              <a:sym typeface="Inter SemiBold"/>
            </a:endParaRPr>
          </a:p>
        </p:txBody>
      </p:sp>
      <p:grpSp>
        <p:nvGrpSpPr>
          <p:cNvPr id="586" name="Google Shape;586;p37"/>
          <p:cNvGrpSpPr/>
          <p:nvPr/>
        </p:nvGrpSpPr>
        <p:grpSpPr>
          <a:xfrm>
            <a:off x="571500" y="762000"/>
            <a:ext cx="8001000" cy="19200"/>
            <a:chOff x="0" y="0"/>
            <a:chExt cx="8001000" cy="19200"/>
          </a:xfrm>
        </p:grpSpPr>
        <p:sp>
          <p:nvSpPr>
            <p:cNvPr id="587" name="Google Shape;587;p37"/>
            <p:cNvSpPr/>
            <p:nvPr/>
          </p:nvSpPr>
          <p:spPr>
            <a:xfrm>
              <a:off x="0" y="0"/>
              <a:ext cx="8001000" cy="9600"/>
            </a:xfrm>
            <a:prstGeom prst="rect">
              <a:avLst/>
            </a:prstGeom>
            <a:solidFill>
              <a:srgbClr val="E2E8F0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88" name="Google Shape;588;p37"/>
            <p:cNvSpPr/>
            <p:nvPr/>
          </p:nvSpPr>
          <p:spPr>
            <a:xfrm>
              <a:off x="0" y="0"/>
              <a:ext cx="1143000" cy="19200"/>
            </a:xfrm>
            <a:prstGeom prst="rect">
              <a:avLst/>
            </a:prstGeom>
            <a:solidFill>
              <a:srgbClr val="2563EB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589" name="Google Shape;589;p37"/>
          <p:cNvSpPr txBox="1"/>
          <p:nvPr/>
        </p:nvSpPr>
        <p:spPr>
          <a:xfrm>
            <a:off x="571500" y="933450"/>
            <a:ext cx="8001000" cy="609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100">
                <a:solidFill>
                  <a:srgbClr val="0F172A"/>
                </a:solidFill>
                <a:latin typeface="Inter"/>
                <a:ea typeface="Inter"/>
                <a:cs typeface="Inter"/>
                <a:sym typeface="Inter"/>
              </a:rPr>
              <a:t>Data Type Mapping Standards</a:t>
            </a:r>
            <a:endParaRPr b="1" sz="2100">
              <a:solidFill>
                <a:srgbClr val="0F172A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0" lvl="0" marL="0" rtl="0" algn="l">
              <a:spcBef>
                <a:spcPts val="300"/>
              </a:spcBef>
              <a:spcAft>
                <a:spcPts val="0"/>
              </a:spcAft>
              <a:buNone/>
            </a:pPr>
            <a:r>
              <a:rPr b="0" lang="en" sz="1200">
                <a:solidFill>
                  <a:srgbClr val="2563EB"/>
                </a:solidFill>
                <a:latin typeface="Inter Medium"/>
                <a:ea typeface="Inter Medium"/>
                <a:cs typeface="Inter Medium"/>
                <a:sym typeface="Inter Medium"/>
              </a:rPr>
              <a:t>Pre-Lab Check: Translating DBML specifications to SQLite implementations</a:t>
            </a:r>
            <a:endParaRPr b="0" sz="1200">
              <a:solidFill>
                <a:srgbClr val="2563EB"/>
              </a:solidFill>
              <a:latin typeface="Inter Medium"/>
              <a:ea typeface="Inter Medium"/>
              <a:cs typeface="Inter Medium"/>
              <a:sym typeface="Inter Medium"/>
            </a:endParaRPr>
          </a:p>
        </p:txBody>
      </p:sp>
      <p:grpSp>
        <p:nvGrpSpPr>
          <p:cNvPr id="590" name="Google Shape;590;p37"/>
          <p:cNvGrpSpPr/>
          <p:nvPr/>
        </p:nvGrpSpPr>
        <p:grpSpPr>
          <a:xfrm>
            <a:off x="571500" y="1600200"/>
            <a:ext cx="8001000" cy="438300"/>
            <a:chOff x="0" y="0"/>
            <a:chExt cx="8001000" cy="438300"/>
          </a:xfrm>
        </p:grpSpPr>
        <p:sp>
          <p:nvSpPr>
            <p:cNvPr id="591" name="Google Shape;591;p37"/>
            <p:cNvSpPr/>
            <p:nvPr/>
          </p:nvSpPr>
          <p:spPr>
            <a:xfrm>
              <a:off x="0" y="0"/>
              <a:ext cx="8001000" cy="438300"/>
            </a:xfrm>
            <a:prstGeom prst="roundRect">
              <a:avLst>
                <a:gd fmla="val 13043" name="adj"/>
              </a:avLst>
            </a:prstGeom>
            <a:solidFill>
              <a:srgbClr val="F0F9FF"/>
            </a:solidFill>
            <a:ln cap="flat" cmpd="sng" w="9525">
              <a:solidFill>
                <a:srgbClr val="BAE6FD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92" name="Google Shape;592;p37"/>
            <p:cNvSpPr/>
            <p:nvPr/>
          </p:nvSpPr>
          <p:spPr>
            <a:xfrm>
              <a:off x="0" y="0"/>
              <a:ext cx="38100" cy="438300"/>
            </a:xfrm>
            <a:prstGeom prst="roundRect">
              <a:avLst>
                <a:gd fmla="val 50000" name="adj"/>
              </a:avLst>
            </a:prstGeom>
            <a:solidFill>
              <a:srgbClr val="2563EB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93" name="Google Shape;593;p37"/>
            <p:cNvSpPr txBox="1"/>
            <p:nvPr/>
          </p:nvSpPr>
          <p:spPr>
            <a:xfrm>
              <a:off x="190500" y="0"/>
              <a:ext cx="7620000" cy="4383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lang="en" sz="1050">
                  <a:solidFill>
                    <a:srgbClr val="2563EB"/>
                  </a:solidFill>
                  <a:latin typeface="Inter SemiBold"/>
                  <a:ea typeface="Inter SemiBold"/>
                  <a:cs typeface="Inter SemiBold"/>
                  <a:sym typeface="Inter SemiBold"/>
                </a:rPr>
                <a:t>Pre-Lab Check:</a:t>
              </a:r>
              <a:r>
                <a:rPr b="0" lang="en" sz="1050">
                  <a:solidFill>
                    <a:srgbClr val="0F172A"/>
                  </a:solidFill>
                  <a:latin typeface="Inter"/>
                  <a:ea typeface="Inter"/>
                  <a:cs typeface="Inter"/>
                  <a:sym typeface="Inter"/>
                </a:rPr>
                <a:t> During the Pre-Lab Check, ensure you map your DBML data types accurately to SQLite standards.</a:t>
              </a:r>
              <a:endParaRPr b="0" sz="1050">
                <a:solidFill>
                  <a:srgbClr val="0F172A"/>
                </a:solidFill>
                <a:latin typeface="Inter"/>
                <a:ea typeface="Inter"/>
                <a:cs typeface="Inter"/>
                <a:sym typeface="Inter"/>
              </a:endParaRPr>
            </a:p>
          </p:txBody>
        </p:sp>
      </p:grpSp>
      <p:grpSp>
        <p:nvGrpSpPr>
          <p:cNvPr id="594" name="Google Shape;594;p37"/>
          <p:cNvGrpSpPr/>
          <p:nvPr/>
        </p:nvGrpSpPr>
        <p:grpSpPr>
          <a:xfrm>
            <a:off x="571500" y="2190750"/>
            <a:ext cx="3810000" cy="2476500"/>
            <a:chOff x="0" y="0"/>
            <a:chExt cx="3810000" cy="2476500"/>
          </a:xfrm>
        </p:grpSpPr>
        <p:sp>
          <p:nvSpPr>
            <p:cNvPr id="595" name="Google Shape;595;p37"/>
            <p:cNvSpPr/>
            <p:nvPr/>
          </p:nvSpPr>
          <p:spPr>
            <a:xfrm>
              <a:off x="0" y="0"/>
              <a:ext cx="3810000" cy="2476500"/>
            </a:xfrm>
            <a:prstGeom prst="roundRect">
              <a:avLst>
                <a:gd fmla="val 3076" name="adj"/>
              </a:avLst>
            </a:prstGeom>
            <a:solidFill>
              <a:srgbClr val="F8FAFC"/>
            </a:solidFill>
            <a:ln cap="flat" cmpd="sng" w="9525">
              <a:solidFill>
                <a:srgbClr val="E2E8F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96" name="Google Shape;596;p37"/>
            <p:cNvSpPr/>
            <p:nvPr/>
          </p:nvSpPr>
          <p:spPr>
            <a:xfrm>
              <a:off x="190500" y="190500"/>
              <a:ext cx="1238400" cy="304800"/>
            </a:xfrm>
            <a:prstGeom prst="roundRect">
              <a:avLst>
                <a:gd fmla="val 12500" name="adj"/>
              </a:avLst>
            </a:prstGeom>
            <a:solidFill>
              <a:srgbClr val="E0F2FE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97" name="Google Shape;597;p37"/>
            <p:cNvSpPr txBox="1"/>
            <p:nvPr/>
          </p:nvSpPr>
          <p:spPr>
            <a:xfrm>
              <a:off x="190500" y="190500"/>
              <a:ext cx="1238400" cy="3048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lang="en" sz="975">
                  <a:solidFill>
                    <a:srgbClr val="0369A1"/>
                  </a:solidFill>
                  <a:latin typeface="Fira Code Medium"/>
                  <a:ea typeface="Fira Code Medium"/>
                  <a:cs typeface="Fira Code Medium"/>
                  <a:sym typeface="Fira Code Medium"/>
                </a:rPr>
                <a:t>DBML: boolean</a:t>
              </a:r>
              <a:endParaRPr b="0" sz="975">
                <a:solidFill>
                  <a:srgbClr val="0369A1"/>
                </a:solidFill>
                <a:latin typeface="Fira Code Medium"/>
                <a:ea typeface="Fira Code Medium"/>
                <a:cs typeface="Fira Code Medium"/>
                <a:sym typeface="Fira Code Medium"/>
              </a:endParaRPr>
            </a:p>
          </p:txBody>
        </p:sp>
        <p:sp>
          <p:nvSpPr>
            <p:cNvPr id="598" name="Google Shape;598;p37"/>
            <p:cNvSpPr txBox="1"/>
            <p:nvPr/>
          </p:nvSpPr>
          <p:spPr>
            <a:xfrm>
              <a:off x="1466850" y="190500"/>
              <a:ext cx="285900" cy="3048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lang="en" sz="1200">
                  <a:solidFill>
                    <a:srgbClr val="2563EB"/>
                  </a:solidFill>
                  <a:latin typeface="Inter SemiBold"/>
                  <a:ea typeface="Inter SemiBold"/>
                  <a:cs typeface="Inter SemiBold"/>
                  <a:sym typeface="Inter SemiBold"/>
                </a:rPr>
                <a:t>→</a:t>
              </a:r>
              <a:endParaRPr b="0" sz="1200">
                <a:solidFill>
                  <a:srgbClr val="2563EB"/>
                </a:solidFill>
                <a:latin typeface="Inter SemiBold"/>
                <a:ea typeface="Inter SemiBold"/>
                <a:cs typeface="Inter SemiBold"/>
                <a:sym typeface="Inter SemiBold"/>
              </a:endParaRPr>
            </a:p>
          </p:txBody>
        </p:sp>
        <p:sp>
          <p:nvSpPr>
            <p:cNvPr id="599" name="Google Shape;599;p37"/>
            <p:cNvSpPr/>
            <p:nvPr/>
          </p:nvSpPr>
          <p:spPr>
            <a:xfrm>
              <a:off x="1790700" y="190500"/>
              <a:ext cx="1828800" cy="304800"/>
            </a:xfrm>
            <a:prstGeom prst="roundRect">
              <a:avLst>
                <a:gd fmla="val 12500" name="adj"/>
              </a:avLst>
            </a:prstGeom>
            <a:solidFill>
              <a:srgbClr val="2563EB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00" name="Google Shape;600;p37"/>
            <p:cNvSpPr txBox="1"/>
            <p:nvPr/>
          </p:nvSpPr>
          <p:spPr>
            <a:xfrm>
              <a:off x="1790700" y="190500"/>
              <a:ext cx="1828800" cy="3048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lang="en" sz="975">
                  <a:solidFill>
                    <a:srgbClr val="FFFFFF"/>
                  </a:solidFill>
                  <a:latin typeface="Fira Code Medium"/>
                  <a:ea typeface="Fira Code Medium"/>
                  <a:cs typeface="Fira Code Medium"/>
                  <a:sym typeface="Fira Code Medium"/>
                </a:rPr>
                <a:t>SQLite: INTEGER (0|1)</a:t>
              </a:r>
              <a:endParaRPr b="0" sz="975">
                <a:solidFill>
                  <a:srgbClr val="FFFFFF"/>
                </a:solidFill>
                <a:latin typeface="Fira Code Medium"/>
                <a:ea typeface="Fira Code Medium"/>
                <a:cs typeface="Fira Code Medium"/>
                <a:sym typeface="Fira Code Medium"/>
              </a:endParaRPr>
            </a:p>
          </p:txBody>
        </p:sp>
        <p:sp>
          <p:nvSpPr>
            <p:cNvPr id="601" name="Google Shape;601;p37"/>
            <p:cNvSpPr/>
            <p:nvPr/>
          </p:nvSpPr>
          <p:spPr>
            <a:xfrm>
              <a:off x="190500" y="647700"/>
              <a:ext cx="3429000" cy="9600"/>
            </a:xfrm>
            <a:prstGeom prst="rect">
              <a:avLst/>
            </a:prstGeom>
            <a:solidFill>
              <a:srgbClr val="E2E8F0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02" name="Google Shape;602;p37"/>
            <p:cNvSpPr txBox="1"/>
            <p:nvPr/>
          </p:nvSpPr>
          <p:spPr>
            <a:xfrm>
              <a:off x="190500" y="800100"/>
              <a:ext cx="3429000" cy="14859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lang="en" sz="900">
                  <a:solidFill>
                    <a:srgbClr val="2563EB"/>
                  </a:solidFill>
                  <a:latin typeface="Inter SemiBold"/>
                  <a:ea typeface="Inter SemiBold"/>
                  <a:cs typeface="Inter SemiBold"/>
                  <a:sym typeface="Inter SemiBold"/>
                </a:rPr>
                <a:t>Boolean Implementation</a:t>
              </a:r>
              <a:endParaRPr b="0" sz="900">
                <a:solidFill>
                  <a:srgbClr val="2563EB"/>
                </a:solidFill>
                <a:latin typeface="Inter SemiBold"/>
                <a:ea typeface="Inter SemiBold"/>
                <a:cs typeface="Inter SemiBold"/>
                <a:sym typeface="Inter SemiBold"/>
              </a:endParaRPr>
            </a:p>
            <a:p>
              <a:pPr indent="0" lvl="0" marL="0" rtl="0" algn="l">
                <a:spcBef>
                  <a:spcPts val="600"/>
                </a:spcBef>
                <a:spcAft>
                  <a:spcPts val="0"/>
                </a:spcAft>
                <a:buNone/>
              </a:pPr>
              <a:r>
                <a:rPr b="0" lang="en" sz="1125">
                  <a:solidFill>
                    <a:srgbClr val="475569"/>
                  </a:solidFill>
                  <a:latin typeface="Inter"/>
                  <a:ea typeface="Inter"/>
                  <a:cs typeface="Inter"/>
                  <a:sym typeface="Inter"/>
                </a:rPr>
                <a:t>If a DBML diagram specifies a boolean, SQLite practically implements this using an INTEGER data type, storing 0 or 1.</a:t>
              </a:r>
              <a:endParaRPr b="0" sz="1125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endParaRPr>
            </a:p>
          </p:txBody>
        </p:sp>
      </p:grpSp>
      <p:grpSp>
        <p:nvGrpSpPr>
          <p:cNvPr id="603" name="Google Shape;603;p37"/>
          <p:cNvGrpSpPr/>
          <p:nvPr/>
        </p:nvGrpSpPr>
        <p:grpSpPr>
          <a:xfrm>
            <a:off x="4762500" y="2190750"/>
            <a:ext cx="3810000" cy="2476500"/>
            <a:chOff x="0" y="0"/>
            <a:chExt cx="3810000" cy="2476500"/>
          </a:xfrm>
        </p:grpSpPr>
        <p:sp>
          <p:nvSpPr>
            <p:cNvPr id="604" name="Google Shape;604;p37"/>
            <p:cNvSpPr/>
            <p:nvPr/>
          </p:nvSpPr>
          <p:spPr>
            <a:xfrm>
              <a:off x="0" y="0"/>
              <a:ext cx="3810000" cy="2476500"/>
            </a:xfrm>
            <a:prstGeom prst="roundRect">
              <a:avLst>
                <a:gd fmla="val 3076" name="adj"/>
              </a:avLst>
            </a:prstGeom>
            <a:solidFill>
              <a:srgbClr val="F8FAFC"/>
            </a:solidFill>
            <a:ln cap="flat" cmpd="sng" w="9525">
              <a:solidFill>
                <a:srgbClr val="E2E8F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05" name="Google Shape;605;p37"/>
            <p:cNvSpPr/>
            <p:nvPr/>
          </p:nvSpPr>
          <p:spPr>
            <a:xfrm>
              <a:off x="190500" y="190500"/>
              <a:ext cx="1238400" cy="304800"/>
            </a:xfrm>
            <a:prstGeom prst="roundRect">
              <a:avLst>
                <a:gd fmla="val 12500" name="adj"/>
              </a:avLst>
            </a:prstGeom>
            <a:solidFill>
              <a:srgbClr val="E0F2FE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06" name="Google Shape;606;p37"/>
            <p:cNvSpPr txBox="1"/>
            <p:nvPr/>
          </p:nvSpPr>
          <p:spPr>
            <a:xfrm>
              <a:off x="190500" y="190500"/>
              <a:ext cx="1238400" cy="3048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lang="en" sz="975">
                  <a:solidFill>
                    <a:srgbClr val="0369A1"/>
                  </a:solidFill>
                  <a:latin typeface="Fira Code Medium"/>
                  <a:ea typeface="Fira Code Medium"/>
                  <a:cs typeface="Fira Code Medium"/>
                  <a:sym typeface="Fira Code Medium"/>
                </a:rPr>
                <a:t>DBML: datetime</a:t>
              </a:r>
              <a:endParaRPr b="0" sz="975">
                <a:solidFill>
                  <a:srgbClr val="0369A1"/>
                </a:solidFill>
                <a:latin typeface="Fira Code Medium"/>
                <a:ea typeface="Fira Code Medium"/>
                <a:cs typeface="Fira Code Medium"/>
                <a:sym typeface="Fira Code Medium"/>
              </a:endParaRPr>
            </a:p>
          </p:txBody>
        </p:sp>
        <p:sp>
          <p:nvSpPr>
            <p:cNvPr id="607" name="Google Shape;607;p37"/>
            <p:cNvSpPr txBox="1"/>
            <p:nvPr/>
          </p:nvSpPr>
          <p:spPr>
            <a:xfrm>
              <a:off x="1466850" y="190500"/>
              <a:ext cx="285900" cy="3048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lang="en" sz="1200">
                  <a:solidFill>
                    <a:srgbClr val="2563EB"/>
                  </a:solidFill>
                  <a:latin typeface="Inter SemiBold"/>
                  <a:ea typeface="Inter SemiBold"/>
                  <a:cs typeface="Inter SemiBold"/>
                  <a:sym typeface="Inter SemiBold"/>
                </a:rPr>
                <a:t>→</a:t>
              </a:r>
              <a:endParaRPr b="0" sz="1200">
                <a:solidFill>
                  <a:srgbClr val="2563EB"/>
                </a:solidFill>
                <a:latin typeface="Inter SemiBold"/>
                <a:ea typeface="Inter SemiBold"/>
                <a:cs typeface="Inter SemiBold"/>
                <a:sym typeface="Inter SemiBold"/>
              </a:endParaRPr>
            </a:p>
          </p:txBody>
        </p:sp>
        <p:sp>
          <p:nvSpPr>
            <p:cNvPr id="608" name="Google Shape;608;p37"/>
            <p:cNvSpPr/>
            <p:nvPr/>
          </p:nvSpPr>
          <p:spPr>
            <a:xfrm>
              <a:off x="1790700" y="190500"/>
              <a:ext cx="1828800" cy="304800"/>
            </a:xfrm>
            <a:prstGeom prst="roundRect">
              <a:avLst>
                <a:gd fmla="val 12500" name="adj"/>
              </a:avLst>
            </a:prstGeom>
            <a:solidFill>
              <a:srgbClr val="2563EB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09" name="Google Shape;609;p37"/>
            <p:cNvSpPr txBox="1"/>
            <p:nvPr/>
          </p:nvSpPr>
          <p:spPr>
            <a:xfrm>
              <a:off x="1790700" y="190500"/>
              <a:ext cx="1828800" cy="3048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lang="en" sz="975">
                  <a:solidFill>
                    <a:srgbClr val="FFFFFF"/>
                  </a:solidFill>
                  <a:latin typeface="Fira Code Medium"/>
                  <a:ea typeface="Fira Code Medium"/>
                  <a:cs typeface="Fira Code Medium"/>
                  <a:sym typeface="Fira Code Medium"/>
                </a:rPr>
                <a:t>SQLite: TEXT / NUMERIC</a:t>
              </a:r>
              <a:endParaRPr b="0" sz="975">
                <a:solidFill>
                  <a:srgbClr val="FFFFFF"/>
                </a:solidFill>
                <a:latin typeface="Fira Code Medium"/>
                <a:ea typeface="Fira Code Medium"/>
                <a:cs typeface="Fira Code Medium"/>
                <a:sym typeface="Fira Code Medium"/>
              </a:endParaRPr>
            </a:p>
          </p:txBody>
        </p:sp>
        <p:sp>
          <p:nvSpPr>
            <p:cNvPr id="610" name="Google Shape;610;p37"/>
            <p:cNvSpPr/>
            <p:nvPr/>
          </p:nvSpPr>
          <p:spPr>
            <a:xfrm>
              <a:off x="190500" y="647700"/>
              <a:ext cx="3429000" cy="9600"/>
            </a:xfrm>
            <a:prstGeom prst="rect">
              <a:avLst/>
            </a:prstGeom>
            <a:solidFill>
              <a:srgbClr val="E2E8F0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11" name="Google Shape;611;p37"/>
            <p:cNvSpPr txBox="1"/>
            <p:nvPr/>
          </p:nvSpPr>
          <p:spPr>
            <a:xfrm>
              <a:off x="190500" y="800100"/>
              <a:ext cx="3429000" cy="14859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lang="en" sz="900">
                  <a:solidFill>
                    <a:srgbClr val="2563EB"/>
                  </a:solidFill>
                  <a:latin typeface="Inter SemiBold"/>
                  <a:ea typeface="Inter SemiBold"/>
                  <a:cs typeface="Inter SemiBold"/>
                  <a:sym typeface="Inter SemiBold"/>
                </a:rPr>
                <a:t>Datetime Implementation</a:t>
              </a:r>
              <a:endParaRPr b="0" sz="900">
                <a:solidFill>
                  <a:srgbClr val="2563EB"/>
                </a:solidFill>
                <a:latin typeface="Inter SemiBold"/>
                <a:ea typeface="Inter SemiBold"/>
                <a:cs typeface="Inter SemiBold"/>
                <a:sym typeface="Inter SemiBold"/>
              </a:endParaRPr>
            </a:p>
            <a:p>
              <a:pPr indent="0" lvl="0" marL="0" rtl="0" algn="l">
                <a:spcBef>
                  <a:spcPts val="600"/>
                </a:spcBef>
                <a:spcAft>
                  <a:spcPts val="0"/>
                </a:spcAft>
                <a:buNone/>
              </a:pPr>
              <a:r>
                <a:rPr b="0" lang="en" sz="1125">
                  <a:solidFill>
                    <a:srgbClr val="475569"/>
                  </a:solidFill>
                  <a:latin typeface="Inter"/>
                  <a:ea typeface="Inter"/>
                  <a:cs typeface="Inter"/>
                  <a:sym typeface="Inter"/>
                </a:rPr>
                <a:t>If DBML specifies datetime, SQLite accommodates this by using TEXT for ISO8601 strings or NUMERIC types.</a:t>
              </a:r>
              <a:endParaRPr b="0" sz="1125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endParaRPr>
            </a:p>
          </p:txBody>
        </p:sp>
      </p:grp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615" name="Shape 6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16" name="Google Shape;616;p38"/>
          <p:cNvGrpSpPr/>
          <p:nvPr/>
        </p:nvGrpSpPr>
        <p:grpSpPr>
          <a:xfrm>
            <a:off x="590550" y="400050"/>
            <a:ext cx="7410450" cy="228600"/>
            <a:chOff x="19050" y="19050"/>
            <a:chExt cx="7410450" cy="228600"/>
          </a:xfrm>
        </p:grpSpPr>
        <p:sp>
          <p:nvSpPr>
            <p:cNvPr id="617" name="Google Shape;617;p38"/>
            <p:cNvSpPr/>
            <p:nvPr/>
          </p:nvSpPr>
          <p:spPr>
            <a:xfrm>
              <a:off x="19050" y="19050"/>
              <a:ext cx="190500" cy="190500"/>
            </a:xfrm>
            <a:custGeom>
              <a:rect b="b" l="l" r="r" t="t"/>
              <a:pathLst>
                <a:path extrusionOk="0" h="120000" w="120000">
                  <a:moveTo>
                    <a:pt x="60000" y="0"/>
                  </a:moveTo>
                  <a:cubicBezTo>
                    <a:pt x="26880" y="0"/>
                    <a:pt x="0" y="26880"/>
                    <a:pt x="0" y="60000"/>
                  </a:cubicBezTo>
                  <a:lnTo>
                    <a:pt x="26880" y="120000"/>
                  </a:lnTo>
                  <a:lnTo>
                    <a:pt x="60000" y="120000"/>
                  </a:lnTo>
                  <a:lnTo>
                    <a:pt x="120000" y="93120"/>
                  </a:lnTo>
                  <a:lnTo>
                    <a:pt x="120000" y="60000"/>
                  </a:lnTo>
                  <a:lnTo>
                    <a:pt x="93120" y="0"/>
                  </a:lnTo>
                  <a:lnTo>
                    <a:pt x="60000" y="0"/>
                  </a:lnTo>
                  <a:close/>
                  <a:moveTo>
                    <a:pt x="60000" y="108000"/>
                  </a:moveTo>
                  <a:cubicBezTo>
                    <a:pt x="33540" y="108000"/>
                    <a:pt x="12000" y="86460"/>
                    <a:pt x="12000" y="60000"/>
                  </a:cubicBezTo>
                  <a:lnTo>
                    <a:pt x="33540" y="12000"/>
                  </a:lnTo>
                  <a:lnTo>
                    <a:pt x="60000" y="12000"/>
                  </a:lnTo>
                  <a:lnTo>
                    <a:pt x="108000" y="33540"/>
                  </a:lnTo>
                  <a:lnTo>
                    <a:pt x="108000" y="60000"/>
                  </a:lnTo>
                  <a:lnTo>
                    <a:pt x="86460" y="108000"/>
                  </a:lnTo>
                  <a:lnTo>
                    <a:pt x="60000" y="108000"/>
                  </a:lnTo>
                  <a:close/>
                  <a:moveTo>
                    <a:pt x="54000" y="30000"/>
                  </a:moveTo>
                  <a:lnTo>
                    <a:pt x="66000" y="30000"/>
                  </a:lnTo>
                  <a:lnTo>
                    <a:pt x="66000" y="66000"/>
                  </a:lnTo>
                  <a:lnTo>
                    <a:pt x="54000" y="66000"/>
                  </a:lnTo>
                  <a:close/>
                  <a:moveTo>
                    <a:pt x="54000" y="78000"/>
                  </a:moveTo>
                  <a:lnTo>
                    <a:pt x="66000" y="78000"/>
                  </a:lnTo>
                  <a:lnTo>
                    <a:pt x="66000" y="90000"/>
                  </a:lnTo>
                  <a:lnTo>
                    <a:pt x="54000" y="90000"/>
                  </a:lnTo>
                  <a:close/>
                </a:path>
              </a:pathLst>
            </a:custGeom>
            <a:solidFill>
              <a:srgbClr val="2563EB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18" name="Google Shape;618;p38"/>
            <p:cNvSpPr txBox="1"/>
            <p:nvPr/>
          </p:nvSpPr>
          <p:spPr>
            <a:xfrm>
              <a:off x="342900" y="19050"/>
              <a:ext cx="7086600" cy="2286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lang="en" sz="900">
                  <a:solidFill>
                    <a:srgbClr val="475569"/>
                  </a:solidFill>
                  <a:latin typeface="Inter SemiBold"/>
                  <a:ea typeface="Inter SemiBold"/>
                  <a:cs typeface="Inter SemiBold"/>
                  <a:sym typeface="Inter SemiBold"/>
                </a:rPr>
                <a:t>MAC 250: DATABASE ARCHITECTURE &amp; ENGINEERING</a:t>
              </a:r>
              <a:endParaRPr b="0" sz="900">
                <a:solidFill>
                  <a:srgbClr val="475569"/>
                </a:solidFill>
                <a:latin typeface="Inter SemiBold"/>
                <a:ea typeface="Inter SemiBold"/>
                <a:cs typeface="Inter SemiBold"/>
                <a:sym typeface="Inter SemiBold"/>
              </a:endParaRPr>
            </a:p>
          </p:txBody>
        </p:sp>
      </p:grpSp>
      <p:grpSp>
        <p:nvGrpSpPr>
          <p:cNvPr id="619" name="Google Shape;619;p38"/>
          <p:cNvGrpSpPr/>
          <p:nvPr/>
        </p:nvGrpSpPr>
        <p:grpSpPr>
          <a:xfrm>
            <a:off x="571500" y="762000"/>
            <a:ext cx="8001000" cy="19200"/>
            <a:chOff x="0" y="0"/>
            <a:chExt cx="8001000" cy="19200"/>
          </a:xfrm>
        </p:grpSpPr>
        <p:sp>
          <p:nvSpPr>
            <p:cNvPr id="620" name="Google Shape;620;p38"/>
            <p:cNvSpPr/>
            <p:nvPr/>
          </p:nvSpPr>
          <p:spPr>
            <a:xfrm>
              <a:off x="0" y="0"/>
              <a:ext cx="8001000" cy="9600"/>
            </a:xfrm>
            <a:prstGeom prst="rect">
              <a:avLst/>
            </a:prstGeom>
            <a:solidFill>
              <a:srgbClr val="E2E8F0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21" name="Google Shape;621;p38"/>
            <p:cNvSpPr/>
            <p:nvPr/>
          </p:nvSpPr>
          <p:spPr>
            <a:xfrm>
              <a:off x="0" y="0"/>
              <a:ext cx="1143000" cy="19200"/>
            </a:xfrm>
            <a:prstGeom prst="rect">
              <a:avLst/>
            </a:prstGeom>
            <a:solidFill>
              <a:srgbClr val="2563EB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622" name="Google Shape;622;p38"/>
          <p:cNvSpPr txBox="1"/>
          <p:nvPr/>
        </p:nvSpPr>
        <p:spPr>
          <a:xfrm>
            <a:off x="571500" y="1000125"/>
            <a:ext cx="8001000" cy="762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400">
                <a:solidFill>
                  <a:srgbClr val="0F172A"/>
                </a:solidFill>
                <a:latin typeface="Inter"/>
                <a:ea typeface="Inter"/>
                <a:cs typeface="Inter"/>
                <a:sym typeface="Inter"/>
              </a:rPr>
              <a:t>Tomorrow's Individual Lab</a:t>
            </a:r>
            <a:endParaRPr b="1" sz="2400">
              <a:solidFill>
                <a:srgbClr val="0F172A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0" lvl="0" marL="0" rtl="0" algn="l">
              <a:spcBef>
                <a:spcPts val="450"/>
              </a:spcBef>
              <a:spcAft>
                <a:spcPts val="0"/>
              </a:spcAft>
              <a:buNone/>
            </a:pPr>
            <a:r>
              <a:rPr b="0" lang="en" sz="1350">
                <a:solidFill>
                  <a:srgbClr val="2563EB"/>
                </a:solidFill>
                <a:latin typeface="Inter Medium"/>
                <a:ea typeface="Inter Medium"/>
                <a:cs typeface="Inter Medium"/>
                <a:sym typeface="Inter Medium"/>
              </a:rPr>
              <a:t>Lab Expectations &amp; DDL Execution Goals</a:t>
            </a:r>
            <a:endParaRPr b="0" sz="1350">
              <a:solidFill>
                <a:srgbClr val="2563EB"/>
              </a:solidFill>
              <a:latin typeface="Inter Medium"/>
              <a:ea typeface="Inter Medium"/>
              <a:cs typeface="Inter Medium"/>
              <a:sym typeface="Inter Medium"/>
            </a:endParaRPr>
          </a:p>
        </p:txBody>
      </p:sp>
      <p:grpSp>
        <p:nvGrpSpPr>
          <p:cNvPr id="623" name="Google Shape;623;p38"/>
          <p:cNvGrpSpPr/>
          <p:nvPr/>
        </p:nvGrpSpPr>
        <p:grpSpPr>
          <a:xfrm>
            <a:off x="571500" y="1905000"/>
            <a:ext cx="8001000" cy="819300"/>
            <a:chOff x="0" y="0"/>
            <a:chExt cx="8001000" cy="819300"/>
          </a:xfrm>
        </p:grpSpPr>
        <p:sp>
          <p:nvSpPr>
            <p:cNvPr id="624" name="Google Shape;624;p38"/>
            <p:cNvSpPr/>
            <p:nvPr/>
          </p:nvSpPr>
          <p:spPr>
            <a:xfrm>
              <a:off x="0" y="0"/>
              <a:ext cx="8001000" cy="819300"/>
            </a:xfrm>
            <a:prstGeom prst="roundRect">
              <a:avLst>
                <a:gd fmla="val 6976" name="adj"/>
              </a:avLst>
            </a:prstGeom>
            <a:solidFill>
              <a:srgbClr val="F8FAFC"/>
            </a:solidFill>
            <a:ln cap="flat" cmpd="sng" w="9525">
              <a:solidFill>
                <a:srgbClr val="E2E8F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25" name="Google Shape;625;p38"/>
            <p:cNvSpPr/>
            <p:nvPr/>
          </p:nvSpPr>
          <p:spPr>
            <a:xfrm>
              <a:off x="0" y="0"/>
              <a:ext cx="57300" cy="819300"/>
            </a:xfrm>
            <a:prstGeom prst="roundRect">
              <a:avLst>
                <a:gd fmla="val 50000" name="adj"/>
              </a:avLst>
            </a:prstGeom>
            <a:solidFill>
              <a:srgbClr val="2563EB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26" name="Google Shape;626;p38"/>
            <p:cNvSpPr txBox="1"/>
            <p:nvPr/>
          </p:nvSpPr>
          <p:spPr>
            <a:xfrm>
              <a:off x="266700" y="152400"/>
              <a:ext cx="7467600" cy="5145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" sz="893">
                  <a:solidFill>
                    <a:srgbClr val="2563EB"/>
                  </a:solidFill>
                  <a:latin typeface="Inter"/>
                  <a:ea typeface="Inter"/>
                  <a:cs typeface="Inter"/>
                  <a:sym typeface="Inter"/>
                </a:rPr>
                <a:t>01. </a:t>
              </a:r>
              <a:r>
                <a:rPr b="0" lang="en" sz="1020">
                  <a:solidFill>
                    <a:srgbClr val="0F172A"/>
                  </a:solidFill>
                  <a:latin typeface="Inter SemiBold"/>
                  <a:ea typeface="Inter SemiBold"/>
                  <a:cs typeface="Inter SemiBold"/>
                  <a:sym typeface="Inter SemiBold"/>
                </a:rPr>
                <a:t>Target Requirement &amp; DDL Assessment</a:t>
              </a:r>
              <a:endParaRPr b="0" sz="1020">
                <a:solidFill>
                  <a:srgbClr val="0F172A"/>
                </a:solidFill>
                <a:latin typeface="Inter SemiBold"/>
                <a:ea typeface="Inter SemiBold"/>
                <a:cs typeface="Inter SemiBold"/>
                <a:sym typeface="Inter SemiBold"/>
              </a:endParaRPr>
            </a:p>
            <a:p>
              <a:pPr indent="0" lvl="0" marL="0" rtl="0" algn="l">
                <a:spcBef>
                  <a:spcPts val="450"/>
                </a:spcBef>
                <a:spcAft>
                  <a:spcPts val="0"/>
                </a:spcAft>
                <a:buNone/>
              </a:pPr>
              <a:r>
                <a:rPr b="0" lang="en" sz="956">
                  <a:solidFill>
                    <a:srgbClr val="475569"/>
                  </a:solidFill>
                  <a:latin typeface="Inter"/>
                  <a:ea typeface="Inter"/>
                  <a:cs typeface="Inter"/>
                  <a:sym typeface="Inter"/>
                </a:rPr>
                <a:t>Tomorrow's Individual Lab will test your DDL proficiency. You will be provided with a target Entity Relationship Diagram (ERD).</a:t>
              </a:r>
              <a:endParaRPr b="0" sz="956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endParaRPr>
            </a:p>
          </p:txBody>
        </p:sp>
      </p:grpSp>
      <p:grpSp>
        <p:nvGrpSpPr>
          <p:cNvPr id="627" name="Google Shape;627;p38"/>
          <p:cNvGrpSpPr/>
          <p:nvPr/>
        </p:nvGrpSpPr>
        <p:grpSpPr>
          <a:xfrm>
            <a:off x="571500" y="2876550"/>
            <a:ext cx="8001000" cy="819300"/>
            <a:chOff x="0" y="0"/>
            <a:chExt cx="8001000" cy="819300"/>
          </a:xfrm>
        </p:grpSpPr>
        <p:sp>
          <p:nvSpPr>
            <p:cNvPr id="628" name="Google Shape;628;p38"/>
            <p:cNvSpPr/>
            <p:nvPr/>
          </p:nvSpPr>
          <p:spPr>
            <a:xfrm>
              <a:off x="0" y="0"/>
              <a:ext cx="8001000" cy="819300"/>
            </a:xfrm>
            <a:prstGeom prst="roundRect">
              <a:avLst>
                <a:gd fmla="val 6976" name="adj"/>
              </a:avLst>
            </a:prstGeom>
            <a:solidFill>
              <a:srgbClr val="F8FAFC"/>
            </a:solidFill>
            <a:ln cap="flat" cmpd="sng" w="9525">
              <a:solidFill>
                <a:srgbClr val="E2E8F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29" name="Google Shape;629;p38"/>
            <p:cNvSpPr/>
            <p:nvPr/>
          </p:nvSpPr>
          <p:spPr>
            <a:xfrm>
              <a:off x="0" y="0"/>
              <a:ext cx="57300" cy="819300"/>
            </a:xfrm>
            <a:prstGeom prst="roundRect">
              <a:avLst>
                <a:gd fmla="val 50000" name="adj"/>
              </a:avLst>
            </a:prstGeom>
            <a:solidFill>
              <a:srgbClr val="2563EB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30" name="Google Shape;630;p38"/>
            <p:cNvSpPr txBox="1"/>
            <p:nvPr/>
          </p:nvSpPr>
          <p:spPr>
            <a:xfrm>
              <a:off x="266700" y="152400"/>
              <a:ext cx="7467600" cy="5145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" sz="971">
                  <a:solidFill>
                    <a:srgbClr val="2563EB"/>
                  </a:solidFill>
                  <a:latin typeface="Inter"/>
                  <a:ea typeface="Inter"/>
                  <a:cs typeface="Inter"/>
                  <a:sym typeface="Inter"/>
                </a:rPr>
                <a:t>02. </a:t>
              </a:r>
              <a:r>
                <a:rPr b="0" lang="en" sz="1110">
                  <a:solidFill>
                    <a:srgbClr val="0F172A"/>
                  </a:solidFill>
                  <a:latin typeface="Inter SemiBold"/>
                  <a:ea typeface="Inter SemiBold"/>
                  <a:cs typeface="Inter SemiBold"/>
                  <a:sym typeface="Inter SemiBold"/>
                </a:rPr>
                <a:t>Script Authoring</a:t>
              </a:r>
              <a:endParaRPr b="0" sz="1110">
                <a:solidFill>
                  <a:srgbClr val="0F172A"/>
                </a:solidFill>
                <a:latin typeface="Inter SemiBold"/>
                <a:ea typeface="Inter SemiBold"/>
                <a:cs typeface="Inter SemiBold"/>
                <a:sym typeface="Inter SemiBold"/>
              </a:endParaRPr>
            </a:p>
            <a:p>
              <a:pPr indent="0" lvl="0" marL="0" rtl="0" algn="l">
                <a:spcBef>
                  <a:spcPts val="450"/>
                </a:spcBef>
                <a:spcAft>
                  <a:spcPts val="0"/>
                </a:spcAft>
                <a:buNone/>
              </a:pPr>
              <a:r>
                <a:rPr b="0" lang="en" sz="1041">
                  <a:solidFill>
                    <a:srgbClr val="475569"/>
                  </a:solidFill>
                  <a:latin typeface="Inter"/>
                  <a:ea typeface="Inter"/>
                  <a:cs typeface="Inter"/>
                  <a:sym typeface="Inter"/>
                </a:rPr>
                <a:t>Your objective is to write a complete </a:t>
              </a:r>
              <a:r>
                <a:rPr b="0" lang="en" sz="971">
                  <a:solidFill>
                    <a:srgbClr val="0F172A"/>
                  </a:solidFill>
                  <a:latin typeface="Fira Code Medium"/>
                  <a:ea typeface="Fira Code Medium"/>
                  <a:cs typeface="Fira Code Medium"/>
                  <a:sym typeface="Fira Code Medium"/>
                </a:rPr>
                <a:t>.sql</a:t>
              </a:r>
              <a:r>
                <a:rPr b="0" lang="en" sz="1041">
                  <a:solidFill>
                    <a:srgbClr val="475569"/>
                  </a:solidFill>
                  <a:latin typeface="Inter"/>
                  <a:ea typeface="Inter"/>
                  <a:cs typeface="Inter"/>
                  <a:sym typeface="Inter"/>
                </a:rPr>
                <a:t> script capable of generating 3 interconnected tables based on that diagram.</a:t>
              </a:r>
              <a:endParaRPr b="0" sz="1041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endParaRPr>
            </a:p>
          </p:txBody>
        </p:sp>
      </p:grpSp>
      <p:grpSp>
        <p:nvGrpSpPr>
          <p:cNvPr id="631" name="Google Shape;631;p38"/>
          <p:cNvGrpSpPr/>
          <p:nvPr/>
        </p:nvGrpSpPr>
        <p:grpSpPr>
          <a:xfrm>
            <a:off x="571500" y="3848100"/>
            <a:ext cx="8001000" cy="819300"/>
            <a:chOff x="0" y="0"/>
            <a:chExt cx="8001000" cy="819300"/>
          </a:xfrm>
        </p:grpSpPr>
        <p:sp>
          <p:nvSpPr>
            <p:cNvPr id="632" name="Google Shape;632;p38"/>
            <p:cNvSpPr/>
            <p:nvPr/>
          </p:nvSpPr>
          <p:spPr>
            <a:xfrm>
              <a:off x="0" y="0"/>
              <a:ext cx="8001000" cy="819300"/>
            </a:xfrm>
            <a:prstGeom prst="roundRect">
              <a:avLst>
                <a:gd fmla="val 6976" name="adj"/>
              </a:avLst>
            </a:prstGeom>
            <a:solidFill>
              <a:srgbClr val="F8FAFC"/>
            </a:solidFill>
            <a:ln cap="flat" cmpd="sng" w="9525">
              <a:solidFill>
                <a:srgbClr val="E2E8F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33" name="Google Shape;633;p38"/>
            <p:cNvSpPr/>
            <p:nvPr/>
          </p:nvSpPr>
          <p:spPr>
            <a:xfrm>
              <a:off x="0" y="0"/>
              <a:ext cx="57300" cy="819300"/>
            </a:xfrm>
            <a:prstGeom prst="roundRect">
              <a:avLst>
                <a:gd fmla="val 50000" name="adj"/>
              </a:avLst>
            </a:prstGeom>
            <a:solidFill>
              <a:srgbClr val="2563EB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34" name="Google Shape;634;p38"/>
            <p:cNvSpPr txBox="1"/>
            <p:nvPr/>
          </p:nvSpPr>
          <p:spPr>
            <a:xfrm>
              <a:off x="266700" y="152400"/>
              <a:ext cx="7467600" cy="5145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" sz="1050">
                  <a:solidFill>
                    <a:srgbClr val="2563EB"/>
                  </a:solidFill>
                  <a:latin typeface="Inter"/>
                  <a:ea typeface="Inter"/>
                  <a:cs typeface="Inter"/>
                  <a:sym typeface="Inter"/>
                </a:rPr>
                <a:t>03. </a:t>
              </a:r>
              <a:r>
                <a:rPr b="0" lang="en" sz="1200">
                  <a:solidFill>
                    <a:srgbClr val="0F172A"/>
                  </a:solidFill>
                  <a:latin typeface="Inter SemiBold"/>
                  <a:ea typeface="Inter SemiBold"/>
                  <a:cs typeface="Inter SemiBold"/>
                  <a:sym typeface="Inter SemiBold"/>
                </a:rPr>
                <a:t>Verification &amp; Submission</a:t>
              </a:r>
              <a:endParaRPr b="0" sz="1200">
                <a:solidFill>
                  <a:srgbClr val="0F172A"/>
                </a:solidFill>
                <a:latin typeface="Inter SemiBold"/>
                <a:ea typeface="Inter SemiBold"/>
                <a:cs typeface="Inter SemiBold"/>
                <a:sym typeface="Inter SemiBold"/>
              </a:endParaRPr>
            </a:p>
            <a:p>
              <a:pPr indent="0" lvl="0" marL="0" rtl="0" algn="l">
                <a:spcBef>
                  <a:spcPts val="450"/>
                </a:spcBef>
                <a:spcAft>
                  <a:spcPts val="0"/>
                </a:spcAft>
                <a:buNone/>
              </a:pPr>
              <a:r>
                <a:rPr b="0" lang="en" sz="1125">
                  <a:solidFill>
                    <a:srgbClr val="475569"/>
                  </a:solidFill>
                  <a:latin typeface="Inter"/>
                  <a:ea typeface="Inter"/>
                  <a:cs typeface="Inter"/>
                  <a:sym typeface="Inter"/>
                </a:rPr>
                <a:t>You must successfully execute this script locally within DB Browser to complete the assignment.</a:t>
              </a:r>
              <a:endParaRPr b="0" sz="1125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endParaRPr>
            </a:p>
          </p:txBody>
        </p:sp>
      </p:grp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38" name="Shape 6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39" name="Google Shape;639;p39"/>
          <p:cNvGrpSpPr/>
          <p:nvPr/>
        </p:nvGrpSpPr>
        <p:grpSpPr>
          <a:xfrm>
            <a:off x="0" y="0"/>
            <a:ext cx="9144000" cy="5143500"/>
            <a:chOff x="0" y="0"/>
            <a:chExt cx="9144000" cy="5143500"/>
          </a:xfrm>
        </p:grpSpPr>
        <p:sp>
          <p:nvSpPr>
            <p:cNvPr id="640" name="Google Shape;640;p39"/>
            <p:cNvSpPr/>
            <p:nvPr/>
          </p:nvSpPr>
          <p:spPr>
            <a:xfrm>
              <a:off x="0" y="0"/>
              <a:ext cx="9144000" cy="5143500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41" name="Google Shape;641;p39"/>
            <p:cNvSpPr/>
            <p:nvPr/>
          </p:nvSpPr>
          <p:spPr>
            <a:xfrm>
              <a:off x="590550" y="400050"/>
              <a:ext cx="190500" cy="190500"/>
            </a:xfrm>
            <a:custGeom>
              <a:rect b="b" l="l" r="r" t="t"/>
              <a:pathLst>
                <a:path extrusionOk="0" h="120000" w="120000">
                  <a:moveTo>
                    <a:pt x="60000" y="0"/>
                  </a:moveTo>
                  <a:cubicBezTo>
                    <a:pt x="26880" y="0"/>
                    <a:pt x="0" y="26880"/>
                    <a:pt x="0" y="60000"/>
                  </a:cubicBezTo>
                  <a:lnTo>
                    <a:pt x="26880" y="120000"/>
                  </a:lnTo>
                  <a:lnTo>
                    <a:pt x="60000" y="120000"/>
                  </a:lnTo>
                  <a:lnTo>
                    <a:pt x="120000" y="93120"/>
                  </a:lnTo>
                  <a:lnTo>
                    <a:pt x="120000" y="60000"/>
                  </a:lnTo>
                  <a:lnTo>
                    <a:pt x="93120" y="0"/>
                  </a:lnTo>
                  <a:lnTo>
                    <a:pt x="60000" y="0"/>
                  </a:lnTo>
                  <a:close/>
                  <a:moveTo>
                    <a:pt x="60000" y="108000"/>
                  </a:moveTo>
                  <a:cubicBezTo>
                    <a:pt x="33540" y="108000"/>
                    <a:pt x="12000" y="86460"/>
                    <a:pt x="12000" y="60000"/>
                  </a:cubicBezTo>
                  <a:lnTo>
                    <a:pt x="33540" y="12000"/>
                  </a:lnTo>
                  <a:lnTo>
                    <a:pt x="60000" y="12000"/>
                  </a:lnTo>
                  <a:lnTo>
                    <a:pt x="108000" y="33540"/>
                  </a:lnTo>
                  <a:lnTo>
                    <a:pt x="108000" y="60000"/>
                  </a:lnTo>
                  <a:lnTo>
                    <a:pt x="86460" y="108000"/>
                  </a:lnTo>
                  <a:lnTo>
                    <a:pt x="60000" y="108000"/>
                  </a:lnTo>
                  <a:close/>
                  <a:moveTo>
                    <a:pt x="54000" y="30000"/>
                  </a:moveTo>
                  <a:lnTo>
                    <a:pt x="66000" y="30000"/>
                  </a:lnTo>
                  <a:lnTo>
                    <a:pt x="66000" y="66000"/>
                  </a:lnTo>
                  <a:lnTo>
                    <a:pt x="54000" y="66000"/>
                  </a:lnTo>
                  <a:close/>
                  <a:moveTo>
                    <a:pt x="54000" y="78000"/>
                  </a:moveTo>
                  <a:lnTo>
                    <a:pt x="66000" y="78000"/>
                  </a:lnTo>
                  <a:lnTo>
                    <a:pt x="66000" y="90000"/>
                  </a:lnTo>
                  <a:lnTo>
                    <a:pt x="54000" y="90000"/>
                  </a:lnTo>
                  <a:close/>
                </a:path>
              </a:pathLst>
            </a:custGeom>
            <a:solidFill>
              <a:srgbClr val="2563EB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42" name="Google Shape;642;p39"/>
            <p:cNvSpPr txBox="1"/>
            <p:nvPr/>
          </p:nvSpPr>
          <p:spPr>
            <a:xfrm>
              <a:off x="914400" y="400050"/>
              <a:ext cx="7086600" cy="2286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lang="en" sz="900">
                  <a:solidFill>
                    <a:srgbClr val="475569"/>
                  </a:solidFill>
                  <a:latin typeface="Inter SemiBold"/>
                  <a:ea typeface="Inter SemiBold"/>
                  <a:cs typeface="Inter SemiBold"/>
                  <a:sym typeface="Inter SemiBold"/>
                </a:rPr>
                <a:t>MAC 250: DATABASE ARCHITECTURE &amp; ENGINEERING</a:t>
              </a:r>
              <a:endParaRPr b="0" sz="900">
                <a:solidFill>
                  <a:srgbClr val="475569"/>
                </a:solidFill>
                <a:latin typeface="Inter SemiBold"/>
                <a:ea typeface="Inter SemiBold"/>
                <a:cs typeface="Inter SemiBold"/>
                <a:sym typeface="Inter SemiBold"/>
              </a:endParaRPr>
            </a:p>
          </p:txBody>
        </p:sp>
        <p:grpSp>
          <p:nvGrpSpPr>
            <p:cNvPr id="643" name="Google Shape;643;p39"/>
            <p:cNvGrpSpPr/>
            <p:nvPr/>
          </p:nvGrpSpPr>
          <p:grpSpPr>
            <a:xfrm>
              <a:off x="571500" y="762000"/>
              <a:ext cx="8001000" cy="19200"/>
              <a:chOff x="0" y="0"/>
              <a:chExt cx="8001000" cy="19200"/>
            </a:xfrm>
          </p:grpSpPr>
          <p:sp>
            <p:nvSpPr>
              <p:cNvPr id="644" name="Google Shape;644;p39"/>
              <p:cNvSpPr/>
              <p:nvPr/>
            </p:nvSpPr>
            <p:spPr>
              <a:xfrm>
                <a:off x="0" y="0"/>
                <a:ext cx="8001000" cy="9600"/>
              </a:xfrm>
              <a:prstGeom prst="rect">
                <a:avLst/>
              </a:prstGeom>
              <a:solidFill>
                <a:srgbClr val="E2E8F0"/>
              </a:solidFill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645" name="Google Shape;645;p39"/>
              <p:cNvSpPr/>
              <p:nvPr/>
            </p:nvSpPr>
            <p:spPr>
              <a:xfrm>
                <a:off x="0" y="0"/>
                <a:ext cx="1143000" cy="19200"/>
              </a:xfrm>
              <a:prstGeom prst="rect">
                <a:avLst/>
              </a:prstGeom>
              <a:solidFill>
                <a:srgbClr val="2563EB"/>
              </a:solidFill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</p:grpSp>
      <p:sp>
        <p:nvSpPr>
          <p:cNvPr id="646" name="Google Shape;646;p39"/>
          <p:cNvSpPr txBox="1"/>
          <p:nvPr/>
        </p:nvSpPr>
        <p:spPr>
          <a:xfrm>
            <a:off x="571500" y="952500"/>
            <a:ext cx="8001000" cy="762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100">
                <a:solidFill>
                  <a:srgbClr val="0F172A"/>
                </a:solidFill>
                <a:latin typeface="Inter"/>
                <a:ea typeface="Inter"/>
                <a:cs typeface="Inter"/>
                <a:sym typeface="Inter"/>
              </a:rPr>
              <a:t>Preparing Your Team Application</a:t>
            </a:r>
            <a:endParaRPr b="1" sz="2100">
              <a:solidFill>
                <a:srgbClr val="0F172A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0" lvl="0" marL="0" rtl="0" algn="l">
              <a:spcBef>
                <a:spcPts val="450"/>
              </a:spcBef>
              <a:spcAft>
                <a:spcPts val="0"/>
              </a:spcAft>
              <a:buNone/>
            </a:pPr>
            <a:r>
              <a:rPr b="0" lang="en" sz="1350">
                <a:solidFill>
                  <a:srgbClr val="2563EB"/>
                </a:solidFill>
                <a:latin typeface="Inter Medium"/>
                <a:ea typeface="Inter Medium"/>
                <a:cs typeface="Inter Medium"/>
                <a:sym typeface="Inter Medium"/>
              </a:rPr>
              <a:t>Generating the schema.sql File</a:t>
            </a:r>
            <a:endParaRPr b="0" sz="1350">
              <a:solidFill>
                <a:srgbClr val="2563EB"/>
              </a:solidFill>
              <a:latin typeface="Inter Medium"/>
              <a:ea typeface="Inter Medium"/>
              <a:cs typeface="Inter Medium"/>
              <a:sym typeface="Inter Medium"/>
            </a:endParaRPr>
          </a:p>
        </p:txBody>
      </p:sp>
      <p:grpSp>
        <p:nvGrpSpPr>
          <p:cNvPr id="647" name="Google Shape;647;p39"/>
          <p:cNvGrpSpPr/>
          <p:nvPr/>
        </p:nvGrpSpPr>
        <p:grpSpPr>
          <a:xfrm>
            <a:off x="571500" y="1809750"/>
            <a:ext cx="8001000" cy="952500"/>
            <a:chOff x="0" y="0"/>
            <a:chExt cx="8001000" cy="952500"/>
          </a:xfrm>
        </p:grpSpPr>
        <p:sp>
          <p:nvSpPr>
            <p:cNvPr id="648" name="Google Shape;648;p39"/>
            <p:cNvSpPr/>
            <p:nvPr/>
          </p:nvSpPr>
          <p:spPr>
            <a:xfrm>
              <a:off x="0" y="0"/>
              <a:ext cx="8001000" cy="952500"/>
            </a:xfrm>
            <a:prstGeom prst="roundRect">
              <a:avLst>
                <a:gd fmla="val 8000" name="adj"/>
              </a:avLst>
            </a:prstGeom>
            <a:solidFill>
              <a:srgbClr val="F0F9FF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49" name="Google Shape;649;p39"/>
            <p:cNvSpPr/>
            <p:nvPr/>
          </p:nvSpPr>
          <p:spPr>
            <a:xfrm>
              <a:off x="0" y="0"/>
              <a:ext cx="76200" cy="952500"/>
            </a:xfrm>
            <a:custGeom>
              <a:rect b="b" l="l" r="r" t="t"/>
              <a:pathLst>
                <a:path extrusionOk="0" h="120000" w="120000">
                  <a:moveTo>
                    <a:pt x="0" y="9600"/>
                  </a:moveTo>
                  <a:quadBezTo>
                    <a:pt x="0" y="0"/>
                    <a:pt x="120000" y="0"/>
                  </a:quadBezTo>
                  <a:lnTo>
                    <a:pt x="120000" y="120000"/>
                  </a:lnTo>
                  <a:lnTo>
                    <a:pt x="120000" y="120000"/>
                  </a:lnTo>
                  <a:quadBezTo>
                    <a:pt x="0" y="120000"/>
                    <a:pt x="0" y="110400"/>
                  </a:quadBezTo>
                  <a:close/>
                </a:path>
              </a:pathLst>
            </a:custGeom>
            <a:solidFill>
              <a:srgbClr val="2563EB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50" name="Google Shape;650;p39"/>
            <p:cNvSpPr txBox="1"/>
            <p:nvPr/>
          </p:nvSpPr>
          <p:spPr>
            <a:xfrm>
              <a:off x="304800" y="152400"/>
              <a:ext cx="7391400" cy="6477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" sz="1200">
                  <a:solidFill>
                    <a:srgbClr val="2563EB"/>
                  </a:solidFill>
                  <a:latin typeface="Inter"/>
                  <a:ea typeface="Inter"/>
                  <a:cs typeface="Inter"/>
                  <a:sym typeface="Inter"/>
                </a:rPr>
                <a:t>This Week's Milestone: schema.sql</a:t>
              </a:r>
              <a:endParaRPr b="1" sz="1200">
                <a:solidFill>
                  <a:srgbClr val="2563EB"/>
                </a:solidFill>
                <a:latin typeface="Inter"/>
                <a:ea typeface="Inter"/>
                <a:cs typeface="Inter"/>
                <a:sym typeface="Inter"/>
              </a:endParaRPr>
            </a:p>
            <a:p>
              <a:pPr indent="0" lvl="0" marL="0" rtl="0" algn="l">
                <a:spcBef>
                  <a:spcPts val="450"/>
                </a:spcBef>
                <a:spcAft>
                  <a:spcPts val="0"/>
                </a:spcAft>
                <a:buNone/>
              </a:pPr>
              <a:r>
                <a:rPr b="0" lang="en" sz="1125">
                  <a:solidFill>
                    <a:srgbClr val="475569"/>
                  </a:solidFill>
                  <a:latin typeface="Inter"/>
                  <a:ea typeface="Inter"/>
                  <a:cs typeface="Inter"/>
                  <a:sym typeface="Inter"/>
                </a:rPr>
                <a:t>Your primary team deliverable is generating the complete </a:t>
              </a:r>
              <a:r>
                <a:rPr b="0" lang="en" sz="975">
                  <a:solidFill>
                    <a:srgbClr val="0F172A"/>
                  </a:solidFill>
                  <a:latin typeface="Fira Code Medium"/>
                  <a:ea typeface="Fira Code Medium"/>
                  <a:cs typeface="Fira Code Medium"/>
                  <a:sym typeface="Fira Code Medium"/>
                </a:rPr>
                <a:t>schema.sql</a:t>
              </a:r>
              <a:r>
                <a:rPr b="0" lang="en" sz="1125">
                  <a:solidFill>
                    <a:srgbClr val="475569"/>
                  </a:solidFill>
                  <a:latin typeface="Inter"/>
                  <a:ea typeface="Inter"/>
                  <a:cs typeface="Inter"/>
                  <a:sym typeface="Inter"/>
                </a:rPr>
                <a:t> script to establish your database structures based on your finalized DBML diagram.</a:t>
              </a:r>
              <a:endParaRPr b="0" sz="1125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endParaRPr>
            </a:p>
          </p:txBody>
        </p:sp>
      </p:grpSp>
      <p:sp>
        <p:nvSpPr>
          <p:cNvPr id="651" name="Google Shape;651;p39"/>
          <p:cNvSpPr txBox="1"/>
          <p:nvPr/>
        </p:nvSpPr>
        <p:spPr>
          <a:xfrm>
            <a:off x="571500" y="3000375"/>
            <a:ext cx="8001000" cy="1714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" sz="900">
                <a:solidFill>
                  <a:srgbClr val="2563EB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Team Execution Instructions</a:t>
            </a:r>
            <a:endParaRPr b="0" sz="900">
              <a:solidFill>
                <a:srgbClr val="2563EB"/>
              </a:solidFill>
              <a:latin typeface="Inter SemiBold"/>
              <a:ea typeface="Inter SemiBold"/>
              <a:cs typeface="Inter SemiBold"/>
              <a:sym typeface="Inter SemiBold"/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b="1" lang="en" sz="1125">
                <a:solidFill>
                  <a:srgbClr val="0F172A"/>
                </a:solidFill>
                <a:latin typeface="Inter"/>
                <a:ea typeface="Inter"/>
                <a:cs typeface="Inter"/>
                <a:sym typeface="Inter"/>
              </a:rPr>
              <a:t>Divide DBML Tables:</a:t>
            </a:r>
            <a:r>
              <a:rPr b="0" lang="en" sz="1125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 Your team must divide the tables outlined in your finalized DBML diagram across all group members.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b="1" lang="en" sz="1125">
                <a:solidFill>
                  <a:srgbClr val="0F172A"/>
                </a:solidFill>
                <a:latin typeface="Inter"/>
                <a:ea typeface="Inter"/>
                <a:cs typeface="Inter"/>
                <a:sym typeface="Inter"/>
              </a:rPr>
              <a:t>Individual Responsibility:</a:t>
            </a:r>
            <a:r>
              <a:rPr b="0" lang="en" sz="1125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 Each individual member is responsible for writing the </a:t>
            </a:r>
            <a:r>
              <a:rPr b="0" lang="en" sz="975">
                <a:solidFill>
                  <a:srgbClr val="0F172A"/>
                </a:solidFill>
                <a:latin typeface="Fira Code Medium"/>
                <a:ea typeface="Fira Code Medium"/>
                <a:cs typeface="Fira Code Medium"/>
                <a:sym typeface="Fira Code Medium"/>
              </a:rPr>
              <a:t>CREATE TABLE</a:t>
            </a:r>
            <a:r>
              <a:rPr b="0" lang="en" sz="1125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 scripts specifically for their assigned database tables.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rPr b="1" lang="en" sz="1125">
                <a:solidFill>
                  <a:srgbClr val="0F172A"/>
                </a:solidFill>
                <a:latin typeface="Inter"/>
                <a:ea typeface="Inter"/>
                <a:cs typeface="Inter"/>
                <a:sym typeface="Inter"/>
              </a:rPr>
              <a:t>Consolidate Code:</a:t>
            </a:r>
            <a:r>
              <a:rPr b="0" lang="en" sz="1125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 Combine all individually created scripts into the master </a:t>
            </a:r>
            <a:r>
              <a:rPr b="0" lang="en" sz="975">
                <a:solidFill>
                  <a:srgbClr val="0F172A"/>
                </a:solidFill>
                <a:latin typeface="Fira Code Medium"/>
                <a:ea typeface="Fira Code Medium"/>
                <a:cs typeface="Fira Code Medium"/>
                <a:sym typeface="Fira Code Medium"/>
              </a:rPr>
              <a:t>schema.sql</a:t>
            </a:r>
            <a:r>
              <a:rPr b="0" lang="en" sz="1125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 file, verifying foreign key dependencies and execution sequence.</a:t>
            </a:r>
            <a:endParaRPr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55" name="Shape 6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56" name="Google Shape;656;p40"/>
          <p:cNvGrpSpPr/>
          <p:nvPr/>
        </p:nvGrpSpPr>
        <p:grpSpPr>
          <a:xfrm>
            <a:off x="0" y="0"/>
            <a:ext cx="9144000" cy="5143500"/>
            <a:chOff x="0" y="0"/>
            <a:chExt cx="9144000" cy="5143500"/>
          </a:xfrm>
        </p:grpSpPr>
        <p:sp>
          <p:nvSpPr>
            <p:cNvPr id="657" name="Google Shape;657;p40"/>
            <p:cNvSpPr/>
            <p:nvPr/>
          </p:nvSpPr>
          <p:spPr>
            <a:xfrm>
              <a:off x="0" y="0"/>
              <a:ext cx="9144000" cy="5143500"/>
            </a:xfrm>
            <a:prstGeom prst="rect">
              <a:avLst/>
            </a:prstGeom>
            <a:solidFill>
              <a:srgbClr val="F8FAFC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58" name="Google Shape;658;p40"/>
            <p:cNvSpPr/>
            <p:nvPr/>
          </p:nvSpPr>
          <p:spPr>
            <a:xfrm>
              <a:off x="590550" y="400050"/>
              <a:ext cx="190500" cy="190500"/>
            </a:xfrm>
            <a:custGeom>
              <a:rect b="b" l="l" r="r" t="t"/>
              <a:pathLst>
                <a:path extrusionOk="0" h="120000" w="120000">
                  <a:moveTo>
                    <a:pt x="60000" y="0"/>
                  </a:moveTo>
                  <a:cubicBezTo>
                    <a:pt x="26880" y="0"/>
                    <a:pt x="0" y="26880"/>
                    <a:pt x="0" y="60000"/>
                  </a:cubicBezTo>
                  <a:lnTo>
                    <a:pt x="26880" y="120000"/>
                  </a:lnTo>
                  <a:lnTo>
                    <a:pt x="60000" y="120000"/>
                  </a:lnTo>
                  <a:lnTo>
                    <a:pt x="120000" y="93120"/>
                  </a:lnTo>
                  <a:lnTo>
                    <a:pt x="120000" y="60000"/>
                  </a:lnTo>
                  <a:lnTo>
                    <a:pt x="93120" y="0"/>
                  </a:lnTo>
                  <a:lnTo>
                    <a:pt x="60000" y="0"/>
                  </a:lnTo>
                  <a:close/>
                  <a:moveTo>
                    <a:pt x="60000" y="108000"/>
                  </a:moveTo>
                  <a:cubicBezTo>
                    <a:pt x="33540" y="108000"/>
                    <a:pt x="12000" y="86460"/>
                    <a:pt x="12000" y="60000"/>
                  </a:cubicBezTo>
                  <a:lnTo>
                    <a:pt x="33540" y="12000"/>
                  </a:lnTo>
                  <a:lnTo>
                    <a:pt x="60000" y="12000"/>
                  </a:lnTo>
                  <a:lnTo>
                    <a:pt x="108000" y="33540"/>
                  </a:lnTo>
                  <a:lnTo>
                    <a:pt x="108000" y="60000"/>
                  </a:lnTo>
                  <a:lnTo>
                    <a:pt x="86460" y="108000"/>
                  </a:lnTo>
                  <a:lnTo>
                    <a:pt x="60000" y="108000"/>
                  </a:lnTo>
                  <a:close/>
                  <a:moveTo>
                    <a:pt x="54000" y="30000"/>
                  </a:moveTo>
                  <a:lnTo>
                    <a:pt x="66000" y="30000"/>
                  </a:lnTo>
                  <a:lnTo>
                    <a:pt x="66000" y="66000"/>
                  </a:lnTo>
                  <a:lnTo>
                    <a:pt x="54000" y="66000"/>
                  </a:lnTo>
                  <a:close/>
                  <a:moveTo>
                    <a:pt x="54000" y="78000"/>
                  </a:moveTo>
                  <a:lnTo>
                    <a:pt x="66000" y="78000"/>
                  </a:lnTo>
                  <a:lnTo>
                    <a:pt x="66000" y="90000"/>
                  </a:lnTo>
                  <a:lnTo>
                    <a:pt x="54000" y="90000"/>
                  </a:lnTo>
                  <a:close/>
                </a:path>
              </a:pathLst>
            </a:custGeom>
            <a:solidFill>
              <a:srgbClr val="2563EB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59" name="Google Shape;659;p40"/>
            <p:cNvSpPr txBox="1"/>
            <p:nvPr/>
          </p:nvSpPr>
          <p:spPr>
            <a:xfrm>
              <a:off x="914400" y="400050"/>
              <a:ext cx="7086600" cy="2286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lang="en" sz="900">
                  <a:solidFill>
                    <a:srgbClr val="475569"/>
                  </a:solidFill>
                  <a:latin typeface="Inter SemiBold"/>
                  <a:ea typeface="Inter SemiBold"/>
                  <a:cs typeface="Inter SemiBold"/>
                  <a:sym typeface="Inter SemiBold"/>
                </a:rPr>
                <a:t>MODULE 2: IMPLEMENTATION</a:t>
              </a:r>
              <a:endParaRPr b="0" sz="900">
                <a:solidFill>
                  <a:srgbClr val="475569"/>
                </a:solidFill>
                <a:latin typeface="Inter SemiBold"/>
                <a:ea typeface="Inter SemiBold"/>
                <a:cs typeface="Inter SemiBold"/>
                <a:sym typeface="Inter SemiBold"/>
              </a:endParaRPr>
            </a:p>
          </p:txBody>
        </p:sp>
      </p:grpSp>
      <p:grpSp>
        <p:nvGrpSpPr>
          <p:cNvPr id="660" name="Google Shape;660;p40"/>
          <p:cNvGrpSpPr/>
          <p:nvPr/>
        </p:nvGrpSpPr>
        <p:grpSpPr>
          <a:xfrm>
            <a:off x="571500" y="857250"/>
            <a:ext cx="8001000" cy="3905325"/>
            <a:chOff x="0" y="0"/>
            <a:chExt cx="8001000" cy="3905325"/>
          </a:xfrm>
        </p:grpSpPr>
        <p:sp>
          <p:nvSpPr>
            <p:cNvPr id="661" name="Google Shape;661;p40"/>
            <p:cNvSpPr txBox="1"/>
            <p:nvPr/>
          </p:nvSpPr>
          <p:spPr>
            <a:xfrm>
              <a:off x="0" y="0"/>
              <a:ext cx="8001000" cy="762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" sz="2400">
                  <a:solidFill>
                    <a:srgbClr val="0F172A"/>
                  </a:solidFill>
                  <a:latin typeface="Inter"/>
                  <a:ea typeface="Inter"/>
                  <a:cs typeface="Inter"/>
                  <a:sym typeface="Inter"/>
                </a:rPr>
                <a:t>Script Collaboration &amp; Best Practices</a:t>
              </a:r>
              <a:endParaRPr b="1" sz="2400">
                <a:solidFill>
                  <a:srgbClr val="0F172A"/>
                </a:solidFill>
                <a:latin typeface="Inter"/>
                <a:ea typeface="Inter"/>
                <a:cs typeface="Inter"/>
                <a:sym typeface="Inter"/>
              </a:endParaRPr>
            </a:p>
            <a:p>
              <a:pPr indent="0" lvl="0" marL="0" rtl="0" algn="l">
                <a:spcBef>
                  <a:spcPts val="450"/>
                </a:spcBef>
                <a:spcAft>
                  <a:spcPts val="0"/>
                </a:spcAft>
                <a:buNone/>
              </a:pPr>
              <a:r>
                <a:rPr b="0" lang="en" sz="1500">
                  <a:solidFill>
                    <a:srgbClr val="2563EB"/>
                  </a:solidFill>
                  <a:latin typeface="Inter Medium"/>
                  <a:ea typeface="Inter Medium"/>
                  <a:cs typeface="Inter Medium"/>
                  <a:sym typeface="Inter Medium"/>
                </a:rPr>
                <a:t>Heavy use of comments improves clarity and team workflow</a:t>
              </a:r>
              <a:endParaRPr b="0" sz="1500">
                <a:solidFill>
                  <a:srgbClr val="2563EB"/>
                </a:solidFill>
                <a:latin typeface="Inter Medium"/>
                <a:ea typeface="Inter Medium"/>
                <a:cs typeface="Inter Medium"/>
                <a:sym typeface="Inter Medium"/>
              </a:endParaRPr>
            </a:p>
          </p:txBody>
        </p:sp>
        <p:grpSp>
          <p:nvGrpSpPr>
            <p:cNvPr id="662" name="Google Shape;662;p40"/>
            <p:cNvGrpSpPr/>
            <p:nvPr/>
          </p:nvGrpSpPr>
          <p:grpSpPr>
            <a:xfrm>
              <a:off x="0" y="857250"/>
              <a:ext cx="8001000" cy="1428900"/>
              <a:chOff x="0" y="0"/>
              <a:chExt cx="8001000" cy="1428900"/>
            </a:xfrm>
          </p:grpSpPr>
          <p:sp>
            <p:nvSpPr>
              <p:cNvPr id="663" name="Google Shape;663;p40"/>
              <p:cNvSpPr/>
              <p:nvPr/>
            </p:nvSpPr>
            <p:spPr>
              <a:xfrm>
                <a:off x="0" y="0"/>
                <a:ext cx="8001000" cy="1428900"/>
              </a:xfrm>
              <a:prstGeom prst="roundRect">
                <a:avLst>
                  <a:gd fmla="val 4000" name="adj"/>
                </a:avLst>
              </a:prstGeom>
              <a:solidFill>
                <a:srgbClr val="FFFFFF"/>
              </a:solidFill>
              <a:ln cap="flat" cmpd="sng" w="9525">
                <a:solidFill>
                  <a:srgbClr val="E2E8F0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664" name="Google Shape;664;p40"/>
              <p:cNvSpPr/>
              <p:nvPr/>
            </p:nvSpPr>
            <p:spPr>
              <a:xfrm>
                <a:off x="0" y="0"/>
                <a:ext cx="57300" cy="1428900"/>
              </a:xfrm>
              <a:prstGeom prst="roundRect">
                <a:avLst>
                  <a:gd fmla="val 50000" name="adj"/>
                </a:avLst>
              </a:prstGeom>
              <a:solidFill>
                <a:srgbClr val="2563EB"/>
              </a:solidFill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665" name="Google Shape;665;p40"/>
              <p:cNvSpPr txBox="1"/>
              <p:nvPr/>
            </p:nvSpPr>
            <p:spPr>
              <a:xfrm>
                <a:off x="228600" y="190500"/>
                <a:ext cx="7543800" cy="10479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b="0" lang="en" sz="765">
                    <a:solidFill>
                      <a:srgbClr val="64748B"/>
                    </a:solidFill>
                    <a:latin typeface="Inter SemiBold"/>
                    <a:ea typeface="Inter SemiBold"/>
                    <a:cs typeface="Inter SemiBold"/>
                    <a:sym typeface="Inter SemiBold"/>
                  </a:rPr>
                  <a:t>SQL Comment Syntax Standard</a:t>
                </a:r>
                <a:endParaRPr b="0" sz="765">
                  <a:solidFill>
                    <a:srgbClr val="64748B"/>
                  </a:solidFill>
                  <a:latin typeface="Inter SemiBold"/>
                  <a:ea typeface="Inter SemiBold"/>
                  <a:cs typeface="Inter SemiBold"/>
                  <a:sym typeface="Inter SemiBold"/>
                </a:endParaRPr>
              </a:p>
              <a:p>
                <a:pPr indent="0" lvl="0" marL="0" rtl="0" algn="l">
                  <a:spcBef>
                    <a:spcPts val="900"/>
                  </a:spcBef>
                  <a:spcAft>
                    <a:spcPts val="0"/>
                  </a:spcAft>
                  <a:buNone/>
                </a:pPr>
                <a:r>
                  <a:rPr b="0" lang="en" sz="893">
                    <a:solidFill>
                      <a:srgbClr val="059669"/>
                    </a:solidFill>
                    <a:latin typeface="Fira Code Medium"/>
                    <a:ea typeface="Fira Code Medium"/>
                    <a:cs typeface="Fira Code Medium"/>
                    <a:sym typeface="Fira Code Medium"/>
                  </a:rPr>
                  <a:t>-- This table stores user profile data.</a:t>
                </a:r>
                <a:endParaRPr b="0" sz="893">
                  <a:solidFill>
                    <a:srgbClr val="0F172A"/>
                  </a:solidFill>
                  <a:latin typeface="Fira Code Medium"/>
                  <a:ea typeface="Fira Code Medium"/>
                  <a:cs typeface="Fira Code Medium"/>
                  <a:sym typeface="Fira Code Medium"/>
                </a:endParaRPr>
              </a:p>
              <a:p>
                <a:pPr indent="0" lvl="0" marL="0" rtl="0" algn="l">
                  <a:spcBef>
                    <a:spcPts val="600"/>
                  </a:spcBef>
                  <a:spcAft>
                    <a:spcPts val="0"/>
                  </a:spcAft>
                  <a:buNone/>
                </a:pPr>
                <a:r>
                  <a:rPr b="1" lang="en" sz="893">
                    <a:solidFill>
                      <a:srgbClr val="2563EB"/>
                    </a:solidFill>
                    <a:latin typeface="Fira Code"/>
                    <a:ea typeface="Fira Code"/>
                    <a:cs typeface="Fira Code"/>
                    <a:sym typeface="Fira Code"/>
                  </a:rPr>
                  <a:t>CREATE TABLE</a:t>
                </a:r>
                <a:r>
                  <a:rPr b="0" lang="en" sz="893">
                    <a:solidFill>
                      <a:srgbClr val="0F172A"/>
                    </a:solidFill>
                    <a:latin typeface="Fira Code Medium"/>
                    <a:ea typeface="Fira Code Medium"/>
                    <a:cs typeface="Fira Code Medium"/>
                    <a:sym typeface="Fira Code Medium"/>
                  </a:rPr>
                  <a:t> user_profiles (</a:t>
                </a:r>
                <a:endParaRPr b="0" sz="893">
                  <a:solidFill>
                    <a:srgbClr val="0F172A"/>
                  </a:solidFill>
                  <a:latin typeface="Fira Code Medium"/>
                  <a:ea typeface="Fira Code Medium"/>
                  <a:cs typeface="Fira Code Medium"/>
                  <a:sym typeface="Fira Code Medium"/>
                </a:endParaRPr>
              </a:p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b="0" lang="en" sz="893">
                    <a:solidFill>
                      <a:srgbClr val="0F172A"/>
                    </a:solidFill>
                    <a:latin typeface="Fira Code Medium"/>
                    <a:ea typeface="Fira Code Medium"/>
                    <a:cs typeface="Fira Code Medium"/>
                    <a:sym typeface="Fira Code Medium"/>
                  </a:rPr>
                  <a:t>user_id </a:t>
                </a:r>
                <a:r>
                  <a:rPr b="1" lang="en" sz="893">
                    <a:solidFill>
                      <a:srgbClr val="2563EB"/>
                    </a:solidFill>
                    <a:latin typeface="Fira Code"/>
                    <a:ea typeface="Fira Code"/>
                    <a:cs typeface="Fira Code"/>
                    <a:sym typeface="Fira Code"/>
                  </a:rPr>
                  <a:t>INT PRIMARY KEY</a:t>
                </a:r>
                <a:r>
                  <a:rPr b="0" lang="en" sz="893">
                    <a:solidFill>
                      <a:srgbClr val="0F172A"/>
                    </a:solidFill>
                    <a:latin typeface="Fira Code Medium"/>
                    <a:ea typeface="Fira Code Medium"/>
                    <a:cs typeface="Fira Code Medium"/>
                    <a:sym typeface="Fira Code Medium"/>
                  </a:rPr>
                  <a:t>,</a:t>
                </a:r>
                <a:endParaRPr b="0" sz="893">
                  <a:solidFill>
                    <a:srgbClr val="0F172A"/>
                  </a:solidFill>
                  <a:latin typeface="Fira Code Medium"/>
                  <a:ea typeface="Fira Code Medium"/>
                  <a:cs typeface="Fira Code Medium"/>
                  <a:sym typeface="Fira Code Medium"/>
                </a:endParaRPr>
              </a:p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b="0" lang="en" sz="893">
                    <a:solidFill>
                      <a:srgbClr val="0F172A"/>
                    </a:solidFill>
                    <a:latin typeface="Fira Code Medium"/>
                    <a:ea typeface="Fira Code Medium"/>
                    <a:cs typeface="Fira Code Medium"/>
                    <a:sym typeface="Fira Code Medium"/>
                  </a:rPr>
                  <a:t>created_at </a:t>
                </a:r>
                <a:r>
                  <a:rPr b="1" lang="en" sz="893">
                    <a:solidFill>
                      <a:srgbClr val="2563EB"/>
                    </a:solidFill>
                    <a:latin typeface="Fira Code"/>
                    <a:ea typeface="Fira Code"/>
                    <a:cs typeface="Fira Code"/>
                    <a:sym typeface="Fira Code"/>
                  </a:rPr>
                  <a:t>TIMESTAMP</a:t>
                </a:r>
                <a:endParaRPr b="0" sz="893">
                  <a:solidFill>
                    <a:srgbClr val="0F172A"/>
                  </a:solidFill>
                  <a:latin typeface="Fira Code Medium"/>
                  <a:ea typeface="Fira Code Medium"/>
                  <a:cs typeface="Fira Code Medium"/>
                  <a:sym typeface="Fira Code Medium"/>
                </a:endParaRPr>
              </a:p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b="0" lang="en" sz="893">
                    <a:solidFill>
                      <a:srgbClr val="0F172A"/>
                    </a:solidFill>
                    <a:latin typeface="Fira Code Medium"/>
                    <a:ea typeface="Fira Code Medium"/>
                    <a:cs typeface="Fira Code Medium"/>
                    <a:sym typeface="Fira Code Medium"/>
                  </a:rPr>
                  <a:t>);</a:t>
                </a:r>
                <a:endParaRPr b="0" sz="893">
                  <a:solidFill>
                    <a:srgbClr val="0F172A"/>
                  </a:solidFill>
                  <a:latin typeface="Fira Code Medium"/>
                  <a:ea typeface="Fira Code Medium"/>
                  <a:cs typeface="Fira Code Medium"/>
                  <a:sym typeface="Fira Code Medium"/>
                </a:endParaRPr>
              </a:p>
            </p:txBody>
          </p:sp>
        </p:grpSp>
        <p:grpSp>
          <p:nvGrpSpPr>
            <p:cNvPr id="666" name="Google Shape;666;p40"/>
            <p:cNvGrpSpPr/>
            <p:nvPr/>
          </p:nvGrpSpPr>
          <p:grpSpPr>
            <a:xfrm>
              <a:off x="0" y="2524125"/>
              <a:ext cx="8001000" cy="1381200"/>
              <a:chOff x="0" y="0"/>
              <a:chExt cx="8001000" cy="1381200"/>
            </a:xfrm>
          </p:grpSpPr>
          <p:sp>
            <p:nvSpPr>
              <p:cNvPr id="667" name="Google Shape;667;p40"/>
              <p:cNvSpPr/>
              <p:nvPr/>
            </p:nvSpPr>
            <p:spPr>
              <a:xfrm>
                <a:off x="0" y="0"/>
                <a:ext cx="8001000" cy="1381200"/>
              </a:xfrm>
              <a:prstGeom prst="roundRect">
                <a:avLst>
                  <a:gd fmla="val 5517" name="adj"/>
                </a:avLst>
              </a:prstGeom>
              <a:solidFill>
                <a:srgbClr val="F0F9FF"/>
              </a:solidFill>
              <a:ln cap="flat" cmpd="sng" w="9525">
                <a:solidFill>
                  <a:srgbClr val="BAE6FD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668" name="Google Shape;668;p40"/>
              <p:cNvSpPr/>
              <p:nvPr/>
            </p:nvSpPr>
            <p:spPr>
              <a:xfrm>
                <a:off x="0" y="0"/>
                <a:ext cx="76200" cy="1381200"/>
              </a:xfrm>
              <a:custGeom>
                <a:rect b="b" l="l" r="r" t="t"/>
                <a:pathLst>
                  <a:path extrusionOk="0" h="120000" w="120000">
                    <a:moveTo>
                      <a:pt x="0" y="6621"/>
                    </a:moveTo>
                    <a:quadBezTo>
                      <a:pt x="0" y="0"/>
                      <a:pt x="120000" y="0"/>
                    </a:quadBezTo>
                    <a:lnTo>
                      <a:pt x="120000" y="120000"/>
                    </a:lnTo>
                    <a:lnTo>
                      <a:pt x="120000" y="120000"/>
                    </a:lnTo>
                    <a:quadBezTo>
                      <a:pt x="0" y="120000"/>
                      <a:pt x="0" y="113379"/>
                    </a:quadBezTo>
                    <a:close/>
                  </a:path>
                </a:pathLst>
              </a:custGeom>
              <a:solidFill>
                <a:srgbClr val="2563EB"/>
              </a:solidFill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669" name="Google Shape;669;p40"/>
              <p:cNvSpPr txBox="1"/>
              <p:nvPr/>
            </p:nvSpPr>
            <p:spPr>
              <a:xfrm>
                <a:off x="304800" y="190500"/>
                <a:ext cx="7391400" cy="10002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b="0" lang="en" sz="1350">
                    <a:solidFill>
                      <a:srgbClr val="2563EB"/>
                    </a:solidFill>
                    <a:latin typeface="Inter Medium"/>
                    <a:ea typeface="Inter Medium"/>
                    <a:cs typeface="Inter Medium"/>
                    <a:sym typeface="Inter Medium"/>
                  </a:rPr>
                  <a:t>Why Commenting Matters</a:t>
                </a:r>
                <a:endParaRPr b="0" sz="1350">
                  <a:solidFill>
                    <a:srgbClr val="2563EB"/>
                  </a:solidFill>
                  <a:latin typeface="Inter Medium"/>
                  <a:ea typeface="Inter Medium"/>
                  <a:cs typeface="Inter Medium"/>
                  <a:sym typeface="Inter Medium"/>
                </a:endParaRPr>
              </a:p>
              <a:p>
                <a:pPr indent="0" lvl="0" marL="0" rtl="0" algn="l">
                  <a:spcBef>
                    <a:spcPts val="600"/>
                  </a:spcBef>
                  <a:spcAft>
                    <a:spcPts val="0"/>
                  </a:spcAft>
                  <a:buNone/>
                </a:pPr>
                <a:r>
                  <a:rPr b="0" lang="en" sz="1200">
                    <a:solidFill>
                      <a:srgbClr val="475569"/>
                    </a:solidFill>
                    <a:latin typeface="Inter"/>
                    <a:ea typeface="Inter"/>
                    <a:cs typeface="Inter"/>
                    <a:sym typeface="Inter"/>
                  </a:rPr>
                  <a:t>Integrating clear comments makes it significantly easier for teammates to review, understand, and troubleshoot your specific contributions to the collective code base.</a:t>
                </a:r>
                <a:endParaRPr b="0" sz="1200">
                  <a:solidFill>
                    <a:srgbClr val="475569"/>
                  </a:solidFill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</p:grpSp>
      </p:grp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73" name="Shape 6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4" name="Google Shape;674;p4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75" name="Google Shape;675;p41"/>
          <p:cNvSpPr/>
          <p:nvPr/>
        </p:nvSpPr>
        <p:spPr>
          <a:xfrm>
            <a:off x="590550" y="400050"/>
            <a:ext cx="190500" cy="190500"/>
          </a:xfrm>
          <a:custGeom>
            <a:rect b="b" l="l" r="r" t="t"/>
            <a:pathLst>
              <a:path extrusionOk="0" h="120000" w="120000">
                <a:moveTo>
                  <a:pt x="60000" y="0"/>
                </a:moveTo>
                <a:cubicBezTo>
                  <a:pt x="26880" y="0"/>
                  <a:pt x="0" y="26880"/>
                  <a:pt x="0" y="60000"/>
                </a:cubicBezTo>
                <a:lnTo>
                  <a:pt x="26880" y="120000"/>
                </a:lnTo>
                <a:lnTo>
                  <a:pt x="60000" y="120000"/>
                </a:lnTo>
                <a:lnTo>
                  <a:pt x="120000" y="93120"/>
                </a:lnTo>
                <a:lnTo>
                  <a:pt x="120000" y="60000"/>
                </a:lnTo>
                <a:lnTo>
                  <a:pt x="93120" y="0"/>
                </a:lnTo>
                <a:lnTo>
                  <a:pt x="60000" y="0"/>
                </a:lnTo>
                <a:close/>
                <a:moveTo>
                  <a:pt x="60000" y="108000"/>
                </a:moveTo>
                <a:cubicBezTo>
                  <a:pt x="33540" y="108000"/>
                  <a:pt x="12000" y="86460"/>
                  <a:pt x="12000" y="60000"/>
                </a:cubicBezTo>
                <a:lnTo>
                  <a:pt x="33540" y="12000"/>
                </a:lnTo>
                <a:lnTo>
                  <a:pt x="60000" y="12000"/>
                </a:lnTo>
                <a:lnTo>
                  <a:pt x="108000" y="33540"/>
                </a:lnTo>
                <a:lnTo>
                  <a:pt x="108000" y="60000"/>
                </a:lnTo>
                <a:lnTo>
                  <a:pt x="86460" y="108000"/>
                </a:lnTo>
                <a:lnTo>
                  <a:pt x="60000" y="108000"/>
                </a:lnTo>
                <a:close/>
                <a:moveTo>
                  <a:pt x="54000" y="30000"/>
                </a:moveTo>
                <a:lnTo>
                  <a:pt x="66000" y="30000"/>
                </a:lnTo>
                <a:lnTo>
                  <a:pt x="66000" y="66000"/>
                </a:lnTo>
                <a:lnTo>
                  <a:pt x="54000" y="66000"/>
                </a:lnTo>
                <a:close/>
                <a:moveTo>
                  <a:pt x="54000" y="78000"/>
                </a:moveTo>
                <a:lnTo>
                  <a:pt x="66000" y="78000"/>
                </a:lnTo>
                <a:lnTo>
                  <a:pt x="66000" y="90000"/>
                </a:lnTo>
                <a:lnTo>
                  <a:pt x="54000" y="90000"/>
                </a:lnTo>
                <a:close/>
              </a:path>
            </a:pathLst>
          </a:custGeom>
          <a:solidFill>
            <a:srgbClr val="2563EB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76" name="Google Shape;676;p41"/>
          <p:cNvSpPr txBox="1"/>
          <p:nvPr/>
        </p:nvSpPr>
        <p:spPr>
          <a:xfrm>
            <a:off x="914400" y="400050"/>
            <a:ext cx="70866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" sz="900">
                <a:solidFill>
                  <a:srgbClr val="475569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MAC 250: DATABASE ARCHITECTURE &amp; ENGINEERING</a:t>
            </a:r>
            <a:endParaRPr b="0" sz="900">
              <a:solidFill>
                <a:srgbClr val="475569"/>
              </a:solidFill>
              <a:latin typeface="Inter SemiBold"/>
              <a:ea typeface="Inter SemiBold"/>
              <a:cs typeface="Inter SemiBold"/>
              <a:sym typeface="Inter SemiBold"/>
            </a:endParaRPr>
          </a:p>
        </p:txBody>
      </p:sp>
      <p:grpSp>
        <p:nvGrpSpPr>
          <p:cNvPr id="677" name="Google Shape;677;p41"/>
          <p:cNvGrpSpPr/>
          <p:nvPr/>
        </p:nvGrpSpPr>
        <p:grpSpPr>
          <a:xfrm>
            <a:off x="571500" y="723900"/>
            <a:ext cx="8001000" cy="19200"/>
            <a:chOff x="0" y="0"/>
            <a:chExt cx="8001000" cy="19200"/>
          </a:xfrm>
        </p:grpSpPr>
        <p:sp>
          <p:nvSpPr>
            <p:cNvPr id="678" name="Google Shape;678;p41"/>
            <p:cNvSpPr/>
            <p:nvPr/>
          </p:nvSpPr>
          <p:spPr>
            <a:xfrm>
              <a:off x="0" y="0"/>
              <a:ext cx="8001000" cy="9600"/>
            </a:xfrm>
            <a:prstGeom prst="rect">
              <a:avLst/>
            </a:prstGeom>
            <a:solidFill>
              <a:srgbClr val="E2E8F0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79" name="Google Shape;679;p41"/>
            <p:cNvSpPr/>
            <p:nvPr/>
          </p:nvSpPr>
          <p:spPr>
            <a:xfrm>
              <a:off x="0" y="0"/>
              <a:ext cx="1143000" cy="19200"/>
            </a:xfrm>
            <a:prstGeom prst="rect">
              <a:avLst/>
            </a:prstGeom>
            <a:solidFill>
              <a:srgbClr val="2563EB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680" name="Google Shape;680;p41"/>
          <p:cNvSpPr txBox="1"/>
          <p:nvPr/>
        </p:nvSpPr>
        <p:spPr>
          <a:xfrm>
            <a:off x="571500" y="914400"/>
            <a:ext cx="8001000" cy="619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100">
                <a:solidFill>
                  <a:srgbClr val="0F172A"/>
                </a:solidFill>
                <a:latin typeface="Inter"/>
                <a:ea typeface="Inter"/>
                <a:cs typeface="Inter"/>
                <a:sym typeface="Inter"/>
              </a:rPr>
              <a:t>Checking Your Team's Order</a:t>
            </a:r>
            <a:endParaRPr b="1" sz="2100">
              <a:solidFill>
                <a:srgbClr val="0F172A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0" lvl="0" marL="0" rtl="0" algn="l">
              <a:spcBef>
                <a:spcPts val="300"/>
              </a:spcBef>
              <a:spcAft>
                <a:spcPts val="0"/>
              </a:spcAft>
              <a:buNone/>
            </a:pPr>
            <a:r>
              <a:rPr b="0" lang="en" sz="1350">
                <a:solidFill>
                  <a:srgbClr val="2563EB"/>
                </a:solidFill>
                <a:latin typeface="Inter Medium"/>
                <a:ea typeface="Inter Medium"/>
                <a:cs typeface="Inter Medium"/>
                <a:sym typeface="Inter Medium"/>
              </a:rPr>
              <a:t>Critical Final Step: Verifying Execution Sequence in Unified </a:t>
            </a:r>
            <a:r>
              <a:rPr b="0" lang="en" sz="1200">
                <a:solidFill>
                  <a:srgbClr val="2563EB"/>
                </a:solidFill>
                <a:latin typeface="Fira Code Medium"/>
                <a:ea typeface="Fira Code Medium"/>
                <a:cs typeface="Fira Code Medium"/>
                <a:sym typeface="Fira Code Medium"/>
              </a:rPr>
              <a:t>schema.sql</a:t>
            </a:r>
            <a:endParaRPr b="0" sz="1350">
              <a:solidFill>
                <a:srgbClr val="2563EB"/>
              </a:solidFill>
              <a:latin typeface="Inter Medium"/>
              <a:ea typeface="Inter Medium"/>
              <a:cs typeface="Inter Medium"/>
              <a:sym typeface="Inter Medium"/>
            </a:endParaRPr>
          </a:p>
        </p:txBody>
      </p:sp>
      <p:grpSp>
        <p:nvGrpSpPr>
          <p:cNvPr id="681" name="Google Shape;681;p41"/>
          <p:cNvGrpSpPr/>
          <p:nvPr/>
        </p:nvGrpSpPr>
        <p:grpSpPr>
          <a:xfrm>
            <a:off x="571500" y="1600200"/>
            <a:ext cx="8001000" cy="838200"/>
            <a:chOff x="0" y="0"/>
            <a:chExt cx="8001000" cy="838200"/>
          </a:xfrm>
        </p:grpSpPr>
        <p:sp>
          <p:nvSpPr>
            <p:cNvPr id="682" name="Google Shape;682;p41"/>
            <p:cNvSpPr/>
            <p:nvPr/>
          </p:nvSpPr>
          <p:spPr>
            <a:xfrm>
              <a:off x="0" y="0"/>
              <a:ext cx="8001000" cy="838200"/>
            </a:xfrm>
            <a:prstGeom prst="roundRect">
              <a:avLst>
                <a:gd fmla="val 9090" name="adj"/>
              </a:avLst>
            </a:prstGeom>
            <a:solidFill>
              <a:srgbClr val="F0F9FF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83" name="Google Shape;683;p41"/>
            <p:cNvSpPr/>
            <p:nvPr/>
          </p:nvSpPr>
          <p:spPr>
            <a:xfrm>
              <a:off x="0" y="0"/>
              <a:ext cx="76200" cy="838200"/>
            </a:xfrm>
            <a:custGeom>
              <a:rect b="b" l="l" r="r" t="t"/>
              <a:pathLst>
                <a:path extrusionOk="0" h="120000" w="120000">
                  <a:moveTo>
                    <a:pt x="0" y="10909"/>
                  </a:moveTo>
                  <a:quadBezTo>
                    <a:pt x="0" y="0"/>
                    <a:pt x="120000" y="0"/>
                  </a:quadBezTo>
                  <a:lnTo>
                    <a:pt x="120000" y="120000"/>
                  </a:lnTo>
                  <a:lnTo>
                    <a:pt x="120000" y="120000"/>
                  </a:lnTo>
                  <a:quadBezTo>
                    <a:pt x="0" y="120000"/>
                    <a:pt x="0" y="109091"/>
                  </a:quadBezTo>
                  <a:close/>
                </a:path>
              </a:pathLst>
            </a:custGeom>
            <a:solidFill>
              <a:srgbClr val="2563EB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84" name="Google Shape;684;p41"/>
            <p:cNvSpPr txBox="1"/>
            <p:nvPr/>
          </p:nvSpPr>
          <p:spPr>
            <a:xfrm>
              <a:off x="266700" y="133350"/>
              <a:ext cx="7467600" cy="5715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lang="en" sz="1200">
                  <a:solidFill>
                    <a:srgbClr val="2563EB"/>
                  </a:solidFill>
                  <a:latin typeface="Inter SemiBold"/>
                  <a:ea typeface="Inter SemiBold"/>
                  <a:cs typeface="Inter SemiBold"/>
                  <a:sym typeface="Inter SemiBold"/>
                </a:rPr>
                <a:t>Script Combination &amp; Integrity Verification</a:t>
              </a:r>
              <a:endParaRPr b="0" sz="1200">
                <a:solidFill>
                  <a:srgbClr val="2563EB"/>
                </a:solidFill>
                <a:latin typeface="Inter SemiBold"/>
                <a:ea typeface="Inter SemiBold"/>
                <a:cs typeface="Inter SemiBold"/>
                <a:sym typeface="Inter SemiBold"/>
              </a:endParaRPr>
            </a:p>
            <a:p>
              <a:pPr indent="0" lvl="0" marL="0" rtl="0" algn="l">
                <a:spcBef>
                  <a:spcPts val="300"/>
                </a:spcBef>
                <a:spcAft>
                  <a:spcPts val="0"/>
                </a:spcAft>
                <a:buNone/>
              </a:pPr>
              <a:r>
                <a:rPr b="0" lang="en" sz="1050">
                  <a:solidFill>
                    <a:srgbClr val="475569"/>
                  </a:solidFill>
                  <a:latin typeface="Inter"/>
                  <a:ea typeface="Inter"/>
                  <a:cs typeface="Inter"/>
                  <a:sym typeface="Inter"/>
                </a:rPr>
                <a:t>When combining individual code into the unified </a:t>
              </a:r>
              <a:r>
                <a:rPr b="0" lang="en" sz="1050">
                  <a:solidFill>
                    <a:srgbClr val="0F172A"/>
                  </a:solidFill>
                  <a:latin typeface="Fira Code Medium"/>
                  <a:ea typeface="Fira Code Medium"/>
                  <a:cs typeface="Fira Code Medium"/>
                  <a:sym typeface="Fira Code Medium"/>
                </a:rPr>
                <a:t>schema.sql</a:t>
              </a:r>
              <a:r>
                <a:rPr b="0" lang="en" sz="1050">
                  <a:solidFill>
                    <a:srgbClr val="475569"/>
                  </a:solidFill>
                  <a:latin typeface="Inter"/>
                  <a:ea typeface="Inter"/>
                  <a:cs typeface="Inter"/>
                  <a:sym typeface="Inter"/>
                </a:rPr>
                <a:t> file, you </a:t>
              </a:r>
              <a:r>
                <a:rPr b="0" lang="en" sz="1050">
                  <a:solidFill>
                    <a:srgbClr val="0F172A"/>
                  </a:solidFill>
                  <a:latin typeface="Inter SemiBold"/>
                  <a:ea typeface="Inter SemiBold"/>
                  <a:cs typeface="Inter SemiBold"/>
                  <a:sym typeface="Inter SemiBold"/>
                </a:rPr>
                <a:t>MUST</a:t>
              </a:r>
              <a:r>
                <a:rPr b="0" lang="en" sz="1050">
                  <a:solidFill>
                    <a:srgbClr val="475569"/>
                  </a:solidFill>
                  <a:latin typeface="Inter"/>
                  <a:ea typeface="Inter"/>
                  <a:cs typeface="Inter"/>
                  <a:sym typeface="Inter"/>
                </a:rPr>
                <a:t> verify the execution sequence to maintain referential integrity.</a:t>
              </a:r>
              <a:endParaRPr b="0" sz="1050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endParaRPr>
            </a:p>
          </p:txBody>
        </p:sp>
      </p:grpSp>
      <p:grpSp>
        <p:nvGrpSpPr>
          <p:cNvPr id="685" name="Google Shape;685;p41"/>
          <p:cNvGrpSpPr/>
          <p:nvPr/>
        </p:nvGrpSpPr>
        <p:grpSpPr>
          <a:xfrm>
            <a:off x="571500" y="2590800"/>
            <a:ext cx="8001000" cy="2076600"/>
            <a:chOff x="0" y="0"/>
            <a:chExt cx="8001000" cy="2076600"/>
          </a:xfrm>
        </p:grpSpPr>
        <p:sp>
          <p:nvSpPr>
            <p:cNvPr id="686" name="Google Shape;686;p41"/>
            <p:cNvSpPr/>
            <p:nvPr/>
          </p:nvSpPr>
          <p:spPr>
            <a:xfrm>
              <a:off x="0" y="0"/>
              <a:ext cx="8001000" cy="2076600"/>
            </a:xfrm>
            <a:prstGeom prst="roundRect">
              <a:avLst>
                <a:gd fmla="val 3669" name="adj"/>
              </a:avLst>
            </a:prstGeom>
            <a:solidFill>
              <a:srgbClr val="F8FAFC"/>
            </a:solidFill>
            <a:ln cap="flat" cmpd="sng" w="9525">
              <a:solidFill>
                <a:srgbClr val="E2E8F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87" name="Google Shape;687;p41"/>
            <p:cNvSpPr/>
            <p:nvPr/>
          </p:nvSpPr>
          <p:spPr>
            <a:xfrm>
              <a:off x="0" y="0"/>
              <a:ext cx="8001000" cy="342900"/>
            </a:xfrm>
            <a:prstGeom prst="roundRect">
              <a:avLst>
                <a:gd fmla="val 22222" name="adj"/>
              </a:avLst>
            </a:prstGeom>
            <a:solidFill>
              <a:srgbClr val="F1F5F9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88" name="Google Shape;688;p41"/>
            <p:cNvSpPr/>
            <p:nvPr/>
          </p:nvSpPr>
          <p:spPr>
            <a:xfrm>
              <a:off x="0" y="266700"/>
              <a:ext cx="8001000" cy="76200"/>
            </a:xfrm>
            <a:prstGeom prst="rect">
              <a:avLst/>
            </a:prstGeom>
            <a:solidFill>
              <a:srgbClr val="F1F5F9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89" name="Google Shape;689;p41"/>
            <p:cNvSpPr txBox="1"/>
            <p:nvPr/>
          </p:nvSpPr>
          <p:spPr>
            <a:xfrm>
              <a:off x="190500" y="76200"/>
              <a:ext cx="7620000" cy="1905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lang="en" sz="900">
                  <a:solidFill>
                    <a:srgbClr val="2563EB"/>
                  </a:solidFill>
                  <a:latin typeface="Inter SemiBold"/>
                  <a:ea typeface="Inter SemiBold"/>
                  <a:cs typeface="Inter SemiBold"/>
                  <a:sym typeface="Inter SemiBold"/>
                </a:rPr>
                <a:t>SCRIPT EXECUTION ORDER CHECKLIST</a:t>
              </a:r>
              <a:endParaRPr b="0" sz="900">
                <a:solidFill>
                  <a:srgbClr val="2563EB"/>
                </a:solidFill>
                <a:latin typeface="Inter SemiBold"/>
                <a:ea typeface="Inter SemiBold"/>
                <a:cs typeface="Inter SemiBold"/>
                <a:sym typeface="Inter SemiBold"/>
              </a:endParaRPr>
            </a:p>
          </p:txBody>
        </p:sp>
        <p:grpSp>
          <p:nvGrpSpPr>
            <p:cNvPr id="690" name="Google Shape;690;p41"/>
            <p:cNvGrpSpPr/>
            <p:nvPr/>
          </p:nvGrpSpPr>
          <p:grpSpPr>
            <a:xfrm>
              <a:off x="190500" y="457200"/>
              <a:ext cx="7620000" cy="628800"/>
              <a:chOff x="0" y="0"/>
              <a:chExt cx="7620000" cy="628800"/>
            </a:xfrm>
          </p:grpSpPr>
          <p:sp>
            <p:nvSpPr>
              <p:cNvPr id="691" name="Google Shape;691;p41"/>
              <p:cNvSpPr/>
              <p:nvPr/>
            </p:nvSpPr>
            <p:spPr>
              <a:xfrm>
                <a:off x="0" y="0"/>
                <a:ext cx="7620000" cy="628800"/>
              </a:xfrm>
              <a:prstGeom prst="roundRect">
                <a:avLst>
                  <a:gd fmla="val 9090" name="adj"/>
                </a:avLst>
              </a:prstGeom>
              <a:solidFill>
                <a:srgbClr val="FFFFFF"/>
              </a:solidFill>
              <a:ln cap="flat" cmpd="sng" w="9525">
                <a:solidFill>
                  <a:srgbClr val="CBD5E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692" name="Google Shape;692;p41"/>
              <p:cNvSpPr/>
              <p:nvPr/>
            </p:nvSpPr>
            <p:spPr>
              <a:xfrm>
                <a:off x="152400" y="180975"/>
                <a:ext cx="266700" cy="266700"/>
              </a:xfrm>
              <a:prstGeom prst="roundRect">
                <a:avLst>
                  <a:gd fmla="val 14285" name="adj"/>
                </a:avLst>
              </a:prstGeom>
              <a:solidFill>
                <a:srgbClr val="2563EB"/>
              </a:solidFill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693" name="Google Shape;693;p41"/>
              <p:cNvSpPr/>
              <p:nvPr/>
            </p:nvSpPr>
            <p:spPr>
              <a:xfrm>
                <a:off x="219075" y="247650"/>
                <a:ext cx="133500" cy="114300"/>
              </a:xfrm>
              <a:custGeom>
                <a:rect b="b" l="l" r="r" t="t"/>
                <a:pathLst>
                  <a:path extrusionOk="0" h="120000" w="120000">
                    <a:moveTo>
                      <a:pt x="0" y="70000"/>
                    </a:moveTo>
                    <a:lnTo>
                      <a:pt x="42857" y="120000"/>
                    </a:lnTo>
                    <a:lnTo>
                      <a:pt x="120000" y="0"/>
                    </a:lnTo>
                  </a:path>
                </a:pathLst>
              </a:custGeom>
              <a:solidFill>
                <a:srgbClr val="000000">
                  <a:alpha val="0"/>
                </a:srgbClr>
              </a:solidFill>
              <a:ln cap="rnd" cmpd="sng" w="28575">
                <a:solidFill>
                  <a:srgbClr val="FFFFFF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694" name="Google Shape;694;p41"/>
              <p:cNvSpPr txBox="1"/>
              <p:nvPr/>
            </p:nvSpPr>
            <p:spPr>
              <a:xfrm>
                <a:off x="533400" y="95250"/>
                <a:ext cx="6934200" cy="4383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b="0" lang="en" sz="1200">
                    <a:solidFill>
                      <a:srgbClr val="0F172A"/>
                    </a:solidFill>
                    <a:latin typeface="Inter SemiBold"/>
                    <a:ea typeface="Inter SemiBold"/>
                    <a:cs typeface="Inter SemiBold"/>
                    <a:sym typeface="Inter SemiBold"/>
                  </a:rPr>
                  <a:t>1. Parent Tables </a:t>
                </a:r>
                <a:r>
                  <a:rPr b="0" lang="en" sz="975">
                    <a:solidFill>
                      <a:srgbClr val="2563EB"/>
                    </a:solidFill>
                    <a:latin typeface="Inter SemiBold"/>
                    <a:ea typeface="Inter SemiBold"/>
                    <a:cs typeface="Inter SemiBold"/>
                    <a:sym typeface="Inter SemiBold"/>
                  </a:rPr>
                  <a:t>[ Must Be Listed at Top of Document ]</a:t>
                </a:r>
                <a:endParaRPr b="0" sz="1200">
                  <a:solidFill>
                    <a:srgbClr val="0F172A"/>
                  </a:solidFill>
                  <a:latin typeface="Inter SemiBold"/>
                  <a:ea typeface="Inter SemiBold"/>
                  <a:cs typeface="Inter SemiBold"/>
                  <a:sym typeface="Inter SemiBold"/>
                </a:endParaRPr>
              </a:p>
              <a:p>
                <a:pPr indent="0" lvl="0" marL="0" rtl="0" algn="l">
                  <a:spcBef>
                    <a:spcPts val="150"/>
                  </a:spcBef>
                  <a:spcAft>
                    <a:spcPts val="0"/>
                  </a:spcAft>
                  <a:buNone/>
                </a:pPr>
                <a:r>
                  <a:rPr b="0" lang="en" sz="1013">
                    <a:solidFill>
                      <a:srgbClr val="475569"/>
                    </a:solidFill>
                    <a:latin typeface="Inter"/>
                    <a:ea typeface="Inter"/>
                    <a:cs typeface="Inter"/>
                    <a:sym typeface="Inter"/>
                  </a:rPr>
                  <a:t>Ensure all base/parent tables are defined first so that primary keys exist prior to foreign key reference creation.</a:t>
                </a:r>
                <a:endParaRPr b="0" sz="1013">
                  <a:solidFill>
                    <a:srgbClr val="475569"/>
                  </a:solidFill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</p:grpSp>
        <p:grpSp>
          <p:nvGrpSpPr>
            <p:cNvPr id="695" name="Google Shape;695;p41"/>
            <p:cNvGrpSpPr/>
            <p:nvPr/>
          </p:nvGrpSpPr>
          <p:grpSpPr>
            <a:xfrm>
              <a:off x="3962400" y="1104900"/>
              <a:ext cx="76200" cy="133500"/>
              <a:chOff x="-38100" y="0"/>
              <a:chExt cx="76200" cy="133500"/>
            </a:xfrm>
          </p:grpSpPr>
          <p:pic>
            <p:nvPicPr>
              <p:cNvPr id="696" name="Google Shape;696;p41"/>
              <p:cNvPicPr preferRelativeResize="0"/>
              <p:nvPr/>
            </p:nvPicPr>
            <p:blipFill rotWithShape="1">
              <a:blip r:embed="rId3">
                <a:alphaModFix/>
              </a:blip>
              <a:srcRect b="0" l="0" r="0" t="0"/>
              <a:stretch/>
            </p:blipFill>
            <p:spPr>
              <a:xfrm>
                <a:off x="-9525" y="0"/>
                <a:ext cx="19200" cy="95400"/>
              </a:xfrm>
              <a:prstGeom prst="rect">
                <a:avLst/>
              </a:prstGeom>
              <a:noFill/>
              <a:ln>
                <a:noFill/>
              </a:ln>
            </p:spPr>
          </p:pic>
          <p:sp>
            <p:nvSpPr>
              <p:cNvPr id="697" name="Google Shape;697;p41"/>
              <p:cNvSpPr/>
              <p:nvPr/>
            </p:nvSpPr>
            <p:spPr>
              <a:xfrm>
                <a:off x="-38100" y="76200"/>
                <a:ext cx="76200" cy="57300"/>
              </a:xfrm>
              <a:custGeom>
                <a:rect b="b" l="l" r="r" t="t"/>
                <a:pathLst>
                  <a:path extrusionOk="0" h="120000" w="120000">
                    <a:moveTo>
                      <a:pt x="0" y="0"/>
                    </a:moveTo>
                    <a:lnTo>
                      <a:pt x="60000" y="120000"/>
                    </a:lnTo>
                    <a:lnTo>
                      <a:pt x="120000" y="0"/>
                    </a:lnTo>
                  </a:path>
                </a:pathLst>
              </a:custGeom>
              <a:solidFill>
                <a:srgbClr val="2563EB"/>
              </a:solidFill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698" name="Google Shape;698;p41"/>
            <p:cNvGrpSpPr/>
            <p:nvPr/>
          </p:nvGrpSpPr>
          <p:grpSpPr>
            <a:xfrm>
              <a:off x="190500" y="1276350"/>
              <a:ext cx="7620000" cy="628800"/>
              <a:chOff x="0" y="0"/>
              <a:chExt cx="7620000" cy="628800"/>
            </a:xfrm>
          </p:grpSpPr>
          <p:sp>
            <p:nvSpPr>
              <p:cNvPr id="699" name="Google Shape;699;p41"/>
              <p:cNvSpPr/>
              <p:nvPr/>
            </p:nvSpPr>
            <p:spPr>
              <a:xfrm>
                <a:off x="0" y="0"/>
                <a:ext cx="7620000" cy="628800"/>
              </a:xfrm>
              <a:prstGeom prst="roundRect">
                <a:avLst>
                  <a:gd fmla="val 9090" name="adj"/>
                </a:avLst>
              </a:prstGeom>
              <a:solidFill>
                <a:srgbClr val="FFFFFF"/>
              </a:solidFill>
              <a:ln cap="flat" cmpd="sng" w="9525">
                <a:solidFill>
                  <a:srgbClr val="CBD5E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700" name="Google Shape;700;p41"/>
              <p:cNvSpPr/>
              <p:nvPr/>
            </p:nvSpPr>
            <p:spPr>
              <a:xfrm>
                <a:off x="152400" y="180975"/>
                <a:ext cx="266700" cy="266700"/>
              </a:xfrm>
              <a:prstGeom prst="roundRect">
                <a:avLst>
                  <a:gd fmla="val 14285" name="adj"/>
                </a:avLst>
              </a:prstGeom>
              <a:solidFill>
                <a:srgbClr val="2563EB"/>
              </a:solidFill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701" name="Google Shape;701;p41"/>
              <p:cNvSpPr/>
              <p:nvPr/>
            </p:nvSpPr>
            <p:spPr>
              <a:xfrm>
                <a:off x="219075" y="247650"/>
                <a:ext cx="133500" cy="114300"/>
              </a:xfrm>
              <a:custGeom>
                <a:rect b="b" l="l" r="r" t="t"/>
                <a:pathLst>
                  <a:path extrusionOk="0" h="120000" w="120000">
                    <a:moveTo>
                      <a:pt x="0" y="70000"/>
                    </a:moveTo>
                    <a:lnTo>
                      <a:pt x="42857" y="120000"/>
                    </a:lnTo>
                    <a:lnTo>
                      <a:pt x="120000" y="0"/>
                    </a:lnTo>
                  </a:path>
                </a:pathLst>
              </a:custGeom>
              <a:solidFill>
                <a:srgbClr val="000000">
                  <a:alpha val="0"/>
                </a:srgbClr>
              </a:solidFill>
              <a:ln cap="rnd" cmpd="sng" w="28575">
                <a:solidFill>
                  <a:srgbClr val="FFFFFF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702" name="Google Shape;702;p41"/>
              <p:cNvSpPr txBox="1"/>
              <p:nvPr/>
            </p:nvSpPr>
            <p:spPr>
              <a:xfrm>
                <a:off x="533400" y="95250"/>
                <a:ext cx="6934200" cy="4383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b="0" lang="en" sz="1110">
                    <a:solidFill>
                      <a:srgbClr val="0F172A"/>
                    </a:solidFill>
                    <a:latin typeface="Inter SemiBold"/>
                    <a:ea typeface="Inter SemiBold"/>
                    <a:cs typeface="Inter SemiBold"/>
                    <a:sym typeface="Inter SemiBold"/>
                  </a:rPr>
                  <a:t>2. Dependent &amp; Junction Tables </a:t>
                </a:r>
                <a:r>
                  <a:rPr b="0" lang="en" sz="902">
                    <a:solidFill>
                      <a:srgbClr val="2563EB"/>
                    </a:solidFill>
                    <a:latin typeface="Inter SemiBold"/>
                    <a:ea typeface="Inter SemiBold"/>
                    <a:cs typeface="Inter SemiBold"/>
                    <a:sym typeface="Inter SemiBold"/>
                  </a:rPr>
                  <a:t>[ Must Be Listed at Bottom of Document ]</a:t>
                </a:r>
                <a:endParaRPr b="0" sz="1110">
                  <a:solidFill>
                    <a:srgbClr val="0F172A"/>
                  </a:solidFill>
                  <a:latin typeface="Inter SemiBold"/>
                  <a:ea typeface="Inter SemiBold"/>
                  <a:cs typeface="Inter SemiBold"/>
                  <a:sym typeface="Inter SemiBold"/>
                </a:endParaRPr>
              </a:p>
              <a:p>
                <a:pPr indent="0" lvl="0" marL="0" rtl="0" algn="l">
                  <a:spcBef>
                    <a:spcPts val="150"/>
                  </a:spcBef>
                  <a:spcAft>
                    <a:spcPts val="0"/>
                  </a:spcAft>
                  <a:buNone/>
                </a:pPr>
                <a:r>
                  <a:rPr b="0" lang="en" sz="937">
                    <a:solidFill>
                      <a:srgbClr val="475569"/>
                    </a:solidFill>
                    <a:latin typeface="Inter"/>
                    <a:ea typeface="Inter"/>
                    <a:cs typeface="Inter"/>
                    <a:sym typeface="Inter"/>
                  </a:rPr>
                  <a:t>Verify that junction and child tables referencing foreign keys are placed at the end to guarantee referential integrity.</a:t>
                </a:r>
                <a:endParaRPr b="0" sz="937">
                  <a:solidFill>
                    <a:srgbClr val="475569"/>
                  </a:solidFill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</p:grpSp>
      </p:grp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06" name="Shape 7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7" name="Google Shape;707;p42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08" name="Google Shape;708;p42"/>
          <p:cNvSpPr/>
          <p:nvPr/>
        </p:nvSpPr>
        <p:spPr>
          <a:xfrm>
            <a:off x="590550" y="400050"/>
            <a:ext cx="190500" cy="190500"/>
          </a:xfrm>
          <a:custGeom>
            <a:rect b="b" l="l" r="r" t="t"/>
            <a:pathLst>
              <a:path extrusionOk="0" h="120000" w="120000">
                <a:moveTo>
                  <a:pt x="60000" y="0"/>
                </a:moveTo>
                <a:cubicBezTo>
                  <a:pt x="26880" y="0"/>
                  <a:pt x="0" y="26880"/>
                  <a:pt x="0" y="60000"/>
                </a:cubicBezTo>
                <a:lnTo>
                  <a:pt x="26880" y="120000"/>
                </a:lnTo>
                <a:lnTo>
                  <a:pt x="60000" y="120000"/>
                </a:lnTo>
                <a:lnTo>
                  <a:pt x="120000" y="93120"/>
                </a:lnTo>
                <a:lnTo>
                  <a:pt x="120000" y="60000"/>
                </a:lnTo>
                <a:lnTo>
                  <a:pt x="93120" y="0"/>
                </a:lnTo>
                <a:lnTo>
                  <a:pt x="60000" y="0"/>
                </a:lnTo>
                <a:close/>
                <a:moveTo>
                  <a:pt x="60000" y="108000"/>
                </a:moveTo>
                <a:cubicBezTo>
                  <a:pt x="33540" y="108000"/>
                  <a:pt x="12000" y="86460"/>
                  <a:pt x="12000" y="60000"/>
                </a:cubicBezTo>
                <a:lnTo>
                  <a:pt x="33540" y="12000"/>
                </a:lnTo>
                <a:lnTo>
                  <a:pt x="60000" y="12000"/>
                </a:lnTo>
                <a:lnTo>
                  <a:pt x="108000" y="33540"/>
                </a:lnTo>
                <a:lnTo>
                  <a:pt x="108000" y="60000"/>
                </a:lnTo>
                <a:lnTo>
                  <a:pt x="86460" y="108000"/>
                </a:lnTo>
                <a:lnTo>
                  <a:pt x="60000" y="108000"/>
                </a:lnTo>
                <a:close/>
                <a:moveTo>
                  <a:pt x="54000" y="30000"/>
                </a:moveTo>
                <a:lnTo>
                  <a:pt x="66000" y="30000"/>
                </a:lnTo>
                <a:lnTo>
                  <a:pt x="66000" y="66000"/>
                </a:lnTo>
                <a:lnTo>
                  <a:pt x="54000" y="66000"/>
                </a:lnTo>
                <a:close/>
                <a:moveTo>
                  <a:pt x="54000" y="78000"/>
                </a:moveTo>
                <a:lnTo>
                  <a:pt x="66000" y="78000"/>
                </a:lnTo>
                <a:lnTo>
                  <a:pt x="66000" y="90000"/>
                </a:lnTo>
                <a:lnTo>
                  <a:pt x="54000" y="90000"/>
                </a:lnTo>
                <a:close/>
              </a:path>
            </a:pathLst>
          </a:custGeom>
          <a:solidFill>
            <a:srgbClr val="2563EB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09" name="Google Shape;709;p42"/>
          <p:cNvSpPr txBox="1"/>
          <p:nvPr/>
        </p:nvSpPr>
        <p:spPr>
          <a:xfrm>
            <a:off x="914400" y="400050"/>
            <a:ext cx="70866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" sz="900">
                <a:solidFill>
                  <a:srgbClr val="475569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MAC 250: DATABASE ARCHITECTURE &amp; ENGINEERING</a:t>
            </a:r>
            <a:endParaRPr b="0" sz="900">
              <a:solidFill>
                <a:srgbClr val="475569"/>
              </a:solidFill>
              <a:latin typeface="Inter SemiBold"/>
              <a:ea typeface="Inter SemiBold"/>
              <a:cs typeface="Inter SemiBold"/>
              <a:sym typeface="Inter SemiBold"/>
            </a:endParaRPr>
          </a:p>
        </p:txBody>
      </p:sp>
      <p:grpSp>
        <p:nvGrpSpPr>
          <p:cNvPr id="710" name="Google Shape;710;p42"/>
          <p:cNvGrpSpPr/>
          <p:nvPr/>
        </p:nvGrpSpPr>
        <p:grpSpPr>
          <a:xfrm>
            <a:off x="571500" y="762000"/>
            <a:ext cx="8001000" cy="19200"/>
            <a:chOff x="0" y="0"/>
            <a:chExt cx="8001000" cy="19200"/>
          </a:xfrm>
        </p:grpSpPr>
        <p:sp>
          <p:nvSpPr>
            <p:cNvPr id="711" name="Google Shape;711;p42"/>
            <p:cNvSpPr/>
            <p:nvPr/>
          </p:nvSpPr>
          <p:spPr>
            <a:xfrm>
              <a:off x="0" y="0"/>
              <a:ext cx="8001000" cy="9600"/>
            </a:xfrm>
            <a:prstGeom prst="rect">
              <a:avLst/>
            </a:prstGeom>
            <a:solidFill>
              <a:srgbClr val="E2E8F0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12" name="Google Shape;712;p42"/>
            <p:cNvSpPr/>
            <p:nvPr/>
          </p:nvSpPr>
          <p:spPr>
            <a:xfrm>
              <a:off x="0" y="0"/>
              <a:ext cx="1143000" cy="19200"/>
            </a:xfrm>
            <a:prstGeom prst="rect">
              <a:avLst/>
            </a:prstGeom>
            <a:solidFill>
              <a:srgbClr val="2563EB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713" name="Google Shape;713;p42"/>
          <p:cNvSpPr txBox="1"/>
          <p:nvPr/>
        </p:nvSpPr>
        <p:spPr>
          <a:xfrm>
            <a:off x="571500" y="1000125"/>
            <a:ext cx="8001000" cy="714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400">
                <a:solidFill>
                  <a:srgbClr val="0F172A"/>
                </a:solidFill>
                <a:latin typeface="Inter"/>
                <a:ea typeface="Inter"/>
                <a:cs typeface="Inter"/>
                <a:sym typeface="Inter"/>
              </a:rPr>
              <a:t>Wrap-Up: SQL DDL Principles</a:t>
            </a:r>
            <a:endParaRPr b="1" sz="2400">
              <a:solidFill>
                <a:srgbClr val="0F172A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0" lvl="0" marL="0" rtl="0" algn="l">
              <a:spcBef>
                <a:spcPts val="450"/>
              </a:spcBef>
              <a:spcAft>
                <a:spcPts val="0"/>
              </a:spcAft>
              <a:buNone/>
            </a:pPr>
            <a:r>
              <a:rPr b="0" lang="en" sz="1500">
                <a:solidFill>
                  <a:srgbClr val="2563EB"/>
                </a:solidFill>
                <a:latin typeface="Inter Medium"/>
                <a:ea typeface="Inter Medium"/>
                <a:cs typeface="Inter Medium"/>
                <a:sym typeface="Inter Medium"/>
              </a:rPr>
              <a:t>Summary of physical database creation and execution fundamentals</a:t>
            </a:r>
            <a:endParaRPr b="0" sz="1500">
              <a:solidFill>
                <a:srgbClr val="2563EB"/>
              </a:solidFill>
              <a:latin typeface="Inter Medium"/>
              <a:ea typeface="Inter Medium"/>
              <a:cs typeface="Inter Medium"/>
              <a:sym typeface="Inter Medium"/>
            </a:endParaRPr>
          </a:p>
        </p:txBody>
      </p:sp>
      <p:grpSp>
        <p:nvGrpSpPr>
          <p:cNvPr id="714" name="Google Shape;714;p42"/>
          <p:cNvGrpSpPr/>
          <p:nvPr/>
        </p:nvGrpSpPr>
        <p:grpSpPr>
          <a:xfrm>
            <a:off x="571500" y="1857375"/>
            <a:ext cx="8001000" cy="1238400"/>
            <a:chOff x="0" y="0"/>
            <a:chExt cx="8001000" cy="1238400"/>
          </a:xfrm>
        </p:grpSpPr>
        <p:sp>
          <p:nvSpPr>
            <p:cNvPr id="715" name="Google Shape;715;p42"/>
            <p:cNvSpPr/>
            <p:nvPr/>
          </p:nvSpPr>
          <p:spPr>
            <a:xfrm>
              <a:off x="0" y="0"/>
              <a:ext cx="8001000" cy="1238400"/>
            </a:xfrm>
            <a:prstGeom prst="roundRect">
              <a:avLst>
                <a:gd fmla="val 6153" name="adj"/>
              </a:avLst>
            </a:prstGeom>
            <a:solidFill>
              <a:srgbClr val="F0F9FF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16" name="Google Shape;716;p42"/>
            <p:cNvSpPr/>
            <p:nvPr/>
          </p:nvSpPr>
          <p:spPr>
            <a:xfrm>
              <a:off x="0" y="0"/>
              <a:ext cx="76200" cy="1238400"/>
            </a:xfrm>
            <a:custGeom>
              <a:rect b="b" l="l" r="r" t="t"/>
              <a:pathLst>
                <a:path extrusionOk="0" h="120000" w="120000">
                  <a:moveTo>
                    <a:pt x="0" y="7385"/>
                  </a:moveTo>
                  <a:quadBezTo>
                    <a:pt x="0" y="0"/>
                    <a:pt x="120000" y="0"/>
                  </a:quadBezTo>
                  <a:lnTo>
                    <a:pt x="120000" y="120000"/>
                  </a:lnTo>
                  <a:lnTo>
                    <a:pt x="120000" y="120000"/>
                  </a:lnTo>
                  <a:quadBezTo>
                    <a:pt x="0" y="120000"/>
                    <a:pt x="0" y="112615"/>
                  </a:quadBezTo>
                  <a:close/>
                </a:path>
              </a:pathLst>
            </a:custGeom>
            <a:solidFill>
              <a:srgbClr val="2563EB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17" name="Google Shape;717;p42"/>
            <p:cNvSpPr txBox="1"/>
            <p:nvPr/>
          </p:nvSpPr>
          <p:spPr>
            <a:xfrm>
              <a:off x="304800" y="190500"/>
              <a:ext cx="7391400" cy="8574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lang="en" sz="1500">
                  <a:solidFill>
                    <a:srgbClr val="2563EB"/>
                  </a:solidFill>
                  <a:latin typeface="Inter Medium"/>
                  <a:ea typeface="Inter Medium"/>
                  <a:cs typeface="Inter Medium"/>
                  <a:sym typeface="Inter Medium"/>
                </a:rPr>
                <a:t>Core Foundation &amp; Primary Instrument</a:t>
              </a:r>
              <a:endParaRPr b="0" sz="1500">
                <a:solidFill>
                  <a:srgbClr val="2563EB"/>
                </a:solidFill>
                <a:latin typeface="Inter Medium"/>
                <a:ea typeface="Inter Medium"/>
                <a:cs typeface="Inter Medium"/>
                <a:sym typeface="Inter Medium"/>
              </a:endParaRPr>
            </a:p>
            <a:p>
              <a:pPr indent="0" lvl="0" marL="0" rtl="0" algn="l">
                <a:spcBef>
                  <a:spcPts val="600"/>
                </a:spcBef>
                <a:spcAft>
                  <a:spcPts val="0"/>
                </a:spcAft>
                <a:buNone/>
              </a:pPr>
              <a:r>
                <a:rPr b="0" lang="en" sz="1200">
                  <a:solidFill>
                    <a:srgbClr val="475569"/>
                  </a:solidFill>
                  <a:latin typeface="Inter"/>
                  <a:ea typeface="Inter"/>
                  <a:cs typeface="Inter"/>
                  <a:sym typeface="Inter"/>
                </a:rPr>
                <a:t>SQL DDL is the fundamental tool used to build the physical database structure from theoretical designs. The </a:t>
              </a:r>
              <a:r>
                <a:rPr b="0" lang="en" sz="1050">
                  <a:solidFill>
                    <a:srgbClr val="0F172A"/>
                  </a:solidFill>
                  <a:highlight>
                    <a:srgbClr val="E0F2FE"/>
                  </a:highlight>
                  <a:latin typeface="Fira Code Medium"/>
                  <a:ea typeface="Fira Code Medium"/>
                  <a:cs typeface="Fira Code Medium"/>
                  <a:sym typeface="Fira Code Medium"/>
                </a:rPr>
                <a:t>CREATE TABLE</a:t>
              </a:r>
              <a:r>
                <a:rPr b="0" lang="en" sz="1200">
                  <a:solidFill>
                    <a:srgbClr val="475569"/>
                  </a:solidFill>
                  <a:latin typeface="Inter"/>
                  <a:ea typeface="Inter"/>
                  <a:cs typeface="Inter"/>
                  <a:sym typeface="Inter"/>
                </a:rPr>
                <a:t> command is your primary instrument in this phase.</a:t>
              </a:r>
              <a:endParaRPr b="0" sz="1200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endParaRPr>
            </a:p>
          </p:txBody>
        </p:sp>
      </p:grpSp>
      <p:grpSp>
        <p:nvGrpSpPr>
          <p:cNvPr id="718" name="Google Shape;718;p42"/>
          <p:cNvGrpSpPr/>
          <p:nvPr/>
        </p:nvGrpSpPr>
        <p:grpSpPr>
          <a:xfrm>
            <a:off x="571500" y="3286125"/>
            <a:ext cx="8001000" cy="1285800"/>
            <a:chOff x="0" y="0"/>
            <a:chExt cx="8001000" cy="1285800"/>
          </a:xfrm>
        </p:grpSpPr>
        <p:grpSp>
          <p:nvGrpSpPr>
            <p:cNvPr id="719" name="Google Shape;719;p42"/>
            <p:cNvGrpSpPr/>
            <p:nvPr/>
          </p:nvGrpSpPr>
          <p:grpSpPr>
            <a:xfrm>
              <a:off x="0" y="0"/>
              <a:ext cx="3810000" cy="1285800"/>
              <a:chOff x="0" y="0"/>
              <a:chExt cx="3810000" cy="1285800"/>
            </a:xfrm>
          </p:grpSpPr>
          <p:sp>
            <p:nvSpPr>
              <p:cNvPr id="720" name="Google Shape;720;p42"/>
              <p:cNvSpPr/>
              <p:nvPr/>
            </p:nvSpPr>
            <p:spPr>
              <a:xfrm>
                <a:off x="0" y="0"/>
                <a:ext cx="3810000" cy="1285800"/>
              </a:xfrm>
              <a:prstGeom prst="roundRect">
                <a:avLst>
                  <a:gd fmla="val 4444" name="adj"/>
                </a:avLst>
              </a:prstGeom>
              <a:solidFill>
                <a:srgbClr val="FFFFFF"/>
              </a:solidFill>
              <a:ln cap="flat" cmpd="sng" w="9525">
                <a:solidFill>
                  <a:srgbClr val="E2E8F0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721" name="Google Shape;721;p42"/>
              <p:cNvSpPr/>
              <p:nvPr/>
            </p:nvSpPr>
            <p:spPr>
              <a:xfrm>
                <a:off x="0" y="0"/>
                <a:ext cx="3810000" cy="38100"/>
              </a:xfrm>
              <a:prstGeom prst="roundRect">
                <a:avLst>
                  <a:gd fmla="val 50000" name="adj"/>
                </a:avLst>
              </a:prstGeom>
              <a:solidFill>
                <a:srgbClr val="2563EB"/>
              </a:solidFill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722" name="Google Shape;722;p42"/>
              <p:cNvSpPr txBox="1"/>
              <p:nvPr/>
            </p:nvSpPr>
            <p:spPr>
              <a:xfrm>
                <a:off x="228600" y="190500"/>
                <a:ext cx="3352800" cy="9048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b="0" lang="en" sz="900">
                    <a:solidFill>
                      <a:srgbClr val="2563EB"/>
                    </a:solidFill>
                    <a:latin typeface="Inter SemiBold"/>
                    <a:ea typeface="Inter SemiBold"/>
                    <a:cs typeface="Inter SemiBold"/>
                    <a:sym typeface="Inter SemiBold"/>
                  </a:rPr>
                  <a:t>Relational Execution Order</a:t>
                </a:r>
                <a:endParaRPr b="0" sz="900">
                  <a:solidFill>
                    <a:srgbClr val="2563EB"/>
                  </a:solidFill>
                  <a:latin typeface="Inter SemiBold"/>
                  <a:ea typeface="Inter SemiBold"/>
                  <a:cs typeface="Inter SemiBold"/>
                  <a:sym typeface="Inter SemiBold"/>
                </a:endParaRPr>
              </a:p>
              <a:p>
                <a:pPr indent="0" lvl="0" marL="0" rtl="0" algn="l">
                  <a:spcBef>
                    <a:spcPts val="750"/>
                  </a:spcBef>
                  <a:spcAft>
                    <a:spcPts val="0"/>
                  </a:spcAft>
                  <a:buNone/>
                </a:pPr>
                <a:r>
                  <a:rPr b="0" lang="en" sz="1200">
                    <a:solidFill>
                      <a:srgbClr val="475569"/>
                    </a:solidFill>
                    <a:latin typeface="Inter"/>
                    <a:ea typeface="Inter"/>
                    <a:cs typeface="Inter"/>
                    <a:sym typeface="Inter"/>
                  </a:rPr>
                  <a:t>Success relies heavily on understanding relational execution order when establishing tables and foreign key dependencies.</a:t>
                </a:r>
                <a:endParaRPr b="0" sz="1200">
                  <a:solidFill>
                    <a:srgbClr val="475569"/>
                  </a:solidFill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</p:grpSp>
        <p:grpSp>
          <p:nvGrpSpPr>
            <p:cNvPr id="723" name="Google Shape;723;p42"/>
            <p:cNvGrpSpPr/>
            <p:nvPr/>
          </p:nvGrpSpPr>
          <p:grpSpPr>
            <a:xfrm>
              <a:off x="4191000" y="0"/>
              <a:ext cx="3810000" cy="1285800"/>
              <a:chOff x="0" y="0"/>
              <a:chExt cx="3810000" cy="1285800"/>
            </a:xfrm>
          </p:grpSpPr>
          <p:sp>
            <p:nvSpPr>
              <p:cNvPr id="724" name="Google Shape;724;p42"/>
              <p:cNvSpPr/>
              <p:nvPr/>
            </p:nvSpPr>
            <p:spPr>
              <a:xfrm>
                <a:off x="0" y="0"/>
                <a:ext cx="3810000" cy="1285800"/>
              </a:xfrm>
              <a:prstGeom prst="roundRect">
                <a:avLst>
                  <a:gd fmla="val 4444" name="adj"/>
                </a:avLst>
              </a:prstGeom>
              <a:solidFill>
                <a:srgbClr val="FFFFFF"/>
              </a:solidFill>
              <a:ln cap="flat" cmpd="sng" w="9525">
                <a:solidFill>
                  <a:srgbClr val="E2E8F0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725" name="Google Shape;725;p42"/>
              <p:cNvSpPr/>
              <p:nvPr/>
            </p:nvSpPr>
            <p:spPr>
              <a:xfrm>
                <a:off x="0" y="0"/>
                <a:ext cx="3810000" cy="38100"/>
              </a:xfrm>
              <a:prstGeom prst="roundRect">
                <a:avLst>
                  <a:gd fmla="val 50000" name="adj"/>
                </a:avLst>
              </a:prstGeom>
              <a:solidFill>
                <a:srgbClr val="0F172A"/>
              </a:solidFill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726" name="Google Shape;726;p42"/>
              <p:cNvSpPr txBox="1"/>
              <p:nvPr/>
            </p:nvSpPr>
            <p:spPr>
              <a:xfrm>
                <a:off x="228600" y="190500"/>
                <a:ext cx="3352800" cy="9048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b="0" lang="en" sz="900">
                    <a:solidFill>
                      <a:srgbClr val="0F172A"/>
                    </a:solidFill>
                    <a:latin typeface="Inter SemiBold"/>
                    <a:ea typeface="Inter SemiBold"/>
                    <a:cs typeface="Inter SemiBold"/>
                    <a:sym typeface="Inter SemiBold"/>
                  </a:rPr>
                  <a:t>Syntax Precision</a:t>
                </a:r>
                <a:endParaRPr b="0" sz="900">
                  <a:solidFill>
                    <a:srgbClr val="0F172A"/>
                  </a:solidFill>
                  <a:latin typeface="Inter SemiBold"/>
                  <a:ea typeface="Inter SemiBold"/>
                  <a:cs typeface="Inter SemiBold"/>
                  <a:sym typeface="Inter SemiBold"/>
                </a:endParaRPr>
              </a:p>
              <a:p>
                <a:pPr indent="0" lvl="0" marL="0" rtl="0" algn="l">
                  <a:spcBef>
                    <a:spcPts val="750"/>
                  </a:spcBef>
                  <a:spcAft>
                    <a:spcPts val="0"/>
                  </a:spcAft>
                  <a:buNone/>
                </a:pPr>
                <a:r>
                  <a:rPr b="0" lang="en" sz="1200">
                    <a:solidFill>
                      <a:srgbClr val="475569"/>
                    </a:solidFill>
                    <a:latin typeface="Inter"/>
                    <a:ea typeface="Inter"/>
                    <a:cs typeface="Inter"/>
                    <a:sym typeface="Inter"/>
                  </a:rPr>
                  <a:t>Maintaining exact, error-free syntax throughout your scripts ensures seamless deployment without compilation failures.</a:t>
                </a:r>
                <a:endParaRPr b="0" sz="1200">
                  <a:solidFill>
                    <a:srgbClr val="475569"/>
                  </a:solidFill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</p:grpSp>
      </p:grp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730" name="Shape 7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1" name="Google Shape;731;p43"/>
          <p:cNvSpPr/>
          <p:nvPr/>
        </p:nvSpPr>
        <p:spPr>
          <a:xfrm>
            <a:off x="590550" y="400050"/>
            <a:ext cx="190500" cy="190500"/>
          </a:xfrm>
          <a:custGeom>
            <a:rect b="b" l="l" r="r" t="t"/>
            <a:pathLst>
              <a:path extrusionOk="0" h="120000" w="120000">
                <a:moveTo>
                  <a:pt x="60000" y="0"/>
                </a:moveTo>
                <a:cubicBezTo>
                  <a:pt x="26880" y="0"/>
                  <a:pt x="0" y="26880"/>
                  <a:pt x="0" y="60000"/>
                </a:cubicBezTo>
                <a:lnTo>
                  <a:pt x="26880" y="120000"/>
                </a:lnTo>
                <a:lnTo>
                  <a:pt x="60000" y="120000"/>
                </a:lnTo>
                <a:lnTo>
                  <a:pt x="120000" y="93120"/>
                </a:lnTo>
                <a:lnTo>
                  <a:pt x="120000" y="60000"/>
                </a:lnTo>
                <a:lnTo>
                  <a:pt x="93120" y="0"/>
                </a:lnTo>
                <a:lnTo>
                  <a:pt x="60000" y="0"/>
                </a:lnTo>
                <a:close/>
                <a:moveTo>
                  <a:pt x="60000" y="108000"/>
                </a:moveTo>
                <a:cubicBezTo>
                  <a:pt x="33540" y="108000"/>
                  <a:pt x="12000" y="86460"/>
                  <a:pt x="12000" y="60000"/>
                </a:cubicBezTo>
                <a:lnTo>
                  <a:pt x="33540" y="12000"/>
                </a:lnTo>
                <a:lnTo>
                  <a:pt x="60000" y="12000"/>
                </a:lnTo>
                <a:lnTo>
                  <a:pt x="108000" y="33540"/>
                </a:lnTo>
                <a:lnTo>
                  <a:pt x="108000" y="60000"/>
                </a:lnTo>
                <a:lnTo>
                  <a:pt x="86460" y="108000"/>
                </a:lnTo>
                <a:lnTo>
                  <a:pt x="60000" y="108000"/>
                </a:lnTo>
                <a:close/>
                <a:moveTo>
                  <a:pt x="54000" y="30000"/>
                </a:moveTo>
                <a:lnTo>
                  <a:pt x="66000" y="30000"/>
                </a:lnTo>
                <a:lnTo>
                  <a:pt x="66000" y="66000"/>
                </a:lnTo>
                <a:lnTo>
                  <a:pt x="54000" y="66000"/>
                </a:lnTo>
                <a:close/>
                <a:moveTo>
                  <a:pt x="54000" y="78000"/>
                </a:moveTo>
                <a:lnTo>
                  <a:pt x="66000" y="78000"/>
                </a:lnTo>
                <a:lnTo>
                  <a:pt x="66000" y="90000"/>
                </a:lnTo>
                <a:lnTo>
                  <a:pt x="54000" y="90000"/>
                </a:lnTo>
                <a:close/>
              </a:path>
            </a:pathLst>
          </a:custGeom>
          <a:solidFill>
            <a:srgbClr val="2563EB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32" name="Google Shape;732;p43"/>
          <p:cNvSpPr txBox="1"/>
          <p:nvPr/>
        </p:nvSpPr>
        <p:spPr>
          <a:xfrm>
            <a:off x="914400" y="400050"/>
            <a:ext cx="70866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" sz="900">
                <a:solidFill>
                  <a:srgbClr val="475569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MAC 250: DATABASE ARCHITECTURE &amp; ENGINEERING</a:t>
            </a:r>
            <a:endParaRPr b="0" sz="900">
              <a:solidFill>
                <a:srgbClr val="475569"/>
              </a:solidFill>
              <a:latin typeface="Inter SemiBold"/>
              <a:ea typeface="Inter SemiBold"/>
              <a:cs typeface="Inter SemiBold"/>
              <a:sym typeface="Inter SemiBold"/>
            </a:endParaRPr>
          </a:p>
        </p:txBody>
      </p:sp>
      <p:grpSp>
        <p:nvGrpSpPr>
          <p:cNvPr id="733" name="Google Shape;733;p43"/>
          <p:cNvGrpSpPr/>
          <p:nvPr/>
        </p:nvGrpSpPr>
        <p:grpSpPr>
          <a:xfrm>
            <a:off x="571500" y="762000"/>
            <a:ext cx="8001000" cy="19200"/>
            <a:chOff x="0" y="0"/>
            <a:chExt cx="8001000" cy="19200"/>
          </a:xfrm>
        </p:grpSpPr>
        <p:sp>
          <p:nvSpPr>
            <p:cNvPr id="734" name="Google Shape;734;p43"/>
            <p:cNvSpPr/>
            <p:nvPr/>
          </p:nvSpPr>
          <p:spPr>
            <a:xfrm>
              <a:off x="0" y="0"/>
              <a:ext cx="8001000" cy="9600"/>
            </a:xfrm>
            <a:prstGeom prst="rect">
              <a:avLst/>
            </a:prstGeom>
            <a:solidFill>
              <a:srgbClr val="E2E8F0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35" name="Google Shape;735;p43"/>
            <p:cNvSpPr/>
            <p:nvPr/>
          </p:nvSpPr>
          <p:spPr>
            <a:xfrm>
              <a:off x="0" y="0"/>
              <a:ext cx="1143000" cy="19200"/>
            </a:xfrm>
            <a:prstGeom prst="rect">
              <a:avLst/>
            </a:prstGeom>
            <a:solidFill>
              <a:srgbClr val="2563EB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736" name="Google Shape;736;p43"/>
          <p:cNvSpPr txBox="1"/>
          <p:nvPr/>
        </p:nvSpPr>
        <p:spPr>
          <a:xfrm>
            <a:off x="571500" y="1095375"/>
            <a:ext cx="8001000" cy="714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400">
                <a:solidFill>
                  <a:srgbClr val="0F172A"/>
                </a:solidFill>
                <a:latin typeface="Inter"/>
                <a:ea typeface="Inter"/>
                <a:cs typeface="Inter"/>
                <a:sym typeface="Inter"/>
              </a:rPr>
              <a:t>See You Tomorrow!</a:t>
            </a:r>
            <a:endParaRPr b="1" sz="2400">
              <a:solidFill>
                <a:srgbClr val="0F172A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0" lvl="0" marL="0" rtl="0" algn="l">
              <a:spcBef>
                <a:spcPts val="450"/>
              </a:spcBef>
              <a:spcAft>
                <a:spcPts val="0"/>
              </a:spcAft>
              <a:buNone/>
            </a:pPr>
            <a:r>
              <a:rPr b="0" lang="en" sz="1500">
                <a:solidFill>
                  <a:srgbClr val="2563EB"/>
                </a:solidFill>
                <a:latin typeface="Inter Medium"/>
                <a:ea typeface="Inter Medium"/>
                <a:cs typeface="Inter Medium"/>
                <a:sym typeface="Inter Medium"/>
              </a:rPr>
              <a:t>Lab Preparation &amp; Software Setup</a:t>
            </a:r>
            <a:endParaRPr b="0" sz="1500">
              <a:solidFill>
                <a:srgbClr val="2563EB"/>
              </a:solidFill>
              <a:latin typeface="Inter Medium"/>
              <a:ea typeface="Inter Medium"/>
              <a:cs typeface="Inter Medium"/>
              <a:sym typeface="Inter Medium"/>
            </a:endParaRPr>
          </a:p>
        </p:txBody>
      </p:sp>
      <p:grpSp>
        <p:nvGrpSpPr>
          <p:cNvPr id="737" name="Google Shape;737;p43"/>
          <p:cNvGrpSpPr/>
          <p:nvPr/>
        </p:nvGrpSpPr>
        <p:grpSpPr>
          <a:xfrm>
            <a:off x="571500" y="2000250"/>
            <a:ext cx="8001000" cy="1190700"/>
            <a:chOff x="0" y="0"/>
            <a:chExt cx="8001000" cy="1190700"/>
          </a:xfrm>
        </p:grpSpPr>
        <p:sp>
          <p:nvSpPr>
            <p:cNvPr id="738" name="Google Shape;738;p43"/>
            <p:cNvSpPr/>
            <p:nvPr/>
          </p:nvSpPr>
          <p:spPr>
            <a:xfrm>
              <a:off x="0" y="0"/>
              <a:ext cx="8001000" cy="1190700"/>
            </a:xfrm>
            <a:prstGeom prst="roundRect">
              <a:avLst>
                <a:gd fmla="val 6400" name="adj"/>
              </a:avLst>
            </a:prstGeom>
            <a:solidFill>
              <a:srgbClr val="F0F9FF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39" name="Google Shape;739;p43"/>
            <p:cNvSpPr/>
            <p:nvPr/>
          </p:nvSpPr>
          <p:spPr>
            <a:xfrm>
              <a:off x="0" y="0"/>
              <a:ext cx="76200" cy="1190700"/>
            </a:xfrm>
            <a:custGeom>
              <a:rect b="b" l="l" r="r" t="t"/>
              <a:pathLst>
                <a:path extrusionOk="0" h="120000" w="120000">
                  <a:moveTo>
                    <a:pt x="0" y="7680"/>
                  </a:moveTo>
                  <a:quadBezTo>
                    <a:pt x="0" y="0"/>
                    <a:pt x="120000" y="0"/>
                  </a:quadBezTo>
                  <a:lnTo>
                    <a:pt x="120000" y="120000"/>
                  </a:lnTo>
                  <a:lnTo>
                    <a:pt x="120000" y="120000"/>
                  </a:lnTo>
                  <a:quadBezTo>
                    <a:pt x="0" y="120000"/>
                    <a:pt x="0" y="112320"/>
                  </a:quadBezTo>
                  <a:close/>
                </a:path>
              </a:pathLst>
            </a:custGeom>
            <a:solidFill>
              <a:srgbClr val="2563EB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40" name="Google Shape;740;p43"/>
            <p:cNvSpPr txBox="1"/>
            <p:nvPr/>
          </p:nvSpPr>
          <p:spPr>
            <a:xfrm>
              <a:off x="304800" y="190500"/>
              <a:ext cx="7391400" cy="8097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lang="en" sz="1350">
                  <a:solidFill>
                    <a:srgbClr val="2563EB"/>
                  </a:solidFill>
                  <a:latin typeface="Inter Medium"/>
                  <a:ea typeface="Inter Medium"/>
                  <a:cs typeface="Inter Medium"/>
                  <a:sym typeface="Inter Medium"/>
                </a:rPr>
                <a:t>Required Software Installation</a:t>
              </a:r>
              <a:endParaRPr b="0" sz="1350">
                <a:solidFill>
                  <a:srgbClr val="2563EB"/>
                </a:solidFill>
                <a:latin typeface="Inter Medium"/>
                <a:ea typeface="Inter Medium"/>
                <a:cs typeface="Inter Medium"/>
                <a:sym typeface="Inter Medium"/>
              </a:endParaRPr>
            </a:p>
            <a:p>
              <a:pPr indent="0" lvl="0" marL="0" rtl="0" algn="l">
                <a:spcBef>
                  <a:spcPts val="450"/>
                </a:spcBef>
                <a:spcAft>
                  <a:spcPts val="0"/>
                </a:spcAft>
                <a:buNone/>
              </a:pPr>
              <a:r>
                <a:rPr b="0" lang="en" sz="1200">
                  <a:solidFill>
                    <a:srgbClr val="475569"/>
                  </a:solidFill>
                  <a:latin typeface="Inter"/>
                  <a:ea typeface="Inter"/>
                  <a:cs typeface="Inter"/>
                  <a:sym typeface="Inter"/>
                </a:rPr>
                <a:t>Please ensure you download and install DB Browser for SQLite on your personal machines before arriving at class tomorrow.</a:t>
              </a:r>
              <a:endParaRPr b="0" sz="1200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endParaRPr>
            </a:p>
          </p:txBody>
        </p:sp>
      </p:grpSp>
      <p:grpSp>
        <p:nvGrpSpPr>
          <p:cNvPr id="741" name="Google Shape;741;p43"/>
          <p:cNvGrpSpPr/>
          <p:nvPr/>
        </p:nvGrpSpPr>
        <p:grpSpPr>
          <a:xfrm>
            <a:off x="571500" y="3381375"/>
            <a:ext cx="8001000" cy="1190700"/>
            <a:chOff x="0" y="0"/>
            <a:chExt cx="8001000" cy="1190700"/>
          </a:xfrm>
        </p:grpSpPr>
        <p:sp>
          <p:nvSpPr>
            <p:cNvPr id="742" name="Google Shape;742;p43"/>
            <p:cNvSpPr/>
            <p:nvPr/>
          </p:nvSpPr>
          <p:spPr>
            <a:xfrm>
              <a:off x="0" y="0"/>
              <a:ext cx="8001000" cy="1190700"/>
            </a:xfrm>
            <a:prstGeom prst="roundRect">
              <a:avLst>
                <a:gd fmla="val 6400" name="adj"/>
              </a:avLst>
            </a:prstGeom>
            <a:solidFill>
              <a:srgbClr val="F8FAFC"/>
            </a:solidFill>
            <a:ln cap="flat" cmpd="sng" w="9525">
              <a:solidFill>
                <a:srgbClr val="E2E8F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43" name="Google Shape;743;p43"/>
            <p:cNvSpPr/>
            <p:nvPr/>
          </p:nvSpPr>
          <p:spPr>
            <a:xfrm>
              <a:off x="0" y="0"/>
              <a:ext cx="76200" cy="1190700"/>
            </a:xfrm>
            <a:custGeom>
              <a:rect b="b" l="l" r="r" t="t"/>
              <a:pathLst>
                <a:path extrusionOk="0" h="120000" w="120000">
                  <a:moveTo>
                    <a:pt x="0" y="7680"/>
                  </a:moveTo>
                  <a:quadBezTo>
                    <a:pt x="0" y="0"/>
                    <a:pt x="120000" y="0"/>
                  </a:quadBezTo>
                  <a:lnTo>
                    <a:pt x="120000" y="120000"/>
                  </a:lnTo>
                  <a:lnTo>
                    <a:pt x="120000" y="120000"/>
                  </a:lnTo>
                  <a:quadBezTo>
                    <a:pt x="0" y="120000"/>
                    <a:pt x="0" y="112320"/>
                  </a:quadBezTo>
                  <a:close/>
                </a:path>
              </a:pathLst>
            </a:custGeom>
            <a:solidFill>
              <a:srgbClr val="2563EB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44" name="Google Shape;744;p43"/>
            <p:cNvSpPr txBox="1"/>
            <p:nvPr/>
          </p:nvSpPr>
          <p:spPr>
            <a:xfrm>
              <a:off x="304800" y="190500"/>
              <a:ext cx="7391400" cy="8097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lang="en" sz="1350">
                  <a:solidFill>
                    <a:srgbClr val="2563EB"/>
                  </a:solidFill>
                  <a:latin typeface="Inter Medium"/>
                  <a:ea typeface="Inter Medium"/>
                  <a:cs typeface="Inter Medium"/>
                  <a:sym typeface="Inter Medium"/>
                </a:rPr>
                <a:t>In-Class Action Item</a:t>
              </a:r>
              <a:endParaRPr b="0" sz="1350">
                <a:solidFill>
                  <a:srgbClr val="2563EB"/>
                </a:solidFill>
                <a:latin typeface="Inter Medium"/>
                <a:ea typeface="Inter Medium"/>
                <a:cs typeface="Inter Medium"/>
                <a:sym typeface="Inter Medium"/>
              </a:endParaRPr>
            </a:p>
            <a:p>
              <a:pPr indent="0" lvl="0" marL="0" rtl="0" algn="l">
                <a:spcBef>
                  <a:spcPts val="450"/>
                </a:spcBef>
                <a:spcAft>
                  <a:spcPts val="0"/>
                </a:spcAft>
                <a:buNone/>
              </a:pPr>
              <a:r>
                <a:rPr b="0" lang="en" sz="1200">
                  <a:solidFill>
                    <a:srgbClr val="475569"/>
                  </a:solidFill>
                  <a:latin typeface="Inter"/>
                  <a:ea typeface="Inter"/>
                  <a:cs typeface="Inter"/>
                  <a:sym typeface="Inter"/>
                </a:rPr>
                <a:t>Be prepared to immediately begin coding and executing SQL scripts during the lab session.</a:t>
              </a:r>
              <a:endParaRPr b="0" sz="1200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endParaRPr>
            </a:p>
          </p:txBody>
        </p:sp>
      </p:grp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