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IBM Plex Sans"/>
      <p:bold r:id="rId30"/>
      <p:boldItalic r:id="rId31"/>
    </p:embeddedFont>
    <p:embeddedFont>
      <p:font typeface="IBM Plex Mono Medium"/>
      <p:regular r:id="rId32"/>
      <p:bold r:id="rId33"/>
      <p:italic r:id="rId34"/>
      <p:boldItalic r:id="rId35"/>
    </p:embeddedFont>
    <p:embeddedFont>
      <p:font typeface="IBM Plex Sans Medium"/>
      <p:regular r:id="rId36"/>
      <p:bold r:id="rId37"/>
      <p:italic r:id="rId38"/>
      <p:boldItalic r:id="rId39"/>
    </p:embeddedFont>
    <p:embeddedFont>
      <p:font typeface="IBM Plex Mono SemiBold"/>
      <p:regular r:id="rId40"/>
      <p:bold r:id="rId41"/>
      <p:italic r:id="rId42"/>
      <p:boldItalic r:id="rId43"/>
    </p:embeddedFont>
    <p:embeddedFont>
      <p:font typeface="IBM Plex Mono"/>
      <p:bold r:id="rId44"/>
      <p:boldItalic r:id="rId45"/>
    </p:embeddedFont>
    <p:embeddedFont>
      <p:font typeface="IBM Plex Sans SemiBol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SemiBold-regular.fntdata"/><Relationship Id="rId42" Type="http://schemas.openxmlformats.org/officeDocument/2006/relationships/font" Target="fonts/IBMPlexMonoSemiBold-italic.fntdata"/><Relationship Id="rId41" Type="http://schemas.openxmlformats.org/officeDocument/2006/relationships/font" Target="fonts/IBMPlexMonoSemiBold-bold.fntdata"/><Relationship Id="rId44" Type="http://schemas.openxmlformats.org/officeDocument/2006/relationships/font" Target="fonts/IBMPlexMono-bold.fntdata"/><Relationship Id="rId43" Type="http://schemas.openxmlformats.org/officeDocument/2006/relationships/font" Target="fonts/IBMPlexMonoSemiBold-boldItalic.fntdata"/><Relationship Id="rId46" Type="http://schemas.openxmlformats.org/officeDocument/2006/relationships/font" Target="fonts/IBMPlexSansSemiBold-regular.fntdata"/><Relationship Id="rId45" Type="http://schemas.openxmlformats.org/officeDocument/2006/relationships/font" Target="fonts/IBMPlex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BMPlexSansSemiBold-italic.fntdata"/><Relationship Id="rId47" Type="http://schemas.openxmlformats.org/officeDocument/2006/relationships/font" Target="fonts/IBMPlexSansSemiBold-bold.fntdata"/><Relationship Id="rId49" Type="http://schemas.openxmlformats.org/officeDocument/2006/relationships/font" Target="fonts/IBMPlexSa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-boldItalic.fntdata"/><Relationship Id="rId30" Type="http://schemas.openxmlformats.org/officeDocument/2006/relationships/font" Target="fonts/IBMPlexSans-bold.fntdata"/><Relationship Id="rId33" Type="http://schemas.openxmlformats.org/officeDocument/2006/relationships/font" Target="fonts/IBMPlexMonoMedium-bold.fntdata"/><Relationship Id="rId32" Type="http://schemas.openxmlformats.org/officeDocument/2006/relationships/font" Target="fonts/IBMPlexMonoMedium-regular.fntdata"/><Relationship Id="rId35" Type="http://schemas.openxmlformats.org/officeDocument/2006/relationships/font" Target="fonts/IBMPlexMonoMedium-boldItalic.fntdata"/><Relationship Id="rId34" Type="http://schemas.openxmlformats.org/officeDocument/2006/relationships/font" Target="fonts/IBMPlexMonoMedium-italic.fntdata"/><Relationship Id="rId37" Type="http://schemas.openxmlformats.org/officeDocument/2006/relationships/font" Target="fonts/IBMPlexSansMedium-bold.fntdata"/><Relationship Id="rId36" Type="http://schemas.openxmlformats.org/officeDocument/2006/relationships/font" Target="fonts/IBMPlexSansMedium-regular.fntdata"/><Relationship Id="rId39" Type="http://schemas.openxmlformats.org/officeDocument/2006/relationships/font" Target="fonts/IBMPlexSansMedium-boldItalic.fntdata"/><Relationship Id="rId38" Type="http://schemas.openxmlformats.org/officeDocument/2006/relationships/font" Target="fonts/IBMPlexSansMedium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f67339c4_4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f67339c4_4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f67339c4_4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8f67339c4_4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8f67339c4_4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8f67339c4_4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8f67339c4_4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8f67339c4_4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8f67339c4_4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8f67339c4_4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8f67339c4_3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8f67339c4_3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8f67339c4_3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8f67339c4_3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8f67339c4_3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8f67339c4_3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8f67339c4_3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f8f67339c4_3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8f67339c4_3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8f67339c4_3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8f67339c4_3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f8f67339c4_3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8f67339c4_3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8f67339c4_3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8f67339c4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8f67339c4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8f67339c4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f8f67339c4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8f67339c4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f8f67339c4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8f67339c4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f8f67339c4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8f67339c4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f8f67339c4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f8f67339c4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f8f67339c4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f8f67339c4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f8f67339c4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8f67339c4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f8f67339c4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f8f67339c4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f8f67339c4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f8f67339c4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f8f67339c4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8f67339c4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f8f67339c4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f8f67339c4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3f8f67339c4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f67339c4_14_0)">
  <p:cSld name="Generated (g3f8f67339c4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571500" y="571500"/>
            <a:ext cx="324000" cy="247800"/>
            <a:chOff x="0" y="0"/>
            <a:chExt cx="324000" cy="2478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0" y="9525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0" y="19050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266700" y="0"/>
              <a:ext cx="57300" cy="247800"/>
            </a:xfrm>
            <a:prstGeom prst="roundRect">
              <a:avLst>
                <a:gd fmla="val 33333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8191500" y="571500"/>
            <a:ext cx="381000" cy="381000"/>
            <a:chOff x="0" y="0"/>
            <a:chExt cx="381000" cy="3810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" name="Google Shape;7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00" y="2286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14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" name="Google Shape;77;p14"/>
          <p:cNvGrpSpPr/>
          <p:nvPr/>
        </p:nvGrpSpPr>
        <p:grpSpPr>
          <a:xfrm>
            <a:off x="571500" y="4191000"/>
            <a:ext cx="381000" cy="381000"/>
            <a:chOff x="0" y="0"/>
            <a:chExt cx="381000" cy="381000"/>
          </a:xfrm>
        </p:grpSpPr>
        <p:sp>
          <p:nvSpPr>
            <p:cNvPr id="78" name="Google Shape;78;p14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7" name="Google Shape;8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00" y="2286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4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4"/>
          <p:cNvSpPr txBox="1"/>
          <p:nvPr/>
        </p:nvSpPr>
        <p:spPr>
          <a:xfrm>
            <a:off x="571500" y="1524000"/>
            <a:ext cx="7429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Individual Activity</a:t>
            </a:r>
            <a:endParaRPr b="0" sz="1200">
              <a:solidFill>
                <a:srgbClr val="2563EB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Week 6, Day 2: Table Creation Lab</a:t>
            </a:r>
            <a:endParaRPr b="1" sz="36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4B556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MAC 250 - LaGuardia Community College</a:t>
            </a:r>
            <a:endParaRPr b="0" sz="2000">
              <a:solidFill>
                <a:srgbClr val="4B5563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15"/>
          <p:cNvGrpSpPr/>
          <p:nvPr/>
        </p:nvGrpSpPr>
        <p:grpSpPr>
          <a:xfrm>
            <a:off x="8248650" y="381000"/>
            <a:ext cx="324000" cy="247800"/>
            <a:chOff x="0" y="0"/>
            <a:chExt cx="324000" cy="247800"/>
          </a:xfrm>
        </p:grpSpPr>
        <p:sp>
          <p:nvSpPr>
            <p:cNvPr id="101" name="Google Shape;101;p15"/>
            <p:cNvSpPr/>
            <p:nvPr/>
          </p:nvSpPr>
          <p:spPr>
            <a:xfrm>
              <a:off x="0" y="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0" y="9525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0" y="19050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266700" y="0"/>
              <a:ext cx="57300" cy="247800"/>
            </a:xfrm>
            <a:prstGeom prst="roundRect">
              <a:avLst>
                <a:gd fmla="val 33333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" name="Google Shape;105;p15"/>
          <p:cNvGrpSpPr/>
          <p:nvPr/>
        </p:nvGrpSpPr>
        <p:grpSpPr>
          <a:xfrm>
            <a:off x="571500" y="4762500"/>
            <a:ext cx="8001000" cy="381150"/>
            <a:chOff x="0" y="0"/>
            <a:chExt cx="8001000" cy="381150"/>
          </a:xfrm>
        </p:grpSpPr>
        <p:cxnSp>
          <p:nvCxnSpPr>
            <p:cNvPr id="106" name="Google Shape;106;p15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7" name="Google Shape;107;p15"/>
            <p:cNvSpPr txBox="1"/>
            <p:nvPr/>
          </p:nvSpPr>
          <p:spPr>
            <a:xfrm>
              <a:off x="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MAC 250 - Database Lab</a:t>
              </a:r>
              <a:endParaRPr/>
            </a:p>
          </p:txBody>
        </p:sp>
      </p:grpSp>
      <p:sp>
        <p:nvSpPr>
          <p:cNvPr id="108" name="Google Shape;108;p15"/>
          <p:cNvSpPr txBox="1"/>
          <p:nvPr/>
        </p:nvSpPr>
        <p:spPr>
          <a:xfrm>
            <a:off x="571500" y="571500"/>
            <a:ext cx="742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Today's Agenda</a:t>
            </a:r>
            <a:endParaRPr b="1" sz="32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9" name="Google Shape;109;p15"/>
          <p:cNvCxnSpPr/>
          <p:nvPr/>
        </p:nvCxnSpPr>
        <p:spPr>
          <a:xfrm>
            <a:off x="571500" y="1181100"/>
            <a:ext cx="3810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15"/>
          <p:cNvSpPr txBox="1"/>
          <p:nvPr/>
        </p:nvSpPr>
        <p:spPr>
          <a:xfrm>
            <a:off x="571500" y="1428750"/>
            <a:ext cx="8001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11182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Our session today focuses on translating a conceptual database design into a functional physical database using SQL.</a:t>
            </a:r>
            <a:endParaRPr b="0" sz="1800">
              <a:solidFill>
                <a:srgbClr val="11182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will begin by thoroughly reviewing the Target Entity-Relationship Diagram (ERD). Following this, we will outline the specific lab instructions and technical requirements for your scripts.</a:t>
            </a:r>
            <a:endParaRPr b="0" sz="16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majority of the class will be dedicated to independent coding time, allowing you to practice writing Data Definition Language (DDL) statements. Finally, we will conclude with the submission guidelines.</a:t>
            </a:r>
            <a:endParaRPr b="0" sz="16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" name="Google Shape;116;p16"/>
          <p:cNvGrpSpPr/>
          <p:nvPr/>
        </p:nvGrpSpPr>
        <p:grpSpPr>
          <a:xfrm>
            <a:off x="8248650" y="381000"/>
            <a:ext cx="324000" cy="247800"/>
            <a:chOff x="0" y="0"/>
            <a:chExt cx="324000" cy="247800"/>
          </a:xfrm>
        </p:grpSpPr>
        <p:sp>
          <p:nvSpPr>
            <p:cNvPr id="117" name="Google Shape;117;p16"/>
            <p:cNvSpPr/>
            <p:nvPr/>
          </p:nvSpPr>
          <p:spPr>
            <a:xfrm>
              <a:off x="0" y="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0" y="9525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0" y="19050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266700" y="0"/>
              <a:ext cx="57300" cy="247800"/>
            </a:xfrm>
            <a:prstGeom prst="roundRect">
              <a:avLst>
                <a:gd fmla="val 33333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571500" y="4667250"/>
            <a:ext cx="8001000" cy="381150"/>
            <a:chOff x="0" y="0"/>
            <a:chExt cx="8001000" cy="381150"/>
          </a:xfrm>
        </p:grpSpPr>
        <p:cxnSp>
          <p:nvCxnSpPr>
            <p:cNvPr id="122" name="Google Shape;122;p16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" name="Google Shape;123;p16"/>
            <p:cNvSpPr txBox="1"/>
            <p:nvPr/>
          </p:nvSpPr>
          <p:spPr>
            <a:xfrm>
              <a:off x="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MAC 250 - Database Lab</a:t>
              </a:r>
              <a:endParaRPr/>
            </a:p>
          </p:txBody>
        </p:sp>
      </p:grpSp>
      <p:sp>
        <p:nvSpPr>
          <p:cNvPr id="124" name="Google Shape;124;p16"/>
          <p:cNvSpPr txBox="1"/>
          <p:nvPr/>
        </p:nvSpPr>
        <p:spPr>
          <a:xfrm>
            <a:off x="571500" y="476250"/>
            <a:ext cx="7429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4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Target Scenario: University Course Registration</a:t>
            </a:r>
            <a:endParaRPr b="1" sz="224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900"/>
              </a:spcAft>
              <a:buNone/>
            </a:pPr>
            <a:r>
              <a:rPr b="0" lang="en" sz="105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 today's lab, we are building a simplified course registration system from scratch.</a:t>
            </a:r>
            <a:endParaRPr b="0" sz="105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5" name="Google Shape;125;p16"/>
          <p:cNvGrpSpPr/>
          <p:nvPr/>
        </p:nvGrpSpPr>
        <p:grpSpPr>
          <a:xfrm>
            <a:off x="571500" y="1428750"/>
            <a:ext cx="2514600" cy="1428900"/>
            <a:chOff x="0" y="0"/>
            <a:chExt cx="2514600" cy="1428900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2514600" cy="1428900"/>
            </a:xfrm>
            <a:prstGeom prst="roundRect">
              <a:avLst>
                <a:gd fmla="val 4000" name="adj"/>
              </a:avLst>
            </a:prstGeom>
            <a:solidFill>
              <a:srgbClr val="F3F4F6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190500" y="152400"/>
              <a:ext cx="2133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Primary Entity</a:t>
              </a:r>
              <a:endParaRPr b="0" sz="10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11827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1. Students</a:t>
              </a:r>
              <a:endParaRPr b="0" sz="1600">
                <a:solidFill>
                  <a:srgbClr val="11182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Represents the individuals enrolled at the university seeking course registration.</a:t>
              </a:r>
              <a:endParaRPr b="0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3314700" y="1428750"/>
            <a:ext cx="2514600" cy="1428900"/>
            <a:chOff x="0" y="0"/>
            <a:chExt cx="2514600" cy="142890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2514600" cy="1428900"/>
            </a:xfrm>
            <a:prstGeom prst="roundRect">
              <a:avLst>
                <a:gd fmla="val 4000" name="adj"/>
              </a:avLst>
            </a:prstGeom>
            <a:solidFill>
              <a:srgbClr val="F3F4F6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190500" y="152400"/>
              <a:ext cx="2133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Primary Entity</a:t>
              </a:r>
              <a:endParaRPr b="0" sz="10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11827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2. Courses</a:t>
              </a:r>
              <a:endParaRPr b="0" sz="1600">
                <a:solidFill>
                  <a:srgbClr val="11182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Represents the academic classes offered within the university curriculum.</a:t>
              </a:r>
              <a:endParaRPr b="0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33" name="Google Shape;133;p16"/>
          <p:cNvGrpSpPr/>
          <p:nvPr/>
        </p:nvGrpSpPr>
        <p:grpSpPr>
          <a:xfrm>
            <a:off x="6057900" y="1428750"/>
            <a:ext cx="2514600" cy="1428900"/>
            <a:chOff x="0" y="0"/>
            <a:chExt cx="2514600" cy="1428900"/>
          </a:xfrm>
        </p:grpSpPr>
        <p:sp>
          <p:nvSpPr>
            <p:cNvPr id="134" name="Google Shape;134;p16"/>
            <p:cNvSpPr/>
            <p:nvPr/>
          </p:nvSpPr>
          <p:spPr>
            <a:xfrm>
              <a:off x="0" y="0"/>
              <a:ext cx="2514600" cy="1428900"/>
            </a:xfrm>
            <a:prstGeom prst="roundRect">
              <a:avLst>
                <a:gd fmla="val 4000" name="adj"/>
              </a:avLst>
            </a:prstGeom>
            <a:solidFill>
              <a:srgbClr val="F3F4F6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0" y="0"/>
              <a:ext cx="2514600" cy="38100"/>
            </a:xfrm>
            <a:prstGeom prst="roundRect">
              <a:avLst>
                <a:gd fmla="val 50000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190500" y="152400"/>
              <a:ext cx="2133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11827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Junction Table</a:t>
              </a:r>
              <a:endParaRPr b="0" sz="1000">
                <a:solidFill>
                  <a:srgbClr val="11182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11827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3. Enrollments</a:t>
              </a:r>
              <a:endParaRPr b="0" sz="1600">
                <a:solidFill>
                  <a:srgbClr val="11182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Handles the many-to-many relationship between Students and Courses.</a:t>
              </a:r>
              <a:endParaRPr b="0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571500" y="3086100"/>
            <a:ext cx="8001000" cy="1238400"/>
            <a:chOff x="0" y="0"/>
            <a:chExt cx="8001000" cy="1238400"/>
          </a:xfrm>
        </p:grpSpPr>
        <p:sp>
          <p:nvSpPr>
            <p:cNvPr id="138" name="Google Shape;138;p16"/>
            <p:cNvSpPr/>
            <p:nvPr/>
          </p:nvSpPr>
          <p:spPr>
            <a:xfrm>
              <a:off x="0" y="0"/>
              <a:ext cx="8001000" cy="1238400"/>
            </a:xfrm>
            <a:prstGeom prst="roundRect">
              <a:avLst>
                <a:gd fmla="val 461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285750" y="190500"/>
              <a:ext cx="7429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Primary Lab Objective</a:t>
              </a:r>
              <a:endParaRPr b="0" sz="12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Your primary objective is to write the exact </a:t>
              </a:r>
              <a:r>
                <a:rPr b="0" lang="en" sz="1600">
                  <a:solidFill>
                    <a:srgbClr val="2563EB"/>
                  </a:solidFill>
                  <a:latin typeface="IBM Plex Mono SemiBold"/>
                  <a:ea typeface="IBM Plex Mono SemiBold"/>
                  <a:cs typeface="IBM Plex Mono SemiBold"/>
                  <a:sym typeface="IBM Plex Mono SemiBold"/>
                </a:rPr>
                <a:t>CREATE TABLE</a:t>
              </a:r>
              <a:r>
                <a:rPr b="0" lang="en" sz="16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scripts required to build this specific relational architecture.</a:t>
              </a:r>
              <a:endParaRPr b="0" sz="16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7"/>
          <p:cNvGrpSpPr/>
          <p:nvPr/>
        </p:nvGrpSpPr>
        <p:grpSpPr>
          <a:xfrm>
            <a:off x="8248650" y="381000"/>
            <a:ext cx="324000" cy="247800"/>
            <a:chOff x="0" y="0"/>
            <a:chExt cx="324000" cy="247800"/>
          </a:xfrm>
        </p:grpSpPr>
        <p:sp>
          <p:nvSpPr>
            <p:cNvPr id="146" name="Google Shape;146;p17"/>
            <p:cNvSpPr/>
            <p:nvPr/>
          </p:nvSpPr>
          <p:spPr>
            <a:xfrm>
              <a:off x="0" y="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0" y="9525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0" y="19050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266700" y="0"/>
              <a:ext cx="57300" cy="247800"/>
            </a:xfrm>
            <a:prstGeom prst="roundRect">
              <a:avLst>
                <a:gd fmla="val 33333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50" name="Google Shape;150;p17"/>
          <p:cNvCxnSpPr/>
          <p:nvPr/>
        </p:nvCxnSpPr>
        <p:spPr>
          <a:xfrm>
            <a:off x="4572000" y="571500"/>
            <a:ext cx="0" cy="40005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1" name="Google Shape;151;p17"/>
          <p:cNvGrpSpPr/>
          <p:nvPr/>
        </p:nvGrpSpPr>
        <p:grpSpPr>
          <a:xfrm>
            <a:off x="571500" y="476250"/>
            <a:ext cx="3619500" cy="4191000"/>
            <a:chOff x="571500" y="476250"/>
            <a:chExt cx="3619500" cy="4191000"/>
          </a:xfrm>
        </p:grpSpPr>
        <p:sp>
          <p:nvSpPr>
            <p:cNvPr id="152" name="Google Shape;152;p17"/>
            <p:cNvSpPr txBox="1"/>
            <p:nvPr/>
          </p:nvSpPr>
          <p:spPr>
            <a:xfrm>
              <a:off x="571500" y="47625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SCHEMA BREAKDOWN</a:t>
              </a:r>
              <a:endParaRPr b="0" sz="11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ERD Breakdown: Students Table</a:t>
              </a:r>
              <a:endParaRPr b="1" sz="26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571500" y="161925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The </a:t>
              </a:r>
              <a:r>
                <a:rPr b="1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Students</a:t>
              </a:r>
              <a:r>
                <a:rPr b="0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table is the first parent entity in our database schema. It requires four specific columns with strict data constraints.</a:t>
              </a:r>
              <a:endParaRPr b="0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The </a:t>
              </a:r>
              <a:r>
                <a:rPr b="1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StudentID</a:t>
              </a:r>
              <a:r>
                <a:rPr b="0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must be an Integer and serve as the Primary Key.</a:t>
              </a:r>
              <a:endParaRPr b="0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The </a:t>
              </a:r>
              <a:r>
                <a:rPr b="1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FirstName</a:t>
              </a:r>
              <a:r>
                <a:rPr b="0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and </a:t>
              </a:r>
              <a:r>
                <a:rPr b="1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LastName</a:t>
              </a:r>
              <a:r>
                <a:rPr b="0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columns should be Varchar(50) and cannot be null.</a:t>
              </a:r>
              <a:endParaRPr b="0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Finally, the </a:t>
              </a:r>
              <a:r>
                <a:rPr b="1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Email</a:t>
              </a:r>
              <a:r>
                <a:rPr b="0" lang="en" sz="13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column must be a Varchar(100), and it requires both Unique and Not Null constraints to ensure data integrity across student records.</a:t>
              </a:r>
              <a:endParaRPr b="0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54" name="Google Shape;154;p17"/>
          <p:cNvGrpSpPr/>
          <p:nvPr/>
        </p:nvGrpSpPr>
        <p:grpSpPr>
          <a:xfrm>
            <a:off x="4953000" y="762000"/>
            <a:ext cx="3619500" cy="3619500"/>
            <a:chOff x="0" y="0"/>
            <a:chExt cx="3619500" cy="3619500"/>
          </a:xfrm>
        </p:grpSpPr>
        <p:sp>
          <p:nvSpPr>
            <p:cNvPr id="155" name="Google Shape;155;p17"/>
            <p:cNvSpPr/>
            <p:nvPr/>
          </p:nvSpPr>
          <p:spPr>
            <a:xfrm>
              <a:off x="0" y="0"/>
              <a:ext cx="3619500" cy="457200"/>
            </a:xfrm>
            <a:prstGeom prst="roundRect">
              <a:avLst>
                <a:gd fmla="val 125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0" y="400050"/>
              <a:ext cx="3619500" cy="57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171450" y="95250"/>
              <a:ext cx="3276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STUDENTS TABLE</a:t>
              </a:r>
              <a:endParaRPr b="1" sz="15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id="158" name="Google Shape;15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57200"/>
              <a:ext cx="3619500" cy="3162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17"/>
            <p:cNvSpPr/>
            <p:nvPr/>
          </p:nvSpPr>
          <p:spPr>
            <a:xfrm>
              <a:off x="0" y="457200"/>
              <a:ext cx="3619500" cy="3162300"/>
            </a:xfrm>
            <a:prstGeom prst="roundRect">
              <a:avLst>
                <a:gd fmla="val 180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190500" y="609600"/>
              <a:ext cx="3238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82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StudentID </a:t>
              </a:r>
              <a:r>
                <a:rPr b="1" lang="en" sz="800">
                  <a:solidFill>
                    <a:srgbClr val="FFFFFF"/>
                  </a:solidFill>
                  <a:highlight>
                    <a:srgbClr val="2563EB"/>
                  </a:highlight>
                  <a:latin typeface="IBM Plex Sans"/>
                  <a:ea typeface="IBM Plex Sans"/>
                  <a:cs typeface="IBM Plex Sans"/>
                  <a:sym typeface="IBM Plex Sans"/>
                </a:rPr>
                <a:t>PK</a:t>
              </a:r>
              <a:endParaRPr b="1" sz="1300">
                <a:solidFill>
                  <a:srgbClr val="11182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B556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INTEGER · PRIMARY KEY</a:t>
              </a:r>
              <a:endParaRPr sz="1100">
                <a:solidFill>
                  <a:srgbClr val="4B5563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82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FirstName</a:t>
              </a:r>
              <a:endParaRPr b="1" sz="1300">
                <a:solidFill>
                  <a:srgbClr val="11182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B556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VARCHAR(50) · NOT NULL</a:t>
              </a:r>
              <a:endParaRPr sz="1100">
                <a:solidFill>
                  <a:srgbClr val="4B5563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82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LastName</a:t>
              </a:r>
              <a:endParaRPr b="1" sz="1300">
                <a:solidFill>
                  <a:srgbClr val="11182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B556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VARCHAR(50) · NOT NULL</a:t>
              </a:r>
              <a:endParaRPr sz="1100">
                <a:solidFill>
                  <a:srgbClr val="4B5563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82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Email </a:t>
              </a:r>
              <a:r>
                <a:rPr b="1" lang="en" sz="800">
                  <a:solidFill>
                    <a:srgbClr val="1E40AF"/>
                  </a:solidFill>
                  <a:highlight>
                    <a:srgbClr val="DBEAFE"/>
                  </a:highlight>
                  <a:latin typeface="IBM Plex Sans"/>
                  <a:ea typeface="IBM Plex Sans"/>
                  <a:cs typeface="IBM Plex Sans"/>
                  <a:sym typeface="IBM Plex Sans"/>
                </a:rPr>
                <a:t>UNIQUE</a:t>
              </a:r>
              <a:endParaRPr b="1" sz="1300">
                <a:solidFill>
                  <a:srgbClr val="11182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B556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VARCHAR(100) · UNIQUE · NOT NULL</a:t>
              </a:r>
              <a:endParaRPr sz="1100">
                <a:solidFill>
                  <a:srgbClr val="4B5563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18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166" name="Google Shape;166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7" name="Google Shape;167;p18"/>
            <p:cNvCxnSpPr/>
            <p:nvPr/>
          </p:nvCxnSpPr>
          <p:spPr>
            <a:xfrm>
              <a:off x="4572000" y="762000"/>
              <a:ext cx="0" cy="3619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8" name="Google Shape;168;p18"/>
            <p:cNvGrpSpPr/>
            <p:nvPr/>
          </p:nvGrpSpPr>
          <p:grpSpPr>
            <a:xfrm>
              <a:off x="8248650" y="381000"/>
              <a:ext cx="324000" cy="247800"/>
              <a:chOff x="0" y="0"/>
              <a:chExt cx="324000" cy="247800"/>
            </a:xfrm>
          </p:grpSpPr>
          <p:sp>
            <p:nvSpPr>
              <p:cNvPr id="169" name="Google Shape;169;p18"/>
              <p:cNvSpPr/>
              <p:nvPr/>
            </p:nvSpPr>
            <p:spPr>
              <a:xfrm>
                <a:off x="0" y="0"/>
                <a:ext cx="228600" cy="57300"/>
              </a:xfrm>
              <a:prstGeom prst="roundRect">
                <a:avLst>
                  <a:gd fmla="val 33333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8"/>
              <p:cNvSpPr/>
              <p:nvPr/>
            </p:nvSpPr>
            <p:spPr>
              <a:xfrm>
                <a:off x="0" y="95250"/>
                <a:ext cx="228600" cy="57300"/>
              </a:xfrm>
              <a:prstGeom prst="roundRect">
                <a:avLst>
                  <a:gd fmla="val 33333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>
                <a:off x="0" y="190500"/>
                <a:ext cx="228600" cy="57300"/>
              </a:xfrm>
              <a:prstGeom prst="roundRect">
                <a:avLst>
                  <a:gd fmla="val 33333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>
                <a:off x="266700" y="0"/>
                <a:ext cx="57300" cy="247800"/>
              </a:xfrm>
              <a:prstGeom prst="roundRect">
                <a:avLst>
                  <a:gd fmla="val 33333" name="adj"/>
                </a:avLst>
              </a:prstGeom>
              <a:solidFill>
                <a:srgbClr val="11182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" name="Google Shape;173;p18"/>
            <p:cNvGrpSpPr/>
            <p:nvPr/>
          </p:nvGrpSpPr>
          <p:grpSpPr>
            <a:xfrm>
              <a:off x="571500" y="4762500"/>
              <a:ext cx="8001000" cy="381150"/>
              <a:chOff x="0" y="0"/>
              <a:chExt cx="8001000" cy="381150"/>
            </a:xfrm>
          </p:grpSpPr>
          <p:cxnSp>
            <p:nvCxnSpPr>
              <p:cNvPr id="174" name="Google Shape;174;p18"/>
              <p:cNvCxnSpPr/>
              <p:nvPr/>
            </p:nvCxnSpPr>
            <p:spPr>
              <a:xfrm>
                <a:off x="0" y="0"/>
                <a:ext cx="8001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75" name="Google Shape;175;p18"/>
              <p:cNvSpPr txBox="1"/>
              <p:nvPr/>
            </p:nvSpPr>
            <p:spPr>
              <a:xfrm>
                <a:off x="0" y="952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B5563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MAC 250 - Database Lab</a:t>
                </a:r>
                <a:endParaRPr/>
              </a:p>
            </p:txBody>
          </p:sp>
        </p:grpSp>
      </p:grpSp>
      <p:sp>
        <p:nvSpPr>
          <p:cNvPr id="176" name="Google Shape;176;p18"/>
          <p:cNvSpPr txBox="1"/>
          <p:nvPr/>
        </p:nvSpPr>
        <p:spPr>
          <a:xfrm>
            <a:off x="571500" y="381000"/>
            <a:ext cx="7429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ERD Breakdown: Courses Table</a:t>
            </a:r>
            <a:endParaRPr b="1" sz="296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571500" y="1047750"/>
            <a:ext cx="3619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b="0" lang="en" sz="1500">
                <a:solidFill>
                  <a:srgbClr val="11182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Courses</a:t>
            </a:r>
            <a:r>
              <a:rPr b="0" lang="en" sz="15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table acts as the second parent entity in our registration system schema. It requires three specific columns.</a:t>
            </a:r>
            <a:endParaRPr b="0" sz="15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b="0" lang="en" sz="1400">
                <a:solidFill>
                  <a:srgbClr val="2563EB"/>
                </a:solidFill>
                <a:latin typeface="IBM Plex Mono"/>
                <a:ea typeface="IBM Plex Mono"/>
                <a:cs typeface="IBM Plex Mono"/>
                <a:sym typeface="IBM Plex Mono"/>
              </a:rPr>
              <a:t>CourseID</a:t>
            </a:r>
            <a:r>
              <a:rPr b="0" lang="en" sz="15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must be defined as an Integer and set as the Primary Key.</a:t>
            </a:r>
            <a:endParaRPr b="0" sz="15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b="0" lang="en" sz="1400">
                <a:solidFill>
                  <a:srgbClr val="2563EB"/>
                </a:solidFill>
                <a:latin typeface="IBM Plex Mono"/>
                <a:ea typeface="IBM Plex Mono"/>
                <a:cs typeface="IBM Plex Mono"/>
                <a:sym typeface="IBM Plex Mono"/>
              </a:rPr>
              <a:t>CourseCode</a:t>
            </a:r>
            <a:r>
              <a:rPr b="0" lang="en" sz="15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requires a Varchar(10) data type, along with Unique and Not Null constraints (for example, 'MAC250').</a:t>
            </a:r>
            <a:endParaRPr b="0" sz="15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900"/>
              </a:spcAft>
              <a:buNone/>
            </a:pPr>
            <a:r>
              <a:rPr b="0" lang="en" sz="15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Finally, the </a:t>
            </a:r>
            <a:r>
              <a:rPr b="0" lang="en" sz="1400">
                <a:solidFill>
                  <a:srgbClr val="2563EB"/>
                </a:solidFill>
                <a:latin typeface="IBM Plex Mono"/>
                <a:ea typeface="IBM Plex Mono"/>
                <a:cs typeface="IBM Plex Mono"/>
                <a:sym typeface="IBM Plex Mono"/>
              </a:rPr>
              <a:t>Credits</a:t>
            </a:r>
            <a:r>
              <a:rPr b="0" lang="en" sz="15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column must be an Integer and is also required to be Not Null to ensure every course has an assigned credit value.</a:t>
            </a:r>
            <a:endParaRPr b="0" sz="15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78" name="Google Shape;178;p18"/>
          <p:cNvGrpSpPr/>
          <p:nvPr/>
        </p:nvGrpSpPr>
        <p:grpSpPr>
          <a:xfrm>
            <a:off x="4857750" y="1238250"/>
            <a:ext cx="3714900" cy="2667000"/>
            <a:chOff x="0" y="0"/>
            <a:chExt cx="3714900" cy="2667000"/>
          </a:xfrm>
        </p:grpSpPr>
        <p:sp>
          <p:nvSpPr>
            <p:cNvPr id="179" name="Google Shape;179;p18"/>
            <p:cNvSpPr/>
            <p:nvPr/>
          </p:nvSpPr>
          <p:spPr>
            <a:xfrm>
              <a:off x="0" y="0"/>
              <a:ext cx="3714900" cy="457200"/>
            </a:xfrm>
            <a:prstGeom prst="roundRect">
              <a:avLst>
                <a:gd fmla="val 8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0" y="381000"/>
              <a:ext cx="37149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152400" y="114300"/>
              <a:ext cx="341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Courses</a:t>
              </a:r>
              <a:endParaRPr b="0" sz="160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0" y="457200"/>
              <a:ext cx="3714900" cy="2209800"/>
            </a:xfrm>
            <a:prstGeom prst="roundRect">
              <a:avLst>
                <a:gd fmla="val 1724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0" y="457200"/>
              <a:ext cx="3714900" cy="762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4" name="Google Shape;184;p18"/>
            <p:cNvCxnSpPr/>
            <p:nvPr/>
          </p:nvCxnSpPr>
          <p:spPr>
            <a:xfrm>
              <a:off x="0" y="1190625"/>
              <a:ext cx="3714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" name="Google Shape;185;p18"/>
            <p:cNvCxnSpPr/>
            <p:nvPr/>
          </p:nvCxnSpPr>
          <p:spPr>
            <a:xfrm>
              <a:off x="0" y="1924050"/>
              <a:ext cx="3714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6" name="Google Shape;186;p18"/>
            <p:cNvSpPr txBox="1"/>
            <p:nvPr/>
          </p:nvSpPr>
          <p:spPr>
            <a:xfrm>
              <a:off x="152400" y="571500"/>
              <a:ext cx="341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PK </a:t>
              </a:r>
              <a:r>
                <a:rPr b="0" lang="en" sz="1300">
                  <a:solidFill>
                    <a:srgbClr val="111827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CourseID</a:t>
              </a:r>
              <a:endParaRPr b="1" sz="1300">
                <a:solidFill>
                  <a:srgbClr val="2563EB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INTEGER PRIMARY KEY</a:t>
              </a:r>
              <a:endParaRPr b="0" sz="1100">
                <a:solidFill>
                  <a:srgbClr val="4B5563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152400" y="1304925"/>
              <a:ext cx="341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11827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CourseCode</a:t>
              </a:r>
              <a:endParaRPr b="0" sz="1300">
                <a:solidFill>
                  <a:srgbClr val="111827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VARCHAR(10) UNIQUE NOT NULL</a:t>
              </a:r>
              <a:endParaRPr b="0" sz="1100">
                <a:solidFill>
                  <a:srgbClr val="4B5563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152400" y="2038350"/>
              <a:ext cx="341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11827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Credits</a:t>
              </a:r>
              <a:endParaRPr b="0" sz="1300">
                <a:solidFill>
                  <a:srgbClr val="111827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INTEGER NOT NULL</a:t>
              </a:r>
              <a:endParaRPr b="0" sz="1100">
                <a:solidFill>
                  <a:srgbClr val="4B5563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94" name="Google Shape;194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5" name="Google Shape;195;p19"/>
            <p:cNvCxnSpPr/>
            <p:nvPr/>
          </p:nvCxnSpPr>
          <p:spPr>
            <a:xfrm>
              <a:off x="4572000" y="571500"/>
              <a:ext cx="0" cy="39054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96" name="Google Shape;196;p19"/>
            <p:cNvGrpSpPr/>
            <p:nvPr/>
          </p:nvGrpSpPr>
          <p:grpSpPr>
            <a:xfrm>
              <a:off x="8248650" y="381000"/>
              <a:ext cx="324000" cy="247800"/>
              <a:chOff x="0" y="0"/>
              <a:chExt cx="324000" cy="247800"/>
            </a:xfrm>
          </p:grpSpPr>
          <p:sp>
            <p:nvSpPr>
              <p:cNvPr id="197" name="Google Shape;197;p19"/>
              <p:cNvSpPr/>
              <p:nvPr/>
            </p:nvSpPr>
            <p:spPr>
              <a:xfrm>
                <a:off x="0" y="0"/>
                <a:ext cx="228600" cy="57300"/>
              </a:xfrm>
              <a:prstGeom prst="roundRect">
                <a:avLst>
                  <a:gd fmla="val 33333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9"/>
              <p:cNvSpPr/>
              <p:nvPr/>
            </p:nvSpPr>
            <p:spPr>
              <a:xfrm>
                <a:off x="0" y="95250"/>
                <a:ext cx="228600" cy="57300"/>
              </a:xfrm>
              <a:prstGeom prst="roundRect">
                <a:avLst>
                  <a:gd fmla="val 33333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9"/>
              <p:cNvSpPr/>
              <p:nvPr/>
            </p:nvSpPr>
            <p:spPr>
              <a:xfrm>
                <a:off x="0" y="190500"/>
                <a:ext cx="228600" cy="57300"/>
              </a:xfrm>
              <a:prstGeom prst="roundRect">
                <a:avLst>
                  <a:gd fmla="val 33333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9"/>
              <p:cNvSpPr/>
              <p:nvPr/>
            </p:nvSpPr>
            <p:spPr>
              <a:xfrm>
                <a:off x="266700" y="0"/>
                <a:ext cx="57300" cy="247800"/>
              </a:xfrm>
              <a:prstGeom prst="roundRect">
                <a:avLst>
                  <a:gd fmla="val 33333" name="adj"/>
                </a:avLst>
              </a:prstGeom>
              <a:solidFill>
                <a:srgbClr val="11182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" name="Google Shape;201;p19"/>
            <p:cNvGrpSpPr/>
            <p:nvPr/>
          </p:nvGrpSpPr>
          <p:grpSpPr>
            <a:xfrm>
              <a:off x="571500" y="4762500"/>
              <a:ext cx="8001000" cy="304800"/>
              <a:chOff x="571500" y="4762500"/>
              <a:chExt cx="8001000" cy="304800"/>
            </a:xfrm>
          </p:grpSpPr>
          <p:cxnSp>
            <p:nvCxnSpPr>
              <p:cNvPr id="202" name="Google Shape;202;p19"/>
              <p:cNvCxnSpPr/>
              <p:nvPr/>
            </p:nvCxnSpPr>
            <p:spPr>
              <a:xfrm>
                <a:off x="571500" y="4762500"/>
                <a:ext cx="8001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03" name="Google Shape;203;p19"/>
              <p:cNvSpPr txBox="1"/>
              <p:nvPr/>
            </p:nvSpPr>
            <p:spPr>
              <a:xfrm>
                <a:off x="571500" y="4838700"/>
                <a:ext cx="3810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B5563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MAC 250 - Database Lab</a:t>
                </a:r>
                <a:endParaRPr/>
              </a:p>
            </p:txBody>
          </p:sp>
        </p:grpSp>
      </p:grpSp>
      <p:sp>
        <p:nvSpPr>
          <p:cNvPr id="204" name="Google Shape;204;p19"/>
          <p:cNvSpPr txBox="1"/>
          <p:nvPr/>
        </p:nvSpPr>
        <p:spPr>
          <a:xfrm>
            <a:off x="571500" y="381000"/>
            <a:ext cx="3714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ERD Breakdown</a:t>
            </a:r>
            <a:endParaRPr b="1" sz="26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Enrollments Table (Junction)</a:t>
            </a:r>
            <a:endParaRPr b="0" sz="1800">
              <a:solidFill>
                <a:srgbClr val="2563EB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571500" y="1333500"/>
            <a:ext cx="37149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b="1" lang="en" sz="13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Enrollments</a:t>
            </a:r>
            <a:r>
              <a:rPr b="0" lang="en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table serves as the crucial junction entity that resolves the many-to-many relationship between Students and Courses.</a:t>
            </a:r>
            <a:endParaRPr b="0" sz="13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rtl="0" algn="l">
              <a:spcBef>
                <a:spcPts val="75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BM Plex Sans"/>
              <a:buChar char="●"/>
            </a:pPr>
            <a:r>
              <a:rPr b="1" lang="en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EnrollmentID:</a:t>
            </a:r>
            <a:r>
              <a:rPr b="0" lang="en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Configured as an Integer Primary Key to uniquely identify each record.</a:t>
            </a:r>
            <a:endParaRPr b="0" sz="13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BM Plex Sans"/>
              <a:buChar char="●"/>
            </a:pPr>
            <a:r>
              <a:rPr b="1" lang="en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StudentID &amp; CourseID:</a:t>
            </a:r>
            <a:r>
              <a:rPr b="0" lang="en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Integer Foreign Keys referencing their respective parent tables.</a:t>
            </a:r>
            <a:endParaRPr b="0" sz="13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600"/>
              </a:spcAft>
              <a:buClr>
                <a:srgbClr val="4B5563"/>
              </a:buClr>
              <a:buSzPts val="1300"/>
              <a:buFont typeface="IBM Plex Sans"/>
              <a:buChar char="●"/>
            </a:pPr>
            <a:r>
              <a:rPr b="1" lang="en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RegistrationDate:</a:t>
            </a:r>
            <a:r>
              <a:rPr b="0" lang="en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Formatted as Text or Datetime with a </a:t>
            </a:r>
            <a:r>
              <a:rPr b="0" lang="en" sz="13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NOT NULL</a:t>
            </a:r>
            <a:r>
              <a:rPr b="0" lang="en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constraint to track when enrollment occurred.</a:t>
            </a:r>
            <a:endParaRPr b="0" sz="13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06" name="Google Shape;206;p19"/>
          <p:cNvGrpSpPr/>
          <p:nvPr/>
        </p:nvGrpSpPr>
        <p:grpSpPr>
          <a:xfrm>
            <a:off x="4857750" y="1238250"/>
            <a:ext cx="3714900" cy="2895600"/>
            <a:chOff x="0" y="0"/>
            <a:chExt cx="3714900" cy="2895600"/>
          </a:xfrm>
        </p:grpSpPr>
        <p:sp>
          <p:nvSpPr>
            <p:cNvPr id="207" name="Google Shape;207;p19"/>
            <p:cNvSpPr/>
            <p:nvPr/>
          </p:nvSpPr>
          <p:spPr>
            <a:xfrm>
              <a:off x="0" y="0"/>
              <a:ext cx="3714900" cy="419100"/>
            </a:xfrm>
            <a:prstGeom prst="roundRect">
              <a:avLst>
                <a:gd fmla="val 909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0" y="342900"/>
              <a:ext cx="37149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152400" y="95250"/>
              <a:ext cx="34101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ENROLLMENTS (Junction)</a:t>
              </a:r>
              <a:endParaRPr b="0" sz="140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  <p:pic>
          <p:nvPicPr>
            <p:cNvPr id="210" name="Google Shape;21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19100"/>
              <a:ext cx="3714900" cy="24765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1" name="Google Shape;211;p19"/>
            <p:cNvCxnSpPr/>
            <p:nvPr/>
          </p:nvCxnSpPr>
          <p:spPr>
            <a:xfrm>
              <a:off x="0" y="1038225"/>
              <a:ext cx="3714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19"/>
            <p:cNvCxnSpPr/>
            <p:nvPr/>
          </p:nvCxnSpPr>
          <p:spPr>
            <a:xfrm>
              <a:off x="0" y="1657350"/>
              <a:ext cx="3714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" name="Google Shape;213;p19"/>
            <p:cNvCxnSpPr/>
            <p:nvPr/>
          </p:nvCxnSpPr>
          <p:spPr>
            <a:xfrm>
              <a:off x="0" y="2276475"/>
              <a:ext cx="3714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4" name="Google Shape;214;p19"/>
            <p:cNvSpPr txBox="1"/>
            <p:nvPr/>
          </p:nvSpPr>
          <p:spPr>
            <a:xfrm>
              <a:off x="152400" y="533400"/>
              <a:ext cx="34101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EnrollmentID</a:t>
              </a:r>
              <a:endParaRPr b="1" sz="1100">
                <a:solidFill>
                  <a:srgbClr val="2563EB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INTEGER | PRIMARY KEY</a:t>
              </a:r>
              <a:endParaRPr b="0" sz="1000">
                <a:solidFill>
                  <a:srgbClr val="4B5563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</p:txBody>
        </p:sp>
        <p:sp>
          <p:nvSpPr>
            <p:cNvPr id="215" name="Google Shape;215;p19"/>
            <p:cNvSpPr txBox="1"/>
            <p:nvPr/>
          </p:nvSpPr>
          <p:spPr>
            <a:xfrm>
              <a:off x="152400" y="1152525"/>
              <a:ext cx="34101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827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StudentID</a:t>
              </a:r>
              <a:endParaRPr b="0" sz="1100">
                <a:solidFill>
                  <a:srgbClr val="111827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INTEGER | FOREIGN KEY (Students)</a:t>
              </a:r>
              <a:endParaRPr b="0" sz="1000">
                <a:solidFill>
                  <a:srgbClr val="4B5563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152400" y="1771650"/>
              <a:ext cx="34101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827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CourseID</a:t>
              </a:r>
              <a:endParaRPr b="0" sz="1100">
                <a:solidFill>
                  <a:srgbClr val="111827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INTEGER | FOREIGN KEY (Courses)</a:t>
              </a:r>
              <a:endParaRPr b="0" sz="1000">
                <a:solidFill>
                  <a:srgbClr val="4B5563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152400" y="2390775"/>
              <a:ext cx="34101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827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RegistrationDate</a:t>
              </a:r>
              <a:endParaRPr b="0" sz="1100">
                <a:solidFill>
                  <a:srgbClr val="111827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TEXT / DATETIME | NOT NULL</a:t>
              </a:r>
              <a:endParaRPr b="0" sz="1000">
                <a:solidFill>
                  <a:srgbClr val="4B5563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0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223" name="Google Shape;223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4" name="Google Shape;224;p20"/>
            <p:cNvGrpSpPr/>
            <p:nvPr/>
          </p:nvGrpSpPr>
          <p:grpSpPr>
            <a:xfrm>
              <a:off x="8248650" y="381000"/>
              <a:ext cx="324000" cy="247800"/>
              <a:chOff x="0" y="0"/>
              <a:chExt cx="324000" cy="247800"/>
            </a:xfrm>
          </p:grpSpPr>
          <p:sp>
            <p:nvSpPr>
              <p:cNvPr id="225" name="Google Shape;225;p20"/>
              <p:cNvSpPr/>
              <p:nvPr/>
            </p:nvSpPr>
            <p:spPr>
              <a:xfrm>
                <a:off x="0" y="0"/>
                <a:ext cx="228600" cy="57300"/>
              </a:xfrm>
              <a:prstGeom prst="roundRect">
                <a:avLst>
                  <a:gd fmla="val 33333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20"/>
              <p:cNvSpPr/>
              <p:nvPr/>
            </p:nvSpPr>
            <p:spPr>
              <a:xfrm>
                <a:off x="0" y="95250"/>
                <a:ext cx="228600" cy="57300"/>
              </a:xfrm>
              <a:prstGeom prst="roundRect">
                <a:avLst>
                  <a:gd fmla="val 33333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0"/>
              <p:cNvSpPr/>
              <p:nvPr/>
            </p:nvSpPr>
            <p:spPr>
              <a:xfrm>
                <a:off x="0" y="190500"/>
                <a:ext cx="228600" cy="57300"/>
              </a:xfrm>
              <a:prstGeom prst="roundRect">
                <a:avLst>
                  <a:gd fmla="val 33333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0"/>
              <p:cNvSpPr/>
              <p:nvPr/>
            </p:nvSpPr>
            <p:spPr>
              <a:xfrm>
                <a:off x="266700" y="0"/>
                <a:ext cx="57300" cy="247800"/>
              </a:xfrm>
              <a:prstGeom prst="roundRect">
                <a:avLst>
                  <a:gd fmla="val 33333" name="adj"/>
                </a:avLst>
              </a:prstGeom>
              <a:solidFill>
                <a:srgbClr val="11182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9" name="Google Shape;229;p20"/>
            <p:cNvGrpSpPr/>
            <p:nvPr/>
          </p:nvGrpSpPr>
          <p:grpSpPr>
            <a:xfrm>
              <a:off x="571500" y="4762500"/>
              <a:ext cx="8001000" cy="381150"/>
              <a:chOff x="0" y="0"/>
              <a:chExt cx="8001000" cy="381150"/>
            </a:xfrm>
          </p:grpSpPr>
          <p:cxnSp>
            <p:nvCxnSpPr>
              <p:cNvPr id="230" name="Google Shape;230;p20"/>
              <p:cNvCxnSpPr/>
              <p:nvPr/>
            </p:nvCxnSpPr>
            <p:spPr>
              <a:xfrm>
                <a:off x="0" y="0"/>
                <a:ext cx="8001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1" name="Google Shape;231;p20"/>
              <p:cNvSpPr txBox="1"/>
              <p:nvPr/>
            </p:nvSpPr>
            <p:spPr>
              <a:xfrm>
                <a:off x="0" y="952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B5563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MAC 250 - Database Lab</a:t>
                </a:r>
                <a:endParaRPr/>
              </a:p>
            </p:txBody>
          </p:sp>
        </p:grpSp>
      </p:grpSp>
      <p:sp>
        <p:nvSpPr>
          <p:cNvPr id="232" name="Google Shape;232;p20"/>
          <p:cNvSpPr txBox="1"/>
          <p:nvPr/>
        </p:nvSpPr>
        <p:spPr>
          <a:xfrm>
            <a:off x="571500" y="476250"/>
            <a:ext cx="742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Lab Requirements</a:t>
            </a:r>
            <a:endParaRPr b="1" sz="32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571500" y="1190625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" sz="1573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successfully complete this assignment, you must write a single </a:t>
            </a:r>
            <a:r>
              <a:rPr b="0" lang="en" sz="1573">
                <a:solidFill>
                  <a:srgbClr val="2563EB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.sql</a:t>
            </a:r>
            <a:r>
              <a:rPr b="0" lang="en" sz="1573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 file containing all the necessary Data Definition Language (DDL) code to build the three tables.</a:t>
            </a:r>
            <a:endParaRPr b="0" sz="1573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34" name="Google Shape;234;p20"/>
          <p:cNvGrpSpPr/>
          <p:nvPr/>
        </p:nvGrpSpPr>
        <p:grpSpPr>
          <a:xfrm>
            <a:off x="571500" y="2095500"/>
            <a:ext cx="8001000" cy="2190900"/>
            <a:chOff x="0" y="0"/>
            <a:chExt cx="8001000" cy="2190900"/>
          </a:xfrm>
        </p:grpSpPr>
        <p:sp>
          <p:nvSpPr>
            <p:cNvPr id="235" name="Google Shape;235;p20"/>
            <p:cNvSpPr/>
            <p:nvPr/>
          </p:nvSpPr>
          <p:spPr>
            <a:xfrm>
              <a:off x="0" y="0"/>
              <a:ext cx="8001000" cy="2190900"/>
            </a:xfrm>
            <a:prstGeom prst="roundRect">
              <a:avLst>
                <a:gd fmla="val 2608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0" y="0"/>
              <a:ext cx="57300" cy="2190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304800" y="228600"/>
              <a:ext cx="7391400" cy="17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Mandatory Execution Rules</a:t>
              </a:r>
              <a:endParaRPr b="0" sz="12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 strict requirement is that you MUST include </a:t>
              </a:r>
              <a:r>
                <a:rPr b="0" lang="en" sz="1600">
                  <a:solidFill>
                    <a:srgbClr val="111827"/>
                  </a:solidFill>
                  <a:highlight>
                    <a:srgbClr val="E5E7EB"/>
                  </a:highlight>
                  <a:latin typeface="IBM Plex Mono SemiBold"/>
                  <a:ea typeface="IBM Plex Mono SemiBold"/>
                  <a:cs typeface="IBM Plex Mono SemiBold"/>
                  <a:sym typeface="IBM Plex Mono SemiBold"/>
                </a:rPr>
                <a:t>DROP TABLE IF EXISTS</a:t>
              </a:r>
              <a:r>
                <a:rPr b="0" lang="en" sz="16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statements at the very top of your script for all three tables.</a:t>
              </a:r>
              <a:endParaRPr b="0" sz="16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Furthermore, your final SQL code must execute perfectly in DB Browser for SQLite without generating any syntax errors or referential integrity warnings.</a:t>
              </a:r>
              <a:endParaRPr b="0" sz="16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43" name="Google Shape;243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4" name="Google Shape;244;p21"/>
            <p:cNvGrpSpPr/>
            <p:nvPr/>
          </p:nvGrpSpPr>
          <p:grpSpPr>
            <a:xfrm>
              <a:off x="571500" y="571500"/>
              <a:ext cx="381000" cy="381000"/>
              <a:chOff x="0" y="0"/>
              <a:chExt cx="381000" cy="381000"/>
            </a:xfrm>
          </p:grpSpPr>
          <p:sp>
            <p:nvSpPr>
              <p:cNvPr id="245" name="Google Shape;245;p21"/>
              <p:cNvSpPr/>
              <p:nvPr/>
            </p:nvSpPr>
            <p:spPr>
              <a:xfrm>
                <a:off x="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>
                <a:off x="1143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1"/>
              <p:cNvSpPr/>
              <p:nvPr/>
            </p:nvSpPr>
            <p:spPr>
              <a:xfrm>
                <a:off x="2286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1"/>
              <p:cNvSpPr/>
              <p:nvPr/>
            </p:nvSpPr>
            <p:spPr>
              <a:xfrm>
                <a:off x="3429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49" name="Google Shape;249;p2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0" name="Google Shape;250;p21"/>
              <p:cNvSpPr/>
              <p:nvPr/>
            </p:nvSpPr>
            <p:spPr>
              <a:xfrm>
                <a:off x="1143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1"/>
              <p:cNvSpPr/>
              <p:nvPr/>
            </p:nvSpPr>
            <p:spPr>
              <a:xfrm>
                <a:off x="2286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3429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1"/>
              <p:cNvSpPr/>
              <p:nvPr/>
            </p:nvSpPr>
            <p:spPr>
              <a:xfrm>
                <a:off x="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21"/>
              <p:cNvSpPr/>
              <p:nvPr/>
            </p:nvSpPr>
            <p:spPr>
              <a:xfrm>
                <a:off x="1143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1"/>
              <p:cNvSpPr/>
              <p:nvPr/>
            </p:nvSpPr>
            <p:spPr>
              <a:xfrm>
                <a:off x="2286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1"/>
              <p:cNvSpPr/>
              <p:nvPr/>
            </p:nvSpPr>
            <p:spPr>
              <a:xfrm>
                <a:off x="3429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1"/>
              <p:cNvSpPr/>
              <p:nvPr/>
            </p:nvSpPr>
            <p:spPr>
              <a:xfrm>
                <a:off x="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1143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1"/>
              <p:cNvSpPr/>
              <p:nvPr/>
            </p:nvSpPr>
            <p:spPr>
              <a:xfrm>
                <a:off x="2286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1"/>
              <p:cNvSpPr/>
              <p:nvPr/>
            </p:nvSpPr>
            <p:spPr>
              <a:xfrm>
                <a:off x="3429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1" name="Google Shape;261;p21"/>
            <p:cNvGrpSpPr/>
            <p:nvPr/>
          </p:nvGrpSpPr>
          <p:grpSpPr>
            <a:xfrm>
              <a:off x="8191500" y="4191000"/>
              <a:ext cx="381000" cy="381000"/>
              <a:chOff x="0" y="0"/>
              <a:chExt cx="381000" cy="381000"/>
            </a:xfrm>
          </p:grpSpPr>
          <p:sp>
            <p:nvSpPr>
              <p:cNvPr id="262" name="Google Shape;262;p21"/>
              <p:cNvSpPr/>
              <p:nvPr/>
            </p:nvSpPr>
            <p:spPr>
              <a:xfrm>
                <a:off x="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1"/>
              <p:cNvSpPr/>
              <p:nvPr/>
            </p:nvSpPr>
            <p:spPr>
              <a:xfrm>
                <a:off x="1143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1"/>
              <p:cNvSpPr/>
              <p:nvPr/>
            </p:nvSpPr>
            <p:spPr>
              <a:xfrm>
                <a:off x="2286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1"/>
              <p:cNvSpPr/>
              <p:nvPr/>
            </p:nvSpPr>
            <p:spPr>
              <a:xfrm>
                <a:off x="3429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66" name="Google Shape;266;p2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7" name="Google Shape;267;p21"/>
              <p:cNvSpPr/>
              <p:nvPr/>
            </p:nvSpPr>
            <p:spPr>
              <a:xfrm>
                <a:off x="1143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1"/>
              <p:cNvSpPr/>
              <p:nvPr/>
            </p:nvSpPr>
            <p:spPr>
              <a:xfrm>
                <a:off x="2286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1"/>
              <p:cNvSpPr/>
              <p:nvPr/>
            </p:nvSpPr>
            <p:spPr>
              <a:xfrm>
                <a:off x="3429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1"/>
              <p:cNvSpPr/>
              <p:nvPr/>
            </p:nvSpPr>
            <p:spPr>
              <a:xfrm>
                <a:off x="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1"/>
              <p:cNvSpPr/>
              <p:nvPr/>
            </p:nvSpPr>
            <p:spPr>
              <a:xfrm>
                <a:off x="1143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1"/>
              <p:cNvSpPr/>
              <p:nvPr/>
            </p:nvSpPr>
            <p:spPr>
              <a:xfrm>
                <a:off x="2286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1"/>
              <p:cNvSpPr/>
              <p:nvPr/>
            </p:nvSpPr>
            <p:spPr>
              <a:xfrm>
                <a:off x="3429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1"/>
              <p:cNvSpPr/>
              <p:nvPr/>
            </p:nvSpPr>
            <p:spPr>
              <a:xfrm>
                <a:off x="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1"/>
              <p:cNvSpPr/>
              <p:nvPr/>
            </p:nvSpPr>
            <p:spPr>
              <a:xfrm>
                <a:off x="1143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1"/>
              <p:cNvSpPr/>
              <p:nvPr/>
            </p:nvSpPr>
            <p:spPr>
              <a:xfrm>
                <a:off x="2286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1"/>
              <p:cNvSpPr/>
              <p:nvPr/>
            </p:nvSpPr>
            <p:spPr>
              <a:xfrm>
                <a:off x="3429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8" name="Google Shape;278;p21"/>
          <p:cNvSpPr txBox="1"/>
          <p:nvPr/>
        </p:nvSpPr>
        <p:spPr>
          <a:xfrm>
            <a:off x="571500" y="476250"/>
            <a:ext cx="8001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Golden Rule of DDL Scripts</a:t>
            </a:r>
            <a:endParaRPr b="1" sz="32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Execution order is absolutely critical to maintaining referential integrity in database creation scripts.</a:t>
            </a:r>
            <a:endParaRPr b="0" sz="14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79" name="Google Shape;279;p21"/>
          <p:cNvGrpSpPr/>
          <p:nvPr/>
        </p:nvGrpSpPr>
        <p:grpSpPr>
          <a:xfrm>
            <a:off x="571500" y="1428750"/>
            <a:ext cx="8001000" cy="1238400"/>
            <a:chOff x="0" y="0"/>
            <a:chExt cx="8001000" cy="1238400"/>
          </a:xfrm>
        </p:grpSpPr>
        <p:sp>
          <p:nvSpPr>
            <p:cNvPr id="280" name="Google Shape;280;p21"/>
            <p:cNvSpPr/>
            <p:nvPr/>
          </p:nvSpPr>
          <p:spPr>
            <a:xfrm>
              <a:off x="0" y="0"/>
              <a:ext cx="8001000" cy="1238400"/>
            </a:xfrm>
            <a:prstGeom prst="roundRect">
              <a:avLst>
                <a:gd fmla="val 3076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1"/>
            <p:cNvSpPr txBox="1"/>
            <p:nvPr/>
          </p:nvSpPr>
          <p:spPr>
            <a:xfrm>
              <a:off x="285750" y="152400"/>
              <a:ext cx="742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CORE PRINCIPLE</a:t>
              </a:r>
              <a:endParaRPr b="0" sz="12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When writing comprehensive database creation scripts, execution order is critical. Adhering to this rule prevents errors related to missing foreign key references during execution.</a:t>
              </a:r>
              <a:endParaRPr b="0" sz="15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83" name="Google Shape;283;p21"/>
          <p:cNvGrpSpPr/>
          <p:nvPr/>
        </p:nvGrpSpPr>
        <p:grpSpPr>
          <a:xfrm>
            <a:off x="571500" y="2952750"/>
            <a:ext cx="8001000" cy="1771500"/>
            <a:chOff x="0" y="0"/>
            <a:chExt cx="8001000" cy="1771500"/>
          </a:xfrm>
        </p:grpSpPr>
        <p:grpSp>
          <p:nvGrpSpPr>
            <p:cNvPr id="284" name="Google Shape;284;p21"/>
            <p:cNvGrpSpPr/>
            <p:nvPr/>
          </p:nvGrpSpPr>
          <p:grpSpPr>
            <a:xfrm>
              <a:off x="0" y="0"/>
              <a:ext cx="3810000" cy="1771500"/>
              <a:chOff x="0" y="0"/>
              <a:chExt cx="3810000" cy="1771500"/>
            </a:xfrm>
          </p:grpSpPr>
          <p:sp>
            <p:nvSpPr>
              <p:cNvPr id="285" name="Google Shape;285;p21"/>
              <p:cNvSpPr/>
              <p:nvPr/>
            </p:nvSpPr>
            <p:spPr>
              <a:xfrm>
                <a:off x="0" y="0"/>
                <a:ext cx="3810000" cy="192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1"/>
              <p:cNvSpPr txBox="1"/>
              <p:nvPr/>
            </p:nvSpPr>
            <p:spPr>
              <a:xfrm>
                <a:off x="0" y="152400"/>
                <a:ext cx="38100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2563EB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Drop Order</a:t>
                </a:r>
                <a:endParaRPr b="0" sz="18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11827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Child Tables </a:t>
                </a:r>
                <a:r>
                  <a:rPr b="1" lang="en" sz="1500">
                    <a:solidFill>
                      <a:srgbClr val="2563E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→</a:t>
                </a:r>
                <a:r>
                  <a:rPr b="0" lang="en" sz="1500">
                    <a:solidFill>
                      <a:srgbClr val="111827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 Parent Tables</a:t>
                </a:r>
                <a:endParaRPr b="0" sz="1500">
                  <a:solidFill>
                    <a:srgbClr val="111827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4B5563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Always drop the Child tables first, followed by the Parent tables to avoid referencing orphan foreign keys.</a:t>
                </a:r>
                <a:endParaRPr b="0" sz="14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287" name="Google Shape;287;p21"/>
            <p:cNvGrpSpPr/>
            <p:nvPr/>
          </p:nvGrpSpPr>
          <p:grpSpPr>
            <a:xfrm>
              <a:off x="4191000" y="0"/>
              <a:ext cx="3810000" cy="1771500"/>
              <a:chOff x="0" y="0"/>
              <a:chExt cx="3810000" cy="1771500"/>
            </a:xfrm>
          </p:grpSpPr>
          <p:sp>
            <p:nvSpPr>
              <p:cNvPr id="288" name="Google Shape;288;p21"/>
              <p:cNvSpPr/>
              <p:nvPr/>
            </p:nvSpPr>
            <p:spPr>
              <a:xfrm>
                <a:off x="0" y="0"/>
                <a:ext cx="3810000" cy="192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1"/>
              <p:cNvSpPr txBox="1"/>
              <p:nvPr/>
            </p:nvSpPr>
            <p:spPr>
              <a:xfrm>
                <a:off x="0" y="152400"/>
                <a:ext cx="38100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2563EB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Create Order</a:t>
                </a:r>
                <a:endParaRPr b="0" sz="18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11827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Parent Tables </a:t>
                </a:r>
                <a:r>
                  <a:rPr b="1" lang="en" sz="1500">
                    <a:solidFill>
                      <a:srgbClr val="2563EB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→</a:t>
                </a:r>
                <a:r>
                  <a:rPr b="0" lang="en" sz="1500">
                    <a:solidFill>
                      <a:srgbClr val="111827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 Child Tables</a:t>
                </a:r>
                <a:endParaRPr b="0" sz="1500">
                  <a:solidFill>
                    <a:srgbClr val="111827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4B5563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The Create Order must be the exact opposite: create Parent tables first, then create Child tables.</a:t>
                </a:r>
                <a:endParaRPr b="0" sz="14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22"/>
          <p:cNvGrpSpPr/>
          <p:nvPr/>
        </p:nvGrpSpPr>
        <p:grpSpPr>
          <a:xfrm>
            <a:off x="8248650" y="381000"/>
            <a:ext cx="324000" cy="247800"/>
            <a:chOff x="0" y="0"/>
            <a:chExt cx="324000" cy="247800"/>
          </a:xfrm>
        </p:grpSpPr>
        <p:sp>
          <p:nvSpPr>
            <p:cNvPr id="295" name="Google Shape;295;p22"/>
            <p:cNvSpPr/>
            <p:nvPr/>
          </p:nvSpPr>
          <p:spPr>
            <a:xfrm>
              <a:off x="0" y="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0" y="9525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0" y="19050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266700" y="0"/>
              <a:ext cx="57300" cy="247800"/>
            </a:xfrm>
            <a:prstGeom prst="roundRect">
              <a:avLst>
                <a:gd fmla="val 33333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9" name="Google Shape;299;p22"/>
          <p:cNvGrpSpPr/>
          <p:nvPr/>
        </p:nvGrpSpPr>
        <p:grpSpPr>
          <a:xfrm>
            <a:off x="571500" y="4667250"/>
            <a:ext cx="8001000" cy="381150"/>
            <a:chOff x="571500" y="4667250"/>
            <a:chExt cx="8001000" cy="381150"/>
          </a:xfrm>
        </p:grpSpPr>
        <p:cxnSp>
          <p:nvCxnSpPr>
            <p:cNvPr id="300" name="Google Shape;300;p22"/>
            <p:cNvCxnSpPr/>
            <p:nvPr/>
          </p:nvCxnSpPr>
          <p:spPr>
            <a:xfrm>
              <a:off x="571500" y="466725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1" name="Google Shape;301;p22"/>
            <p:cNvSpPr txBox="1"/>
            <p:nvPr/>
          </p:nvSpPr>
          <p:spPr>
            <a:xfrm>
              <a:off x="571500" y="476250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MAC 250 - Database Lab</a:t>
              </a:r>
              <a:endParaRPr/>
            </a:p>
          </p:txBody>
        </p:sp>
      </p:grpSp>
      <p:sp>
        <p:nvSpPr>
          <p:cNvPr id="302" name="Google Shape;302;p22"/>
          <p:cNvSpPr txBox="1"/>
          <p:nvPr/>
        </p:nvSpPr>
        <p:spPr>
          <a:xfrm>
            <a:off x="571500" y="428625"/>
            <a:ext cx="7429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9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Workflow: Step 1 - The Drop Statements</a:t>
            </a:r>
            <a:endParaRPr b="1" sz="259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665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Establishing a Clean Slate for Your Database</a:t>
            </a:r>
            <a:endParaRPr b="0" sz="1665">
              <a:solidFill>
                <a:srgbClr val="2563EB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571500" y="1285875"/>
            <a:ext cx="8001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88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first step in your SQL script workflow is establishing a clean slate for your database. You must start your script by writing the drop statements in the correct order.</a:t>
            </a:r>
            <a:endParaRPr b="0" sz="1388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0" lang="en" sz="1388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Begin by dropping the </a:t>
            </a:r>
            <a:r>
              <a:rPr b="0" lang="en" sz="1388">
                <a:solidFill>
                  <a:srgbClr val="11182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Enrollments</a:t>
            </a:r>
            <a:r>
              <a:rPr b="0" lang="en" sz="1388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table, as it is the child entity. After the child is dropped, you can safely write the statements to drop the </a:t>
            </a:r>
            <a:r>
              <a:rPr b="0" lang="en" sz="1388">
                <a:solidFill>
                  <a:srgbClr val="11182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Students</a:t>
            </a:r>
            <a:r>
              <a:rPr b="0" lang="en" sz="1388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and </a:t>
            </a:r>
            <a:r>
              <a:rPr b="0" lang="en" sz="1388">
                <a:solidFill>
                  <a:srgbClr val="11182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Courses</a:t>
            </a:r>
            <a:r>
              <a:rPr b="0" lang="en" sz="1388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tables. This setup ensures your script is idempotent and can be run multiple times safely.</a:t>
            </a:r>
            <a:endParaRPr b="0" sz="1388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04" name="Google Shape;304;p22"/>
          <p:cNvGrpSpPr/>
          <p:nvPr/>
        </p:nvGrpSpPr>
        <p:grpSpPr>
          <a:xfrm>
            <a:off x="571500" y="2667000"/>
            <a:ext cx="8001000" cy="1714500"/>
            <a:chOff x="0" y="0"/>
            <a:chExt cx="8001000" cy="1714500"/>
          </a:xfrm>
        </p:grpSpPr>
        <p:sp>
          <p:nvSpPr>
            <p:cNvPr id="305" name="Google Shape;305;p22"/>
            <p:cNvSpPr/>
            <p:nvPr/>
          </p:nvSpPr>
          <p:spPr>
            <a:xfrm>
              <a:off x="0" y="0"/>
              <a:ext cx="8001000" cy="1714500"/>
            </a:xfrm>
            <a:prstGeom prst="roundRect">
              <a:avLst>
                <a:gd fmla="val 3333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152400" y="152400"/>
              <a:ext cx="76200" cy="7620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2"/>
            <p:cNvSpPr/>
            <p:nvPr/>
          </p:nvSpPr>
          <p:spPr>
            <a:xfrm>
              <a:off x="304800" y="152400"/>
              <a:ext cx="76200" cy="7620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457200" y="152400"/>
              <a:ext cx="76200" cy="7620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2"/>
            <p:cNvSpPr txBox="1"/>
            <p:nvPr/>
          </p:nvSpPr>
          <p:spPr>
            <a:xfrm>
              <a:off x="666750" y="114300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CA3AF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schema_setup.sql</a:t>
              </a:r>
              <a:endParaRPr b="0" sz="1000">
                <a:solidFill>
                  <a:srgbClr val="9CA3A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  <p:sp>
          <p:nvSpPr>
            <p:cNvPr id="310" name="Google Shape;310;p22"/>
            <p:cNvSpPr txBox="1"/>
            <p:nvPr/>
          </p:nvSpPr>
          <p:spPr>
            <a:xfrm>
              <a:off x="228600" y="419100"/>
              <a:ext cx="7543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5">
                  <a:solidFill>
                    <a:srgbClr val="6B7280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-- Drop child table first to satisfy foreign key dependencies</a:t>
              </a:r>
              <a:endParaRPr b="0" sz="1105">
                <a:solidFill>
                  <a:srgbClr val="6B7280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5">
                  <a:solidFill>
                    <a:srgbClr val="60A5FA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DROP TABLE IF EXISTS</a:t>
              </a:r>
              <a:r>
                <a:rPr b="0" lang="en" sz="1105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 Enrollments;</a:t>
              </a:r>
              <a:endParaRPr b="0" sz="1105">
                <a:solidFill>
                  <a:srgbClr val="F3F4F6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5">
                  <a:solidFill>
                    <a:srgbClr val="6B7280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-- Drop parent tables next</a:t>
              </a:r>
              <a:endParaRPr b="0" sz="1105">
                <a:solidFill>
                  <a:srgbClr val="6B7280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5">
                  <a:solidFill>
                    <a:srgbClr val="60A5FA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DROP TABLE IF EXISTS</a:t>
              </a:r>
              <a:r>
                <a:rPr b="0" lang="en" sz="1105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 Students;</a:t>
              </a:r>
              <a:endParaRPr b="0" sz="1105">
                <a:solidFill>
                  <a:srgbClr val="F3F4F6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1105">
                  <a:solidFill>
                    <a:srgbClr val="60A5FA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DROP TABLE IF EXISTS</a:t>
              </a:r>
              <a:r>
                <a:rPr b="0" lang="en" sz="1105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 Courses;</a:t>
              </a:r>
              <a:endParaRPr b="0" sz="1105">
                <a:solidFill>
                  <a:srgbClr val="F3F4F6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6" name="Google Shape;316;p23"/>
          <p:cNvGrpSpPr/>
          <p:nvPr/>
        </p:nvGrpSpPr>
        <p:grpSpPr>
          <a:xfrm>
            <a:off x="8248650" y="381000"/>
            <a:ext cx="324000" cy="247800"/>
            <a:chOff x="0" y="0"/>
            <a:chExt cx="324000" cy="247800"/>
          </a:xfrm>
        </p:grpSpPr>
        <p:sp>
          <p:nvSpPr>
            <p:cNvPr id="317" name="Google Shape;317;p23"/>
            <p:cNvSpPr/>
            <p:nvPr/>
          </p:nvSpPr>
          <p:spPr>
            <a:xfrm>
              <a:off x="0" y="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3"/>
            <p:cNvSpPr/>
            <p:nvPr/>
          </p:nvSpPr>
          <p:spPr>
            <a:xfrm>
              <a:off x="0" y="9525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3"/>
            <p:cNvSpPr/>
            <p:nvPr/>
          </p:nvSpPr>
          <p:spPr>
            <a:xfrm>
              <a:off x="0" y="19050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3"/>
            <p:cNvSpPr/>
            <p:nvPr/>
          </p:nvSpPr>
          <p:spPr>
            <a:xfrm>
              <a:off x="266700" y="0"/>
              <a:ext cx="57300" cy="247800"/>
            </a:xfrm>
            <a:prstGeom prst="roundRect">
              <a:avLst>
                <a:gd fmla="val 33333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1" name="Google Shape;321;p23"/>
          <p:cNvGrpSpPr/>
          <p:nvPr/>
        </p:nvGrpSpPr>
        <p:grpSpPr>
          <a:xfrm>
            <a:off x="571500" y="4762500"/>
            <a:ext cx="8001000" cy="333450"/>
            <a:chOff x="0" y="0"/>
            <a:chExt cx="8001000" cy="333450"/>
          </a:xfrm>
        </p:grpSpPr>
        <p:cxnSp>
          <p:nvCxnSpPr>
            <p:cNvPr id="322" name="Google Shape;322;p23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3" name="Google Shape;323;p23"/>
            <p:cNvSpPr txBox="1"/>
            <p:nvPr/>
          </p:nvSpPr>
          <p:spPr>
            <a:xfrm>
              <a:off x="0" y="95250"/>
              <a:ext cx="3810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MAC 250 - Database Lab</a:t>
              </a:r>
              <a:endParaRPr/>
            </a:p>
          </p:txBody>
        </p:sp>
      </p:grpSp>
      <p:sp>
        <p:nvSpPr>
          <p:cNvPr id="324" name="Google Shape;324;p23"/>
          <p:cNvSpPr txBox="1"/>
          <p:nvPr/>
        </p:nvSpPr>
        <p:spPr>
          <a:xfrm>
            <a:off x="571500" y="361950"/>
            <a:ext cx="7429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18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STEP 2 — DDL STRUCTURES</a:t>
            </a:r>
            <a:endParaRPr b="0" sz="1018">
              <a:solidFill>
                <a:srgbClr val="2563EB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59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Workflow: The Parent Tables</a:t>
            </a:r>
            <a:endParaRPr b="1" sz="259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571500" y="1047750"/>
            <a:ext cx="8001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5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Once your drop statements are configured, proceed to build the foundational structures. Write the complete </a:t>
            </a:r>
            <a:r>
              <a:rPr b="0" lang="en" sz="1105">
                <a:solidFill>
                  <a:srgbClr val="111827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CREATE TABLE</a:t>
            </a:r>
            <a:r>
              <a:rPr b="0" lang="en" sz="1105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statement for the </a:t>
            </a:r>
            <a:r>
              <a:rPr b="0" lang="en" sz="1105">
                <a:solidFill>
                  <a:srgbClr val="2563EB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Students</a:t>
            </a:r>
            <a:r>
              <a:rPr b="0" lang="en" sz="1105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table, followed immediately by the </a:t>
            </a:r>
            <a:r>
              <a:rPr b="0" lang="en" sz="1105">
                <a:solidFill>
                  <a:srgbClr val="111827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CREATE TABLE</a:t>
            </a:r>
            <a:r>
              <a:rPr b="0" lang="en" sz="1105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statement for the </a:t>
            </a:r>
            <a:r>
              <a:rPr b="0" lang="en" sz="1105">
                <a:solidFill>
                  <a:srgbClr val="2563EB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Courses</a:t>
            </a:r>
            <a:r>
              <a:rPr b="0" lang="en" sz="1105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table.</a:t>
            </a:r>
            <a:endParaRPr b="0" sz="1105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105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During this step, it is vital that you accurately apply all required </a:t>
            </a:r>
            <a:r>
              <a:rPr b="0" lang="en" sz="1105">
                <a:solidFill>
                  <a:srgbClr val="11182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PRIMARY KEY</a:t>
            </a:r>
            <a:r>
              <a:rPr b="0" lang="en" sz="1105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</a:t>
            </a:r>
            <a:r>
              <a:rPr b="0" lang="en" sz="1105">
                <a:solidFill>
                  <a:srgbClr val="11182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NOT NULL</a:t>
            </a:r>
            <a:r>
              <a:rPr b="0" lang="en" sz="1105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and </a:t>
            </a:r>
            <a:r>
              <a:rPr b="0" lang="en" sz="1105">
                <a:solidFill>
                  <a:srgbClr val="11182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UNIQUE</a:t>
            </a:r>
            <a:r>
              <a:rPr b="0" lang="en" sz="1105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constraints exactly as specified in the ERD breakdown. These parent tables must be fully defined before proceeding to the next step.</a:t>
            </a:r>
            <a:endParaRPr b="0" sz="1105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26" name="Google Shape;326;p23"/>
          <p:cNvGrpSpPr/>
          <p:nvPr/>
        </p:nvGrpSpPr>
        <p:grpSpPr>
          <a:xfrm>
            <a:off x="571500" y="2190750"/>
            <a:ext cx="8001150" cy="2381400"/>
            <a:chOff x="0" y="0"/>
            <a:chExt cx="8001150" cy="2381400"/>
          </a:xfrm>
        </p:grpSpPr>
        <p:grpSp>
          <p:nvGrpSpPr>
            <p:cNvPr id="327" name="Google Shape;327;p23"/>
            <p:cNvGrpSpPr/>
            <p:nvPr/>
          </p:nvGrpSpPr>
          <p:grpSpPr>
            <a:xfrm>
              <a:off x="0" y="0"/>
              <a:ext cx="3905400" cy="2381400"/>
              <a:chOff x="0" y="0"/>
              <a:chExt cx="3905400" cy="2381400"/>
            </a:xfrm>
          </p:grpSpPr>
          <p:sp>
            <p:nvSpPr>
              <p:cNvPr id="328" name="Google Shape;328;p23"/>
              <p:cNvSpPr/>
              <p:nvPr/>
            </p:nvSpPr>
            <p:spPr>
              <a:xfrm>
                <a:off x="0" y="0"/>
                <a:ext cx="3905400" cy="2381400"/>
              </a:xfrm>
              <a:prstGeom prst="roundRect">
                <a:avLst>
                  <a:gd fmla="val 2400" name="adj"/>
                </a:avLst>
              </a:prstGeom>
              <a:solidFill>
                <a:srgbClr val="11182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3"/>
              <p:cNvSpPr/>
              <p:nvPr/>
            </p:nvSpPr>
            <p:spPr>
              <a:xfrm>
                <a:off x="0" y="0"/>
                <a:ext cx="3905400" cy="304800"/>
              </a:xfrm>
              <a:prstGeom prst="roundRect">
                <a:avLst>
                  <a:gd fmla="val 18750" name="adj"/>
                </a:avLst>
              </a:prstGeom>
              <a:solidFill>
                <a:srgbClr val="1F29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3"/>
              <p:cNvSpPr/>
              <p:nvPr/>
            </p:nvSpPr>
            <p:spPr>
              <a:xfrm>
                <a:off x="0" y="209550"/>
                <a:ext cx="3905400" cy="95400"/>
              </a:xfrm>
              <a:prstGeom prst="rect">
                <a:avLst/>
              </a:prstGeom>
              <a:solidFill>
                <a:srgbClr val="1F29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3"/>
              <p:cNvSpPr/>
              <p:nvPr/>
            </p:nvSpPr>
            <p:spPr>
              <a:xfrm>
                <a:off x="114300" y="114300"/>
                <a:ext cx="76200" cy="762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3"/>
              <p:cNvSpPr/>
              <p:nvPr/>
            </p:nvSpPr>
            <p:spPr>
              <a:xfrm>
                <a:off x="228600" y="114300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3"/>
              <p:cNvSpPr/>
              <p:nvPr/>
            </p:nvSpPr>
            <p:spPr>
              <a:xfrm>
                <a:off x="342900" y="114300"/>
                <a:ext cx="76200" cy="762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3"/>
              <p:cNvSpPr txBox="1"/>
              <p:nvPr/>
            </p:nvSpPr>
            <p:spPr>
              <a:xfrm>
                <a:off x="571500" y="76200"/>
                <a:ext cx="3143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9CA3AF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students_table.sql</a:t>
                </a:r>
                <a:endParaRPr/>
              </a:p>
            </p:txBody>
          </p:sp>
          <p:sp>
            <p:nvSpPr>
              <p:cNvPr id="335" name="Google Shape;335;p23"/>
              <p:cNvSpPr txBox="1"/>
              <p:nvPr/>
            </p:nvSpPr>
            <p:spPr>
              <a:xfrm>
                <a:off x="152400" y="419100"/>
                <a:ext cx="36006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60A5FA"/>
                    </a:solidFill>
                    <a:latin typeface="IBM Plex Mono SemiBold"/>
                    <a:ea typeface="IBM Plex Mono SemiBold"/>
                    <a:cs typeface="IBM Plex Mono SemiBold"/>
                    <a:sym typeface="IBM Plex Mono SemiBold"/>
                  </a:rPr>
                  <a:t>CREATE TABLE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Students (</a:t>
                </a:r>
                <a:endParaRPr b="0" sz="11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student_id </a:t>
                </a:r>
                <a:r>
                  <a:rPr b="0" lang="en" sz="1100">
                    <a:solidFill>
                      <a:srgbClr val="34D399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INT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</a:t>
                </a:r>
                <a:r>
                  <a:rPr b="0" lang="en" sz="1100">
                    <a:solidFill>
                      <a:srgbClr val="F59E0B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PRIMARY KEY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,</a:t>
                </a:r>
                <a:endParaRPr b="0" sz="11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first_name </a:t>
                </a:r>
                <a:r>
                  <a:rPr b="0" lang="en" sz="1100">
                    <a:solidFill>
                      <a:srgbClr val="34D399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VARCHAR(50)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</a:t>
                </a:r>
                <a:r>
                  <a:rPr b="0" lang="en" sz="1100">
                    <a:solidFill>
                      <a:srgbClr val="F59E0B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NOT NULL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,</a:t>
                </a:r>
                <a:endParaRPr b="0" sz="11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last_name </a:t>
                </a:r>
                <a:r>
                  <a:rPr b="0" lang="en" sz="1100">
                    <a:solidFill>
                      <a:srgbClr val="34D399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VARCHAR(50)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</a:t>
                </a:r>
                <a:r>
                  <a:rPr b="0" lang="en" sz="1100">
                    <a:solidFill>
                      <a:srgbClr val="F59E0B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NOT NULL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,</a:t>
                </a:r>
                <a:endParaRPr b="0" sz="11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email </a:t>
                </a:r>
                <a:r>
                  <a:rPr b="0" lang="en" sz="1100">
                    <a:solidFill>
                      <a:srgbClr val="34D399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VARCHAR(100)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</a:t>
                </a:r>
                <a:r>
                  <a:rPr b="0" lang="en" sz="1100">
                    <a:solidFill>
                      <a:srgbClr val="F59E0B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UNIQUE NOT NULL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,</a:t>
                </a:r>
                <a:endParaRPr b="0" sz="11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created_at </a:t>
                </a:r>
                <a:r>
                  <a:rPr b="0" lang="en" sz="1100">
                    <a:solidFill>
                      <a:srgbClr val="34D399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TIMESTAMP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</a:t>
                </a:r>
                <a:r>
                  <a:rPr b="0" lang="en" sz="1100">
                    <a:solidFill>
                      <a:srgbClr val="60A5FA"/>
                    </a:solidFill>
                    <a:latin typeface="IBM Plex Mono SemiBold"/>
                    <a:ea typeface="IBM Plex Mono SemiBold"/>
                    <a:cs typeface="IBM Plex Mono SemiBold"/>
                    <a:sym typeface="IBM Plex Mono SemiBold"/>
                  </a:rPr>
                  <a:t>DEFAULT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</a:t>
                </a:r>
                <a:r>
                  <a:rPr b="0" lang="en" sz="1100">
                    <a:solidFill>
                      <a:srgbClr val="34D399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CURRENT_TIMESTAMP</a:t>
                </a:r>
                <a:endParaRPr b="0" sz="11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);</a:t>
                </a:r>
                <a:endParaRPr b="0" sz="11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</p:txBody>
          </p:sp>
        </p:grpSp>
        <p:grpSp>
          <p:nvGrpSpPr>
            <p:cNvPr id="336" name="Google Shape;336;p23"/>
            <p:cNvGrpSpPr/>
            <p:nvPr/>
          </p:nvGrpSpPr>
          <p:grpSpPr>
            <a:xfrm>
              <a:off x="4095750" y="0"/>
              <a:ext cx="3905400" cy="2381400"/>
              <a:chOff x="0" y="0"/>
              <a:chExt cx="3905400" cy="2381400"/>
            </a:xfrm>
          </p:grpSpPr>
          <p:sp>
            <p:nvSpPr>
              <p:cNvPr id="337" name="Google Shape;337;p23"/>
              <p:cNvSpPr/>
              <p:nvPr/>
            </p:nvSpPr>
            <p:spPr>
              <a:xfrm>
                <a:off x="0" y="0"/>
                <a:ext cx="3905400" cy="2381400"/>
              </a:xfrm>
              <a:prstGeom prst="roundRect">
                <a:avLst>
                  <a:gd fmla="val 2400" name="adj"/>
                </a:avLst>
              </a:prstGeom>
              <a:solidFill>
                <a:srgbClr val="11182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3"/>
              <p:cNvSpPr/>
              <p:nvPr/>
            </p:nvSpPr>
            <p:spPr>
              <a:xfrm>
                <a:off x="0" y="0"/>
                <a:ext cx="3905400" cy="304800"/>
              </a:xfrm>
              <a:prstGeom prst="roundRect">
                <a:avLst>
                  <a:gd fmla="val 18750" name="adj"/>
                </a:avLst>
              </a:prstGeom>
              <a:solidFill>
                <a:srgbClr val="1F29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3"/>
              <p:cNvSpPr/>
              <p:nvPr/>
            </p:nvSpPr>
            <p:spPr>
              <a:xfrm>
                <a:off x="0" y="209550"/>
                <a:ext cx="3905400" cy="95400"/>
              </a:xfrm>
              <a:prstGeom prst="rect">
                <a:avLst/>
              </a:prstGeom>
              <a:solidFill>
                <a:srgbClr val="1F29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114300" y="114300"/>
                <a:ext cx="76200" cy="762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228600" y="114300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3"/>
              <p:cNvSpPr/>
              <p:nvPr/>
            </p:nvSpPr>
            <p:spPr>
              <a:xfrm>
                <a:off x="342900" y="114300"/>
                <a:ext cx="76200" cy="762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3"/>
              <p:cNvSpPr txBox="1"/>
              <p:nvPr/>
            </p:nvSpPr>
            <p:spPr>
              <a:xfrm>
                <a:off x="571500" y="76200"/>
                <a:ext cx="3143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9CA3AF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courses_table.sql</a:t>
                </a:r>
                <a:endParaRPr/>
              </a:p>
            </p:txBody>
          </p:sp>
          <p:sp>
            <p:nvSpPr>
              <p:cNvPr id="344" name="Google Shape;344;p23"/>
              <p:cNvSpPr txBox="1"/>
              <p:nvPr/>
            </p:nvSpPr>
            <p:spPr>
              <a:xfrm>
                <a:off x="152400" y="419100"/>
                <a:ext cx="36006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60A5FA"/>
                    </a:solidFill>
                    <a:latin typeface="IBM Plex Mono SemiBold"/>
                    <a:ea typeface="IBM Plex Mono SemiBold"/>
                    <a:cs typeface="IBM Plex Mono SemiBold"/>
                    <a:sym typeface="IBM Plex Mono SemiBold"/>
                  </a:rPr>
                  <a:t>CREATE TABLE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Courses (</a:t>
                </a:r>
                <a:endParaRPr b="0" sz="11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course_id </a:t>
                </a:r>
                <a:r>
                  <a:rPr b="0" lang="en" sz="1100">
                    <a:solidFill>
                      <a:srgbClr val="34D399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INT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</a:t>
                </a:r>
                <a:r>
                  <a:rPr b="0" lang="en" sz="1100">
                    <a:solidFill>
                      <a:srgbClr val="F59E0B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PRIMARY KEY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,</a:t>
                </a:r>
                <a:endParaRPr b="0" sz="11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course_code </a:t>
                </a:r>
                <a:r>
                  <a:rPr b="0" lang="en" sz="1100">
                    <a:solidFill>
                      <a:srgbClr val="34D399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VARCHAR(10)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</a:t>
                </a:r>
                <a:r>
                  <a:rPr b="0" lang="en" sz="1100">
                    <a:solidFill>
                      <a:srgbClr val="F59E0B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UNIQUE NOT NULL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,</a:t>
                </a:r>
                <a:endParaRPr b="0" sz="11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course_name </a:t>
                </a:r>
                <a:r>
                  <a:rPr b="0" lang="en" sz="1100">
                    <a:solidFill>
                      <a:srgbClr val="34D399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VARCHAR(100)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</a:t>
                </a:r>
                <a:r>
                  <a:rPr b="0" lang="en" sz="1100">
                    <a:solidFill>
                      <a:srgbClr val="F59E0B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NOT NULL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,</a:t>
                </a:r>
                <a:endParaRPr b="0" sz="11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credits </a:t>
                </a:r>
                <a:r>
                  <a:rPr b="0" lang="en" sz="1100">
                    <a:solidFill>
                      <a:srgbClr val="34D399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INT</a:t>
                </a: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</a:t>
                </a:r>
                <a:r>
                  <a:rPr b="0" lang="en" sz="1100">
                    <a:solidFill>
                      <a:srgbClr val="F59E0B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NOT NULL</a:t>
                </a:r>
                <a:endParaRPr b="0" sz="11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);</a:t>
                </a:r>
                <a:endParaRPr b="0" sz="11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4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350" name="Google Shape;350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1" name="Google Shape;351;p24"/>
            <p:cNvGrpSpPr/>
            <p:nvPr/>
          </p:nvGrpSpPr>
          <p:grpSpPr>
            <a:xfrm>
              <a:off x="8248650" y="381000"/>
              <a:ext cx="324000" cy="247800"/>
              <a:chOff x="0" y="0"/>
              <a:chExt cx="324000" cy="247800"/>
            </a:xfrm>
          </p:grpSpPr>
          <p:sp>
            <p:nvSpPr>
              <p:cNvPr id="352" name="Google Shape;352;p24"/>
              <p:cNvSpPr/>
              <p:nvPr/>
            </p:nvSpPr>
            <p:spPr>
              <a:xfrm>
                <a:off x="0" y="0"/>
                <a:ext cx="228600" cy="57300"/>
              </a:xfrm>
              <a:prstGeom prst="roundRect">
                <a:avLst>
                  <a:gd fmla="val 33333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4"/>
              <p:cNvSpPr/>
              <p:nvPr/>
            </p:nvSpPr>
            <p:spPr>
              <a:xfrm>
                <a:off x="0" y="95250"/>
                <a:ext cx="228600" cy="57300"/>
              </a:xfrm>
              <a:prstGeom prst="roundRect">
                <a:avLst>
                  <a:gd fmla="val 33333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4"/>
              <p:cNvSpPr/>
              <p:nvPr/>
            </p:nvSpPr>
            <p:spPr>
              <a:xfrm>
                <a:off x="0" y="190500"/>
                <a:ext cx="228600" cy="57300"/>
              </a:xfrm>
              <a:prstGeom prst="roundRect">
                <a:avLst>
                  <a:gd fmla="val 33333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4"/>
              <p:cNvSpPr/>
              <p:nvPr/>
            </p:nvSpPr>
            <p:spPr>
              <a:xfrm>
                <a:off x="266700" y="0"/>
                <a:ext cx="57300" cy="247800"/>
              </a:xfrm>
              <a:prstGeom prst="roundRect">
                <a:avLst>
                  <a:gd fmla="val 33333" name="adj"/>
                </a:avLst>
              </a:prstGeom>
              <a:solidFill>
                <a:srgbClr val="11182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6" name="Google Shape;356;p24"/>
            <p:cNvGrpSpPr/>
            <p:nvPr/>
          </p:nvGrpSpPr>
          <p:grpSpPr>
            <a:xfrm>
              <a:off x="571500" y="4762500"/>
              <a:ext cx="8001000" cy="381150"/>
              <a:chOff x="0" y="0"/>
              <a:chExt cx="8001000" cy="381150"/>
            </a:xfrm>
          </p:grpSpPr>
          <p:cxnSp>
            <p:nvCxnSpPr>
              <p:cNvPr id="357" name="Google Shape;357;p24"/>
              <p:cNvCxnSpPr/>
              <p:nvPr/>
            </p:nvCxnSpPr>
            <p:spPr>
              <a:xfrm>
                <a:off x="0" y="0"/>
                <a:ext cx="8001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58" name="Google Shape;358;p24"/>
              <p:cNvSpPr txBox="1"/>
              <p:nvPr/>
            </p:nvSpPr>
            <p:spPr>
              <a:xfrm>
                <a:off x="0" y="952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B5563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MAC 250 - Database Lab</a:t>
                </a:r>
                <a:endParaRPr/>
              </a:p>
            </p:txBody>
          </p:sp>
        </p:grpSp>
      </p:grpSp>
      <p:sp>
        <p:nvSpPr>
          <p:cNvPr id="359" name="Google Shape;359;p24"/>
          <p:cNvSpPr txBox="1"/>
          <p:nvPr/>
        </p:nvSpPr>
        <p:spPr>
          <a:xfrm>
            <a:off x="571500" y="476250"/>
            <a:ext cx="7429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2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Workflow: Step 3 - The Junction Table</a:t>
            </a:r>
            <a:endParaRPr b="1" sz="272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204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Building the Relational Bridge</a:t>
            </a:r>
            <a:endParaRPr b="0" sz="2040">
              <a:solidFill>
                <a:srgbClr val="2563EB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60" name="Google Shape;360;p24"/>
          <p:cNvSpPr txBox="1"/>
          <p:nvPr/>
        </p:nvSpPr>
        <p:spPr>
          <a:xfrm>
            <a:off x="571500" y="1381125"/>
            <a:ext cx="8001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final step in your creation workflow is building the relational bridge. Write the </a:t>
            </a:r>
            <a:r>
              <a:rPr b="0" lang="en" sz="875">
                <a:solidFill>
                  <a:srgbClr val="111827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CREATE TABLE</a:t>
            </a:r>
            <a:r>
              <a:rPr b="0" lang="en" sz="10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statement for the </a:t>
            </a:r>
            <a:r>
              <a:rPr b="0" lang="en" sz="875">
                <a:solidFill>
                  <a:srgbClr val="111827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Enrollments</a:t>
            </a:r>
            <a:r>
              <a:rPr b="0" lang="en" sz="10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table. In this statement, you must utilize the correct </a:t>
            </a:r>
            <a:r>
              <a:rPr b="0" lang="en" sz="875">
                <a:solidFill>
                  <a:srgbClr val="2563EB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FOREIGN KEY (...) REFERENCES ...</a:t>
            </a:r>
            <a:r>
              <a:rPr b="0" lang="en" sz="10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 syntax to properly link the child records back to the parent tables.</a:t>
            </a:r>
            <a:endParaRPr b="0" sz="10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Pay careful attention to ensure that the data types of your foreign key columns perfectly match the data types of the primary keys they are referencing.</a:t>
            </a:r>
            <a:endParaRPr b="0" sz="10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61" name="Google Shape;361;p24"/>
          <p:cNvGrpSpPr/>
          <p:nvPr/>
        </p:nvGrpSpPr>
        <p:grpSpPr>
          <a:xfrm>
            <a:off x="571500" y="2381250"/>
            <a:ext cx="8001000" cy="2143200"/>
            <a:chOff x="0" y="0"/>
            <a:chExt cx="8001000" cy="2143200"/>
          </a:xfrm>
        </p:grpSpPr>
        <p:sp>
          <p:nvSpPr>
            <p:cNvPr id="362" name="Google Shape;362;p24"/>
            <p:cNvSpPr/>
            <p:nvPr/>
          </p:nvSpPr>
          <p:spPr>
            <a:xfrm>
              <a:off x="0" y="0"/>
              <a:ext cx="8001000" cy="2143200"/>
            </a:xfrm>
            <a:prstGeom prst="roundRect">
              <a:avLst>
                <a:gd fmla="val 2666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4"/>
            <p:cNvSpPr/>
            <p:nvPr/>
          </p:nvSpPr>
          <p:spPr>
            <a:xfrm>
              <a:off x="152400" y="152400"/>
              <a:ext cx="76200" cy="7620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4"/>
            <p:cNvSpPr/>
            <p:nvPr/>
          </p:nvSpPr>
          <p:spPr>
            <a:xfrm>
              <a:off x="304800" y="152400"/>
              <a:ext cx="76200" cy="7620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4"/>
            <p:cNvSpPr/>
            <p:nvPr/>
          </p:nvSpPr>
          <p:spPr>
            <a:xfrm>
              <a:off x="457200" y="152400"/>
              <a:ext cx="76200" cy="7620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4"/>
            <p:cNvSpPr txBox="1"/>
            <p:nvPr/>
          </p:nvSpPr>
          <p:spPr>
            <a:xfrm>
              <a:off x="228600" y="361950"/>
              <a:ext cx="75438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CREATE TABLE</a:t>
              </a:r>
              <a:r>
                <a:rPr b="0" lang="en" sz="119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 Enrollments (</a:t>
              </a:r>
              <a:endParaRPr b="0" sz="1190">
                <a:solidFill>
                  <a:srgbClr val="F3F4F6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9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student_id </a:t>
              </a:r>
              <a:r>
                <a:rPr b="0" lang="en" sz="1190">
                  <a:solidFill>
                    <a:srgbClr val="9CA3AF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INT</a:t>
              </a:r>
              <a:r>
                <a:rPr b="0" lang="en" sz="119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,</a:t>
              </a:r>
              <a:endParaRPr b="0" sz="1190">
                <a:solidFill>
                  <a:srgbClr val="F3F4F6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9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course_id </a:t>
              </a:r>
              <a:r>
                <a:rPr b="0" lang="en" sz="1190">
                  <a:solidFill>
                    <a:srgbClr val="9CA3AF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INT</a:t>
              </a:r>
              <a:r>
                <a:rPr b="0" lang="en" sz="119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,</a:t>
              </a:r>
              <a:endParaRPr b="0" sz="1190">
                <a:solidFill>
                  <a:srgbClr val="F3F4F6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PRIMARY KEY</a:t>
              </a:r>
              <a:r>
                <a:rPr b="0" lang="en" sz="119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 (student_id, course_id),</a:t>
              </a:r>
              <a:endParaRPr b="0" sz="1190">
                <a:solidFill>
                  <a:srgbClr val="F3F4F6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FOREIGN KEY</a:t>
              </a:r>
              <a:r>
                <a:rPr b="0" lang="en" sz="119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 (student_id) </a:t>
              </a:r>
              <a:r>
                <a:rPr b="1" lang="en" sz="119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REFERENCES</a:t>
              </a:r>
              <a:r>
                <a:rPr b="0" lang="en" sz="119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 Students(student_id),</a:t>
              </a:r>
              <a:endParaRPr b="0" sz="1190">
                <a:solidFill>
                  <a:srgbClr val="F3F4F6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FOREIGN KEY</a:t>
              </a:r>
              <a:r>
                <a:rPr b="0" lang="en" sz="119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 (course_id) </a:t>
              </a:r>
              <a:r>
                <a:rPr b="1" lang="en" sz="119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REFERENCES</a:t>
              </a:r>
              <a:r>
                <a:rPr b="0" lang="en" sz="119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 Courses(course_id)</a:t>
              </a:r>
              <a:endParaRPr b="0" sz="1190">
                <a:solidFill>
                  <a:srgbClr val="F3F4F6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9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);</a:t>
              </a:r>
              <a:endParaRPr b="0" sz="1190">
                <a:solidFill>
                  <a:srgbClr val="F3F4F6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25"/>
          <p:cNvGrpSpPr/>
          <p:nvPr/>
        </p:nvGrpSpPr>
        <p:grpSpPr>
          <a:xfrm>
            <a:off x="8248650" y="381000"/>
            <a:ext cx="324000" cy="247800"/>
            <a:chOff x="0" y="0"/>
            <a:chExt cx="324000" cy="247800"/>
          </a:xfrm>
        </p:grpSpPr>
        <p:sp>
          <p:nvSpPr>
            <p:cNvPr id="372" name="Google Shape;372;p25"/>
            <p:cNvSpPr/>
            <p:nvPr/>
          </p:nvSpPr>
          <p:spPr>
            <a:xfrm>
              <a:off x="0" y="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5"/>
            <p:cNvSpPr/>
            <p:nvPr/>
          </p:nvSpPr>
          <p:spPr>
            <a:xfrm>
              <a:off x="0" y="9525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5"/>
            <p:cNvSpPr/>
            <p:nvPr/>
          </p:nvSpPr>
          <p:spPr>
            <a:xfrm>
              <a:off x="0" y="19050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5"/>
            <p:cNvSpPr/>
            <p:nvPr/>
          </p:nvSpPr>
          <p:spPr>
            <a:xfrm>
              <a:off x="266700" y="0"/>
              <a:ext cx="57300" cy="247800"/>
            </a:xfrm>
            <a:prstGeom prst="roundRect">
              <a:avLst>
                <a:gd fmla="val 33333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" name="Google Shape;376;p25"/>
          <p:cNvSpPr txBox="1"/>
          <p:nvPr/>
        </p:nvSpPr>
        <p:spPr>
          <a:xfrm>
            <a:off x="571500" y="381000"/>
            <a:ext cx="742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 in DB Browser</a:t>
            </a:r>
            <a:endParaRPr b="1" sz="32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77" name="Google Shape;377;p25"/>
          <p:cNvGrpSpPr/>
          <p:nvPr/>
        </p:nvGrpSpPr>
        <p:grpSpPr>
          <a:xfrm>
            <a:off x="571500" y="1095375"/>
            <a:ext cx="4667400" cy="914400"/>
            <a:chOff x="0" y="0"/>
            <a:chExt cx="4667400" cy="914400"/>
          </a:xfrm>
        </p:grpSpPr>
        <p:sp>
          <p:nvSpPr>
            <p:cNvPr id="378" name="Google Shape;378;p25"/>
            <p:cNvSpPr/>
            <p:nvPr/>
          </p:nvSpPr>
          <p:spPr>
            <a:xfrm>
              <a:off x="0" y="0"/>
              <a:ext cx="4667400" cy="9144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5"/>
            <p:cNvSpPr/>
            <p:nvPr/>
          </p:nvSpPr>
          <p:spPr>
            <a:xfrm>
              <a:off x="152400" y="152400"/>
              <a:ext cx="342900" cy="342900"/>
            </a:xfrm>
            <a:prstGeom prst="roundRect">
              <a:avLst>
                <a:gd fmla="val 11111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5"/>
            <p:cNvSpPr txBox="1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  <a:endParaRPr b="1" sz="1300">
                <a:solidFill>
                  <a:srgbClr val="2563EB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381" name="Google Shape;381;p25"/>
            <p:cNvSpPr txBox="1"/>
            <p:nvPr/>
          </p:nvSpPr>
          <p:spPr>
            <a:xfrm>
              <a:off x="647700" y="114300"/>
              <a:ext cx="3867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Once your script is written, paste your code directly into the </a:t>
              </a:r>
              <a:r>
                <a:rPr b="0" lang="en" sz="1200">
                  <a:solidFill>
                    <a:srgbClr val="2563EB"/>
                  </a:solidFill>
                  <a:highlight>
                    <a:srgbClr val="F3F4F6"/>
                  </a:highlight>
                  <a:latin typeface="IBM Plex Mono"/>
                  <a:ea typeface="IBM Plex Mono"/>
                  <a:cs typeface="IBM Plex Mono"/>
                  <a:sym typeface="IBM Plex Mono"/>
                </a:rPr>
                <a:t>"Execute SQL"</a:t>
              </a:r>
              <a:r>
                <a:rPr b="0" lang="en" sz="13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tab within DB Browser for SQLite.</a:t>
              </a:r>
              <a:endParaRPr b="0" sz="13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382" name="Google Shape;382;p25"/>
          <p:cNvGrpSpPr/>
          <p:nvPr/>
        </p:nvGrpSpPr>
        <p:grpSpPr>
          <a:xfrm>
            <a:off x="571500" y="2124075"/>
            <a:ext cx="4667400" cy="914400"/>
            <a:chOff x="0" y="0"/>
            <a:chExt cx="4667400" cy="914400"/>
          </a:xfrm>
        </p:grpSpPr>
        <p:sp>
          <p:nvSpPr>
            <p:cNvPr id="383" name="Google Shape;383;p25"/>
            <p:cNvSpPr/>
            <p:nvPr/>
          </p:nvSpPr>
          <p:spPr>
            <a:xfrm>
              <a:off x="0" y="0"/>
              <a:ext cx="4667400" cy="9144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5"/>
            <p:cNvSpPr/>
            <p:nvPr/>
          </p:nvSpPr>
          <p:spPr>
            <a:xfrm>
              <a:off x="152400" y="152400"/>
              <a:ext cx="342900" cy="342900"/>
            </a:xfrm>
            <a:prstGeom prst="roundRect">
              <a:avLst>
                <a:gd fmla="val 11111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5"/>
            <p:cNvSpPr txBox="1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  <a:endParaRPr b="1" sz="1300">
                <a:solidFill>
                  <a:srgbClr val="2563EB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386" name="Google Shape;386;p25"/>
            <p:cNvSpPr txBox="1"/>
            <p:nvPr/>
          </p:nvSpPr>
          <p:spPr>
            <a:xfrm>
              <a:off x="647700" y="114300"/>
              <a:ext cx="3867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Click the </a:t>
              </a:r>
              <a:r>
                <a:rPr b="0" lang="en" sz="1200">
                  <a:solidFill>
                    <a:srgbClr val="2563EB"/>
                  </a:solidFill>
                  <a:highlight>
                    <a:srgbClr val="F3F4F6"/>
                  </a:highlight>
                  <a:latin typeface="IBM Plex Mono"/>
                  <a:ea typeface="IBM Plex Mono"/>
                  <a:cs typeface="IBM Plex Mono"/>
                  <a:sym typeface="IBM Plex Mono"/>
                </a:rPr>
                <a:t>"Play"</a:t>
              </a:r>
              <a:r>
                <a:rPr b="0" lang="en" sz="13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button, or use the keyboard shortcut </a:t>
              </a:r>
              <a:r>
                <a:rPr b="0" lang="en" sz="1200">
                  <a:solidFill>
                    <a:srgbClr val="111827"/>
                  </a:solidFill>
                  <a:highlight>
                    <a:srgbClr val="F3F4F6"/>
                  </a:highlight>
                  <a:latin typeface="IBM Plex Mono"/>
                  <a:ea typeface="IBM Plex Mono"/>
                  <a:cs typeface="IBM Plex Mono"/>
                  <a:sym typeface="IBM Plex Mono"/>
                </a:rPr>
                <a:t>Ctrl+Enter</a:t>
              </a:r>
              <a:r>
                <a:rPr b="0" lang="en" sz="13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(</a:t>
              </a:r>
              <a:r>
                <a:rPr b="0" lang="en" sz="1200">
                  <a:solidFill>
                    <a:srgbClr val="111827"/>
                  </a:solidFill>
                  <a:highlight>
                    <a:srgbClr val="F3F4F6"/>
                  </a:highlight>
                  <a:latin typeface="IBM Plex Mono"/>
                  <a:ea typeface="IBM Plex Mono"/>
                  <a:cs typeface="IBM Plex Mono"/>
                  <a:sym typeface="IBM Plex Mono"/>
                </a:rPr>
                <a:t>Cmd+Enter</a:t>
              </a:r>
              <a:r>
                <a:rPr b="0" lang="en" sz="13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on Mac) to run the script.</a:t>
              </a:r>
              <a:endParaRPr b="0" sz="13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387" name="Google Shape;387;p25"/>
          <p:cNvGrpSpPr/>
          <p:nvPr/>
        </p:nvGrpSpPr>
        <p:grpSpPr>
          <a:xfrm>
            <a:off x="571500" y="3152775"/>
            <a:ext cx="4667400" cy="914400"/>
            <a:chOff x="0" y="0"/>
            <a:chExt cx="4667400" cy="914400"/>
          </a:xfrm>
        </p:grpSpPr>
        <p:sp>
          <p:nvSpPr>
            <p:cNvPr id="388" name="Google Shape;388;p25"/>
            <p:cNvSpPr/>
            <p:nvPr/>
          </p:nvSpPr>
          <p:spPr>
            <a:xfrm>
              <a:off x="0" y="0"/>
              <a:ext cx="4667400" cy="9144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5"/>
            <p:cNvSpPr/>
            <p:nvPr/>
          </p:nvSpPr>
          <p:spPr>
            <a:xfrm>
              <a:off x="152400" y="152400"/>
              <a:ext cx="342900" cy="342900"/>
            </a:xfrm>
            <a:prstGeom prst="roundRect">
              <a:avLst>
                <a:gd fmla="val 11111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5"/>
            <p:cNvSpPr txBox="1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  <a:endParaRPr b="1" sz="1300">
                <a:solidFill>
                  <a:srgbClr val="2563EB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391" name="Google Shape;391;p25"/>
            <p:cNvSpPr txBox="1"/>
            <p:nvPr/>
          </p:nvSpPr>
          <p:spPr>
            <a:xfrm>
              <a:off x="647700" y="114300"/>
              <a:ext cx="3867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You must carefully check the bottom log panel to verify it reads </a:t>
              </a:r>
              <a:r>
                <a:rPr b="0" lang="en" sz="1100">
                  <a:solidFill>
                    <a:srgbClr val="2563EB"/>
                  </a:solidFill>
                  <a:highlight>
                    <a:srgbClr val="F3F4F6"/>
                  </a:highlight>
                  <a:latin typeface="IBM Plex Mono"/>
                  <a:ea typeface="IBM Plex Mono"/>
                  <a:cs typeface="IBM Plex Mono"/>
                  <a:sym typeface="IBM Plex Mono"/>
                </a:rPr>
                <a:t>"Execution finished without errors"</a:t>
              </a:r>
              <a:r>
                <a:rPr b="0" lang="en" sz="13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.</a:t>
              </a:r>
              <a:endParaRPr b="0" sz="13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392" name="Google Shape;392;p25"/>
          <p:cNvGrpSpPr/>
          <p:nvPr/>
        </p:nvGrpSpPr>
        <p:grpSpPr>
          <a:xfrm>
            <a:off x="5467350" y="1095375"/>
            <a:ext cx="3105300" cy="2971800"/>
            <a:chOff x="0" y="0"/>
            <a:chExt cx="3105300" cy="2971800"/>
          </a:xfrm>
        </p:grpSpPr>
        <p:sp>
          <p:nvSpPr>
            <p:cNvPr id="393" name="Google Shape;393;p25"/>
            <p:cNvSpPr/>
            <p:nvPr/>
          </p:nvSpPr>
          <p:spPr>
            <a:xfrm>
              <a:off x="0" y="0"/>
              <a:ext cx="3105300" cy="2971800"/>
            </a:xfrm>
            <a:prstGeom prst="roundRect">
              <a:avLst>
                <a:gd fmla="val 1923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5"/>
            <p:cNvSpPr/>
            <p:nvPr/>
          </p:nvSpPr>
          <p:spPr>
            <a:xfrm>
              <a:off x="0" y="0"/>
              <a:ext cx="57300" cy="29718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5"/>
            <p:cNvSpPr txBox="1"/>
            <p:nvPr/>
          </p:nvSpPr>
          <p:spPr>
            <a:xfrm>
              <a:off x="247650" y="228600"/>
              <a:ext cx="2628900" cy="25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MANDATORY TESTING</a:t>
              </a:r>
              <a:endParaRPr b="0" sz="12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11827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Thorough testing is a mandatory part of this lab.</a:t>
              </a:r>
              <a:endParaRPr b="0" sz="1500">
                <a:solidFill>
                  <a:srgbClr val="11182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t/>
              </a:r>
              <a:endParaRPr b="0" sz="13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396" name="Google Shape;396;p25"/>
          <p:cNvGrpSpPr/>
          <p:nvPr/>
        </p:nvGrpSpPr>
        <p:grpSpPr>
          <a:xfrm>
            <a:off x="571500" y="4762500"/>
            <a:ext cx="8001000" cy="381150"/>
            <a:chOff x="0" y="0"/>
            <a:chExt cx="8001000" cy="381150"/>
          </a:xfrm>
        </p:grpSpPr>
        <p:cxnSp>
          <p:nvCxnSpPr>
            <p:cNvPr id="397" name="Google Shape;397;p25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8" name="Google Shape;398;p25"/>
            <p:cNvSpPr txBox="1"/>
            <p:nvPr/>
          </p:nvSpPr>
          <p:spPr>
            <a:xfrm>
              <a:off x="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MAC 250 - DATABASE LAB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26"/>
          <p:cNvGrpSpPr/>
          <p:nvPr/>
        </p:nvGrpSpPr>
        <p:grpSpPr>
          <a:xfrm>
            <a:off x="571500" y="571500"/>
            <a:ext cx="381000" cy="381000"/>
            <a:chOff x="0" y="0"/>
            <a:chExt cx="381000" cy="381000"/>
          </a:xfrm>
        </p:grpSpPr>
        <p:sp>
          <p:nvSpPr>
            <p:cNvPr id="404" name="Google Shape;404;p26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8" name="Google Shape;408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" name="Google Shape;409;p26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6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6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6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" name="Google Shape;420;p26"/>
          <p:cNvGrpSpPr/>
          <p:nvPr/>
        </p:nvGrpSpPr>
        <p:grpSpPr>
          <a:xfrm>
            <a:off x="8191500" y="4191000"/>
            <a:ext cx="381000" cy="381000"/>
            <a:chOff x="0" y="0"/>
            <a:chExt cx="381000" cy="381000"/>
          </a:xfrm>
        </p:grpSpPr>
        <p:sp>
          <p:nvSpPr>
            <p:cNvPr id="421" name="Google Shape;421;p26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6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6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5" name="Google Shape;425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26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6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6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6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6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6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6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6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6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6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6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" name="Google Shape;437;p26"/>
          <p:cNvGrpSpPr/>
          <p:nvPr/>
        </p:nvGrpSpPr>
        <p:grpSpPr>
          <a:xfrm>
            <a:off x="571500" y="1095375"/>
            <a:ext cx="8001000" cy="3238500"/>
            <a:chOff x="571500" y="1095375"/>
            <a:chExt cx="8001000" cy="3238500"/>
          </a:xfrm>
        </p:grpSpPr>
        <p:sp>
          <p:nvSpPr>
            <p:cNvPr id="438" name="Google Shape;438;p26"/>
            <p:cNvSpPr txBox="1"/>
            <p:nvPr/>
          </p:nvSpPr>
          <p:spPr>
            <a:xfrm>
              <a:off x="571500" y="1095375"/>
              <a:ext cx="8001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LAB SESSION</a:t>
              </a:r>
              <a:endParaRPr b="0" sz="12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Independent Lab Time</a:t>
              </a:r>
              <a:endParaRPr b="1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439" name="Google Shape;439;p26"/>
            <p:cNvSpPr txBox="1"/>
            <p:nvPr/>
          </p:nvSpPr>
          <p:spPr>
            <a:xfrm>
              <a:off x="571500" y="2000250"/>
              <a:ext cx="800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573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It is now time to transition to independent coding. Please open your preferred code editors and launch DB Browser for SQLite.</a:t>
              </a:r>
              <a:endParaRPr b="0" sz="1388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grpSp>
          <p:nvGrpSpPr>
            <p:cNvPr id="440" name="Google Shape;440;p26"/>
            <p:cNvGrpSpPr/>
            <p:nvPr/>
          </p:nvGrpSpPr>
          <p:grpSpPr>
            <a:xfrm>
              <a:off x="571500" y="3190875"/>
              <a:ext cx="8001000" cy="1143000"/>
              <a:chOff x="0" y="0"/>
              <a:chExt cx="8001000" cy="1143000"/>
            </a:xfrm>
          </p:grpSpPr>
          <p:sp>
            <p:nvSpPr>
              <p:cNvPr id="441" name="Google Shape;441;p26"/>
              <p:cNvSpPr/>
              <p:nvPr/>
            </p:nvSpPr>
            <p:spPr>
              <a:xfrm>
                <a:off x="0" y="0"/>
                <a:ext cx="8001000" cy="1143000"/>
              </a:xfrm>
              <a:prstGeom prst="roundRect">
                <a:avLst>
                  <a:gd fmla="val 5000" name="adj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6"/>
              <p:cNvSpPr/>
              <p:nvPr/>
            </p:nvSpPr>
            <p:spPr>
              <a:xfrm>
                <a:off x="0" y="0"/>
                <a:ext cx="57300" cy="11430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6"/>
              <p:cNvSpPr txBox="1"/>
              <p:nvPr/>
            </p:nvSpPr>
            <p:spPr>
              <a:xfrm>
                <a:off x="285750" y="190500"/>
                <a:ext cx="7429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10">
                    <a:solidFill>
                      <a:srgbClr val="2563EB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INSTRUCTOR ASSISTANCE</a:t>
                </a:r>
                <a:endParaRPr b="0" sz="111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388">
                    <a:solidFill>
                      <a:srgbClr val="11182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I will be walking around the classroom for the remainder of the session to help debug syntax issues and answer any questions regarding table relationships or constraint implementations.</a:t>
                </a:r>
                <a:endParaRPr b="0" sz="1388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27"/>
          <p:cNvGrpSpPr/>
          <p:nvPr/>
        </p:nvGrpSpPr>
        <p:grpSpPr>
          <a:xfrm>
            <a:off x="571500" y="571500"/>
            <a:ext cx="381000" cy="381000"/>
            <a:chOff x="0" y="0"/>
            <a:chExt cx="381000" cy="381000"/>
          </a:xfrm>
        </p:grpSpPr>
        <p:sp>
          <p:nvSpPr>
            <p:cNvPr id="449" name="Google Shape;449;p27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" name="Google Shape;454;p27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7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7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7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7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7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7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7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7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27"/>
          <p:cNvGrpSpPr/>
          <p:nvPr/>
        </p:nvGrpSpPr>
        <p:grpSpPr>
          <a:xfrm>
            <a:off x="8191500" y="4191000"/>
            <a:ext cx="381000" cy="381000"/>
            <a:chOff x="0" y="0"/>
            <a:chExt cx="381000" cy="381000"/>
          </a:xfrm>
        </p:grpSpPr>
        <p:sp>
          <p:nvSpPr>
            <p:cNvPr id="466" name="Google Shape;466;p27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7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7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7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0" name="Google Shape;47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27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7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7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7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7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7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7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7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7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7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7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2" name="Google Shape;482;p27"/>
          <p:cNvSpPr txBox="1"/>
          <p:nvPr/>
        </p:nvSpPr>
        <p:spPr>
          <a:xfrm>
            <a:off x="571500" y="71437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Debugging Tip: Missing Commas</a:t>
            </a:r>
            <a:endParaRPr b="1" sz="32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83" name="Google Shape;483;p27"/>
          <p:cNvGrpSpPr/>
          <p:nvPr/>
        </p:nvGrpSpPr>
        <p:grpSpPr>
          <a:xfrm>
            <a:off x="571500" y="1571625"/>
            <a:ext cx="8001000" cy="2809800"/>
            <a:chOff x="0" y="0"/>
            <a:chExt cx="8001000" cy="2809800"/>
          </a:xfrm>
        </p:grpSpPr>
        <p:sp>
          <p:nvSpPr>
            <p:cNvPr id="484" name="Google Shape;484;p27"/>
            <p:cNvSpPr/>
            <p:nvPr/>
          </p:nvSpPr>
          <p:spPr>
            <a:xfrm>
              <a:off x="0" y="0"/>
              <a:ext cx="8001000" cy="2809800"/>
            </a:xfrm>
            <a:prstGeom prst="roundRect">
              <a:avLst>
                <a:gd fmla="val 2033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7"/>
            <p:cNvSpPr/>
            <p:nvPr/>
          </p:nvSpPr>
          <p:spPr>
            <a:xfrm>
              <a:off x="0" y="0"/>
              <a:ext cx="76200" cy="28098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7"/>
            <p:cNvSpPr txBox="1"/>
            <p:nvPr/>
          </p:nvSpPr>
          <p:spPr>
            <a:xfrm>
              <a:off x="381000" y="333375"/>
              <a:ext cx="7239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SYNTAX ERROR PREVENTION</a:t>
              </a:r>
              <a:endParaRPr b="0" sz="12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As you work through your scripts, keep in mind that approximately </a:t>
              </a:r>
              <a:r>
                <a:rPr b="1" lang="en" sz="1800">
                  <a:solidFill>
                    <a:srgbClr val="2563E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90% of all syntax errors</a:t>
              </a:r>
              <a:r>
                <a:rPr b="0" lang="en" sz="18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encountered during table creation are caused by a single missing comma.</a:t>
              </a:r>
              <a:endParaRPr b="0" sz="18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Ensure that you have placed a comma at the end of every column definition and constraint declaration, separating them properly before the final closing parenthesis of your </a:t>
              </a:r>
              <a:r>
                <a:rPr b="0" lang="en" sz="1600">
                  <a:solidFill>
                    <a:srgbClr val="111827"/>
                  </a:solidFill>
                  <a:latin typeface="IBM Plex Mono SemiBold"/>
                  <a:ea typeface="IBM Plex Mono SemiBold"/>
                  <a:cs typeface="IBM Plex Mono SemiBold"/>
                  <a:sym typeface="IBM Plex Mono SemiBold"/>
                </a:rPr>
                <a:t>CREATE TABLE</a:t>
              </a:r>
              <a:r>
                <a:rPr b="0" lang="en" sz="16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statement.</a:t>
              </a:r>
              <a:endParaRPr b="0" sz="16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28"/>
          <p:cNvGrpSpPr/>
          <p:nvPr/>
        </p:nvGrpSpPr>
        <p:grpSpPr>
          <a:xfrm>
            <a:off x="571500" y="428625"/>
            <a:ext cx="381000" cy="381000"/>
            <a:chOff x="0" y="0"/>
            <a:chExt cx="381000" cy="381000"/>
          </a:xfrm>
        </p:grpSpPr>
        <p:sp>
          <p:nvSpPr>
            <p:cNvPr id="492" name="Google Shape;492;p28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96" name="Google Shape;496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28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8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8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8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8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8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8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8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28"/>
          <p:cNvGrpSpPr/>
          <p:nvPr/>
        </p:nvGrpSpPr>
        <p:grpSpPr>
          <a:xfrm>
            <a:off x="8191500" y="4286250"/>
            <a:ext cx="381000" cy="381000"/>
            <a:chOff x="0" y="0"/>
            <a:chExt cx="381000" cy="381000"/>
          </a:xfrm>
        </p:grpSpPr>
        <p:sp>
          <p:nvSpPr>
            <p:cNvPr id="509" name="Google Shape;509;p28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8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8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8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3" name="Google Shape;513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28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8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8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8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8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8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8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8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8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8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5" name="Google Shape;525;p28"/>
          <p:cNvSpPr txBox="1"/>
          <p:nvPr/>
        </p:nvSpPr>
        <p:spPr>
          <a:xfrm>
            <a:off x="1095375" y="381000"/>
            <a:ext cx="7429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Debugging Tip: Trailing Commas</a:t>
            </a:r>
            <a:endParaRPr b="1" sz="30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26" name="Google Shape;526;p28"/>
          <p:cNvGrpSpPr/>
          <p:nvPr/>
        </p:nvGrpSpPr>
        <p:grpSpPr>
          <a:xfrm>
            <a:off x="571500" y="1095375"/>
            <a:ext cx="8001000" cy="1762200"/>
            <a:chOff x="0" y="0"/>
            <a:chExt cx="8001000" cy="1762200"/>
          </a:xfrm>
        </p:grpSpPr>
        <p:sp>
          <p:nvSpPr>
            <p:cNvPr id="527" name="Google Shape;527;p28"/>
            <p:cNvSpPr/>
            <p:nvPr/>
          </p:nvSpPr>
          <p:spPr>
            <a:xfrm>
              <a:off x="0" y="0"/>
              <a:ext cx="8001000" cy="1762200"/>
            </a:xfrm>
            <a:prstGeom prst="roundRect">
              <a:avLst>
                <a:gd fmla="val 3243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8"/>
            <p:cNvSpPr/>
            <p:nvPr/>
          </p:nvSpPr>
          <p:spPr>
            <a:xfrm>
              <a:off x="0" y="0"/>
              <a:ext cx="57300" cy="17622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8"/>
            <p:cNvSpPr txBox="1"/>
            <p:nvPr/>
          </p:nvSpPr>
          <p:spPr>
            <a:xfrm>
              <a:off x="304800" y="190500"/>
              <a:ext cx="73914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SQL SYNTAX WARNING</a:t>
              </a:r>
              <a:endParaRPr b="0" sz="1018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88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While missing commas cause issues, trailing commas are equally problematic in SQL. You must carefully ensure that the very last column or constraint defined inside your </a:t>
              </a:r>
              <a:r>
                <a:rPr b="0" lang="en" sz="1388">
                  <a:solidFill>
                    <a:srgbClr val="2563EB"/>
                  </a:solidFill>
                  <a:latin typeface="IBM Plex Mono SemiBold"/>
                  <a:ea typeface="IBM Plex Mono SemiBold"/>
                  <a:cs typeface="IBM Plex Mono SemiBold"/>
                  <a:sym typeface="IBM Plex Mono SemiBold"/>
                </a:rPr>
                <a:t>CREATE TABLE</a:t>
              </a:r>
              <a:r>
                <a:rPr b="0" lang="en" sz="1388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statement does </a:t>
              </a:r>
              <a:r>
                <a:rPr b="1" lang="en" sz="1388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NOT</a:t>
              </a:r>
              <a:r>
                <a:rPr b="0" lang="en" sz="1388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have a comma after it. A comma placed right before the closing parenthesis will immediately trigger a syntax error and halt your script's execution.</a:t>
              </a:r>
              <a:endParaRPr b="0" sz="1388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530" name="Google Shape;530;p28"/>
          <p:cNvGrpSpPr/>
          <p:nvPr/>
        </p:nvGrpSpPr>
        <p:grpSpPr>
          <a:xfrm>
            <a:off x="571500" y="3048000"/>
            <a:ext cx="8001000" cy="1571700"/>
            <a:chOff x="0" y="0"/>
            <a:chExt cx="8001000" cy="1571700"/>
          </a:xfrm>
        </p:grpSpPr>
        <p:sp>
          <p:nvSpPr>
            <p:cNvPr id="531" name="Google Shape;531;p28"/>
            <p:cNvSpPr/>
            <p:nvPr/>
          </p:nvSpPr>
          <p:spPr>
            <a:xfrm>
              <a:off x="0" y="0"/>
              <a:ext cx="8001000" cy="1571700"/>
            </a:xfrm>
            <a:prstGeom prst="roundRect">
              <a:avLst>
                <a:gd fmla="val 3636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8"/>
            <p:cNvSpPr/>
            <p:nvPr/>
          </p:nvSpPr>
          <p:spPr>
            <a:xfrm>
              <a:off x="190500" y="1524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8"/>
            <p:cNvSpPr/>
            <p:nvPr/>
          </p:nvSpPr>
          <p:spPr>
            <a:xfrm>
              <a:off x="342900" y="152400"/>
              <a:ext cx="76200" cy="762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8"/>
            <p:cNvSpPr/>
            <p:nvPr/>
          </p:nvSpPr>
          <p:spPr>
            <a:xfrm>
              <a:off x="495300" y="152400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8"/>
            <p:cNvSpPr txBox="1"/>
            <p:nvPr/>
          </p:nvSpPr>
          <p:spPr>
            <a:xfrm>
              <a:off x="228600" y="361950"/>
              <a:ext cx="75438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0A5FA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CREATE TABLE</a:t>
              </a:r>
              <a:r>
                <a:rPr b="0" lang="en" sz="1300">
                  <a:solidFill>
                    <a:srgbClr val="9CA3AF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 students (</a:t>
              </a:r>
              <a:endParaRPr b="0" sz="1300">
                <a:solidFill>
                  <a:srgbClr val="9CA3A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student_id </a:t>
              </a:r>
              <a:r>
                <a:rPr b="0" lang="en" sz="1300">
                  <a:solidFill>
                    <a:srgbClr val="F59E0B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INT PRIMARY KEY</a:t>
              </a:r>
              <a:r>
                <a:rPr b="0" lang="en" sz="13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,</a:t>
              </a:r>
              <a:endParaRPr b="0" sz="1300">
                <a:solidFill>
                  <a:srgbClr val="F3F4F6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email </a:t>
              </a:r>
              <a:r>
                <a:rPr b="0" lang="en" sz="1300">
                  <a:solidFill>
                    <a:srgbClr val="F59E0B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VARCHAR(100)</a:t>
              </a:r>
              <a:r>
                <a:rPr b="1" lang="en" sz="1300">
                  <a:solidFill>
                    <a:srgbClr val="EF4444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,</a:t>
              </a:r>
              <a:r>
                <a:rPr b="0" lang="en" sz="13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 </a:t>
              </a:r>
              <a:r>
                <a:rPr b="0" i="1" lang="en" sz="1300">
                  <a:solidFill>
                    <a:srgbClr val="EF4444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-- SYNTAX ERROR: Trailing comma</a:t>
              </a:r>
              <a:endParaRPr b="0" sz="1300">
                <a:solidFill>
                  <a:srgbClr val="F3F4F6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9CA3AF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);</a:t>
              </a:r>
              <a:endParaRPr b="0" sz="1300">
                <a:solidFill>
                  <a:srgbClr val="9CA3A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29"/>
          <p:cNvGrpSpPr/>
          <p:nvPr/>
        </p:nvGrpSpPr>
        <p:grpSpPr>
          <a:xfrm>
            <a:off x="571500" y="476250"/>
            <a:ext cx="381000" cy="381000"/>
            <a:chOff x="0" y="0"/>
            <a:chExt cx="381000" cy="381000"/>
          </a:xfrm>
        </p:grpSpPr>
        <p:sp>
          <p:nvSpPr>
            <p:cNvPr id="541" name="Google Shape;541;p29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45" name="Google Shape;545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6" name="Google Shape;546;p29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29"/>
          <p:cNvGrpSpPr/>
          <p:nvPr/>
        </p:nvGrpSpPr>
        <p:grpSpPr>
          <a:xfrm>
            <a:off x="8191500" y="4191000"/>
            <a:ext cx="381000" cy="381000"/>
            <a:chOff x="0" y="0"/>
            <a:chExt cx="381000" cy="381000"/>
          </a:xfrm>
        </p:grpSpPr>
        <p:sp>
          <p:nvSpPr>
            <p:cNvPr id="558" name="Google Shape;558;p29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62" name="Google Shape;562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29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4" name="Google Shape;574;p29"/>
          <p:cNvSpPr txBox="1"/>
          <p:nvPr/>
        </p:nvSpPr>
        <p:spPr>
          <a:xfrm>
            <a:off x="571500" y="10477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SQL SYNTAX &amp; LAB GUIDELINES</a:t>
            </a:r>
            <a:endParaRPr b="0" sz="1100">
              <a:solidFill>
                <a:srgbClr val="2563EB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Debugging Tip: Semicolons</a:t>
            </a:r>
            <a:endParaRPr b="1" sz="32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75" name="Google Shape;575;p29"/>
          <p:cNvGrpSpPr/>
          <p:nvPr/>
        </p:nvGrpSpPr>
        <p:grpSpPr>
          <a:xfrm>
            <a:off x="571500" y="2047875"/>
            <a:ext cx="8001000" cy="1905000"/>
            <a:chOff x="0" y="0"/>
            <a:chExt cx="8001000" cy="1905000"/>
          </a:xfrm>
        </p:grpSpPr>
        <p:sp>
          <p:nvSpPr>
            <p:cNvPr id="576" name="Google Shape;576;p29"/>
            <p:cNvSpPr/>
            <p:nvPr/>
          </p:nvSpPr>
          <p:spPr>
            <a:xfrm>
              <a:off x="0" y="0"/>
              <a:ext cx="8001000" cy="1905000"/>
            </a:xfrm>
            <a:prstGeom prst="roundRect">
              <a:avLst>
                <a:gd fmla="val 300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0" y="0"/>
              <a:ext cx="57300" cy="19050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9"/>
            <p:cNvSpPr txBox="1"/>
            <p:nvPr/>
          </p:nvSpPr>
          <p:spPr>
            <a:xfrm>
              <a:off x="342900" y="266700"/>
              <a:ext cx="73152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CRITICAL SYNTAX REQUIREMENT</a:t>
              </a:r>
              <a:endParaRPr b="0" sz="1018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88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Proper statement termination is a fundamental requirement in SQL scripting. You must ensure that every single </a:t>
              </a:r>
              <a:r>
                <a:rPr b="0" lang="en" sz="1388">
                  <a:solidFill>
                    <a:srgbClr val="2563EB"/>
                  </a:solidFill>
                  <a:latin typeface="IBM Plex Mono SemiBold"/>
                  <a:ea typeface="IBM Plex Mono SemiBold"/>
                  <a:cs typeface="IBM Plex Mono SemiBold"/>
                  <a:sym typeface="IBM Plex Mono SemiBold"/>
                </a:rPr>
                <a:t>DROP TABLE</a:t>
              </a:r>
              <a:r>
                <a:rPr b="0" lang="en" sz="1388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and </a:t>
              </a:r>
              <a:r>
                <a:rPr b="0" lang="en" sz="1388">
                  <a:solidFill>
                    <a:srgbClr val="2563EB"/>
                  </a:solidFill>
                  <a:latin typeface="IBM Plex Mono SemiBold"/>
                  <a:ea typeface="IBM Plex Mono SemiBold"/>
                  <a:cs typeface="IBM Plex Mono SemiBold"/>
                  <a:sym typeface="IBM Plex Mono SemiBold"/>
                </a:rPr>
                <a:t>CREATE TABLE</a:t>
              </a:r>
              <a:r>
                <a:rPr b="0" lang="en" sz="1388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statement in your script ends with a semicolon (</a:t>
              </a:r>
              <a:r>
                <a:rPr b="1" lang="en" sz="1388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;</a:t>
              </a:r>
              <a:r>
                <a:rPr b="0" lang="en" sz="1388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). The semicolon signals to the database engine that a specific command is complete, allowing it to move on and process the next command in your file without confusion.</a:t>
              </a:r>
              <a:endParaRPr b="0" sz="1388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" name="Google Shape;583;p30"/>
          <p:cNvGrpSpPr/>
          <p:nvPr/>
        </p:nvGrpSpPr>
        <p:grpSpPr>
          <a:xfrm>
            <a:off x="571500" y="571500"/>
            <a:ext cx="381000" cy="381000"/>
            <a:chOff x="0" y="0"/>
            <a:chExt cx="381000" cy="381000"/>
          </a:xfrm>
        </p:grpSpPr>
        <p:sp>
          <p:nvSpPr>
            <p:cNvPr id="584" name="Google Shape;584;p30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0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0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0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88" name="Google Shape;588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9" name="Google Shape;589;p30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0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0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0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0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0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0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0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0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0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0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0" name="Google Shape;600;p30"/>
          <p:cNvGrpSpPr/>
          <p:nvPr/>
        </p:nvGrpSpPr>
        <p:grpSpPr>
          <a:xfrm>
            <a:off x="8191500" y="4191000"/>
            <a:ext cx="381000" cy="381000"/>
            <a:chOff x="0" y="0"/>
            <a:chExt cx="381000" cy="381000"/>
          </a:xfrm>
        </p:grpSpPr>
        <p:sp>
          <p:nvSpPr>
            <p:cNvPr id="601" name="Google Shape;601;p30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0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0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05" name="Google Shape;605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30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0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0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0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0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0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0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0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0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0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0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30"/>
          <p:cNvGrpSpPr/>
          <p:nvPr/>
        </p:nvGrpSpPr>
        <p:grpSpPr>
          <a:xfrm>
            <a:off x="952500" y="904875"/>
            <a:ext cx="7239000" cy="3143175"/>
            <a:chOff x="0" y="0"/>
            <a:chExt cx="7239000" cy="3143175"/>
          </a:xfrm>
        </p:grpSpPr>
        <p:sp>
          <p:nvSpPr>
            <p:cNvPr id="618" name="Google Shape;618;p30"/>
            <p:cNvSpPr txBox="1"/>
            <p:nvPr/>
          </p:nvSpPr>
          <p:spPr>
            <a:xfrm>
              <a:off x="0" y="0"/>
              <a:ext cx="7239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RUBRIC &amp; SCHEMA AUDIT</a:t>
              </a:r>
              <a:endParaRPr b="0" sz="12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Constraint Check</a:t>
              </a:r>
              <a:endParaRPr b="1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grpSp>
          <p:nvGrpSpPr>
            <p:cNvPr id="619" name="Google Shape;619;p30"/>
            <p:cNvGrpSpPr/>
            <p:nvPr/>
          </p:nvGrpSpPr>
          <p:grpSpPr>
            <a:xfrm>
              <a:off x="0" y="904875"/>
              <a:ext cx="7239000" cy="2238300"/>
              <a:chOff x="0" y="0"/>
              <a:chExt cx="7239000" cy="2238300"/>
            </a:xfrm>
          </p:grpSpPr>
          <p:sp>
            <p:nvSpPr>
              <p:cNvPr id="620" name="Google Shape;620;p30"/>
              <p:cNvSpPr/>
              <p:nvPr/>
            </p:nvSpPr>
            <p:spPr>
              <a:xfrm>
                <a:off x="0" y="0"/>
                <a:ext cx="7239000" cy="2238300"/>
              </a:xfrm>
              <a:prstGeom prst="roundRect">
                <a:avLst>
                  <a:gd fmla="val 2553" name="adj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30"/>
              <p:cNvSpPr/>
              <p:nvPr/>
            </p:nvSpPr>
            <p:spPr>
              <a:xfrm>
                <a:off x="0" y="0"/>
                <a:ext cx="57300" cy="2238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30"/>
              <p:cNvSpPr txBox="1"/>
              <p:nvPr/>
            </p:nvSpPr>
            <p:spPr>
              <a:xfrm>
                <a:off x="342900" y="266700"/>
                <a:ext cx="65532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700">
                    <a:solidFill>
                      <a:srgbClr val="11182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Take a moment to review the specific business rules outlined in the ERD. Did you remember to make the </a:t>
                </a:r>
                <a:r>
                  <a:rPr b="0" lang="en" sz="1700">
                    <a:solidFill>
                      <a:srgbClr val="2563EB"/>
                    </a:solidFill>
                    <a:latin typeface="IBM Plex Mono SemiBold"/>
                    <a:ea typeface="IBM Plex Mono SemiBold"/>
                    <a:cs typeface="IBM Plex Mono SemiBold"/>
                    <a:sym typeface="IBM Plex Mono SemiBold"/>
                  </a:rPr>
                  <a:t>CourseCode</a:t>
                </a:r>
                <a:r>
                  <a:rPr b="0" lang="en" sz="1700">
                    <a:solidFill>
                      <a:srgbClr val="11182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 column </a:t>
                </a:r>
                <a:r>
                  <a:rPr b="1" lang="en" sz="1700">
                    <a:solidFill>
                      <a:srgbClr val="11182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UNIQUE</a:t>
                </a:r>
                <a:r>
                  <a:rPr b="0" lang="en" sz="1700">
                    <a:solidFill>
                      <a:srgbClr val="11182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?</a:t>
                </a:r>
                <a:endParaRPr b="0" sz="17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4B5563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Missing these specific constraints will result in point deductions on the rubric, as they are critical for maintaining the logical integrity of the university's course catalog data.</a:t>
                </a:r>
                <a:endParaRPr b="0" sz="15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7" name="Google Shape;627;p31"/>
          <p:cNvGrpSpPr/>
          <p:nvPr/>
        </p:nvGrpSpPr>
        <p:grpSpPr>
          <a:xfrm>
            <a:off x="571500" y="571500"/>
            <a:ext cx="381000" cy="381000"/>
            <a:chOff x="0" y="0"/>
            <a:chExt cx="381000" cy="381000"/>
          </a:xfrm>
        </p:grpSpPr>
        <p:sp>
          <p:nvSpPr>
            <p:cNvPr id="628" name="Google Shape;628;p31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1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1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2" name="Google Shape;632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" name="Google Shape;633;p31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1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1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1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1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1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1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1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4" name="Google Shape;644;p31"/>
          <p:cNvGrpSpPr/>
          <p:nvPr/>
        </p:nvGrpSpPr>
        <p:grpSpPr>
          <a:xfrm>
            <a:off x="8191500" y="4191000"/>
            <a:ext cx="381000" cy="381000"/>
            <a:chOff x="0" y="0"/>
            <a:chExt cx="381000" cy="381000"/>
          </a:xfrm>
        </p:grpSpPr>
        <p:sp>
          <p:nvSpPr>
            <p:cNvPr id="645" name="Google Shape;645;p31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1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1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1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49" name="Google Shape;64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0" name="Google Shape;650;p31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1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1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1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1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1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1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1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1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1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1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1" name="Google Shape;661;p31"/>
          <p:cNvGrpSpPr/>
          <p:nvPr/>
        </p:nvGrpSpPr>
        <p:grpSpPr>
          <a:xfrm>
            <a:off x="1143000" y="523875"/>
            <a:ext cx="6858000" cy="3905400"/>
            <a:chOff x="0" y="0"/>
            <a:chExt cx="6858000" cy="3905400"/>
          </a:xfrm>
        </p:grpSpPr>
        <p:sp>
          <p:nvSpPr>
            <p:cNvPr id="662" name="Google Shape;662;p31"/>
            <p:cNvSpPr txBox="1"/>
            <p:nvPr/>
          </p:nvSpPr>
          <p:spPr>
            <a:xfrm>
              <a:off x="0" y="0"/>
              <a:ext cx="685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Foreign Key Syntax</a:t>
              </a:r>
              <a:endParaRPr b="1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63" name="Google Shape;663;p31"/>
            <p:cNvSpPr txBox="1"/>
            <p:nvPr/>
          </p:nvSpPr>
          <p:spPr>
            <a:xfrm>
              <a:off x="0" y="619125"/>
              <a:ext cx="685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48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When building the Enrollments table, ensure your syntax for defining relationships is precise.</a:t>
              </a:r>
              <a:endParaRPr b="0" sz="148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grpSp>
          <p:nvGrpSpPr>
            <p:cNvPr id="664" name="Google Shape;664;p31"/>
            <p:cNvGrpSpPr/>
            <p:nvPr/>
          </p:nvGrpSpPr>
          <p:grpSpPr>
            <a:xfrm>
              <a:off x="0" y="1190625"/>
              <a:ext cx="6858000" cy="1428900"/>
              <a:chOff x="0" y="0"/>
              <a:chExt cx="6858000" cy="1428900"/>
            </a:xfrm>
          </p:grpSpPr>
          <p:sp>
            <p:nvSpPr>
              <p:cNvPr id="665" name="Google Shape;665;p31"/>
              <p:cNvSpPr/>
              <p:nvPr/>
            </p:nvSpPr>
            <p:spPr>
              <a:xfrm>
                <a:off x="0" y="0"/>
                <a:ext cx="6858000" cy="1428900"/>
              </a:xfrm>
              <a:prstGeom prst="roundRect">
                <a:avLst>
                  <a:gd fmla="val 4000" name="adj"/>
                </a:avLst>
              </a:prstGeom>
              <a:solidFill>
                <a:srgbClr val="11182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31"/>
              <p:cNvSpPr/>
              <p:nvPr/>
            </p:nvSpPr>
            <p:spPr>
              <a:xfrm>
                <a:off x="152400" y="152400"/>
                <a:ext cx="76200" cy="76200"/>
              </a:xfrm>
              <a:prstGeom prst="ellipse">
                <a:avLst/>
              </a:prstGeom>
              <a:solidFill>
                <a:srgbClr val="4B556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31"/>
              <p:cNvSpPr/>
              <p:nvPr/>
            </p:nvSpPr>
            <p:spPr>
              <a:xfrm>
                <a:off x="304800" y="152400"/>
                <a:ext cx="76200" cy="76200"/>
              </a:xfrm>
              <a:prstGeom prst="ellipse">
                <a:avLst/>
              </a:prstGeom>
              <a:solidFill>
                <a:srgbClr val="4B556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31"/>
              <p:cNvSpPr/>
              <p:nvPr/>
            </p:nvSpPr>
            <p:spPr>
              <a:xfrm>
                <a:off x="457200" y="152400"/>
                <a:ext cx="76200" cy="76200"/>
              </a:xfrm>
              <a:prstGeom prst="ellipse">
                <a:avLst/>
              </a:prstGeom>
              <a:solidFill>
                <a:srgbClr val="4B556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31"/>
              <p:cNvSpPr txBox="1"/>
              <p:nvPr/>
            </p:nvSpPr>
            <p:spPr>
              <a:xfrm>
                <a:off x="228600" y="400050"/>
                <a:ext cx="64008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60A5FA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-- Foreign Key Constraint Definition</a:t>
                </a:r>
                <a:endParaRPr b="0" sz="1200">
                  <a:solidFill>
                    <a:srgbClr val="60A5FA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93C5FD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FOREIGN KEY</a:t>
                </a:r>
                <a:r>
                  <a:rPr b="0" lang="en" sz="15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(StudentID) </a:t>
                </a:r>
                <a:r>
                  <a:rPr b="1" lang="en" sz="1500">
                    <a:solidFill>
                      <a:srgbClr val="93C5FD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REFERENCES</a:t>
                </a:r>
                <a:r>
                  <a:rPr b="0" lang="en" sz="1500">
                    <a:solidFill>
                      <a:srgbClr val="F3F4F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Students(StudentID)</a:t>
                </a:r>
                <a:endParaRPr b="0" sz="1500">
                  <a:solidFill>
                    <a:srgbClr val="F3F4F6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</p:txBody>
          </p:sp>
        </p:grpSp>
        <p:grpSp>
          <p:nvGrpSpPr>
            <p:cNvPr id="670" name="Google Shape;670;p31"/>
            <p:cNvGrpSpPr/>
            <p:nvPr/>
          </p:nvGrpSpPr>
          <p:grpSpPr>
            <a:xfrm>
              <a:off x="0" y="2857500"/>
              <a:ext cx="6858000" cy="1047900"/>
              <a:chOff x="0" y="0"/>
              <a:chExt cx="6858000" cy="1047900"/>
            </a:xfrm>
          </p:grpSpPr>
          <p:sp>
            <p:nvSpPr>
              <p:cNvPr id="671" name="Google Shape;671;p31"/>
              <p:cNvSpPr/>
              <p:nvPr/>
            </p:nvSpPr>
            <p:spPr>
              <a:xfrm>
                <a:off x="0" y="0"/>
                <a:ext cx="6858000" cy="1047900"/>
              </a:xfrm>
              <a:prstGeom prst="roundRect">
                <a:avLst>
                  <a:gd fmla="val 3636" name="adj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31"/>
              <p:cNvSpPr/>
              <p:nvPr/>
            </p:nvSpPr>
            <p:spPr>
              <a:xfrm>
                <a:off x="0" y="0"/>
                <a:ext cx="573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31"/>
              <p:cNvSpPr txBox="1"/>
              <p:nvPr/>
            </p:nvSpPr>
            <p:spPr>
              <a:xfrm>
                <a:off x="266700" y="171450"/>
                <a:ext cx="63246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563EB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Syntax Verification</a:t>
                </a:r>
                <a:endParaRPr b="0" sz="12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1182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Double-check that both the local column name and the referenced parent table and column names are spelled exactly as they were defined earlier in your script.</a:t>
                </a:r>
                <a:endParaRPr b="0" sz="13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8" name="Google Shape;678;p32"/>
          <p:cNvGrpSpPr/>
          <p:nvPr/>
        </p:nvGrpSpPr>
        <p:grpSpPr>
          <a:xfrm>
            <a:off x="571500" y="476250"/>
            <a:ext cx="381000" cy="381000"/>
            <a:chOff x="0" y="0"/>
            <a:chExt cx="381000" cy="381000"/>
          </a:xfrm>
        </p:grpSpPr>
        <p:sp>
          <p:nvSpPr>
            <p:cNvPr id="679" name="Google Shape;679;p32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2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2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2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83" name="Google Shape;683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4" name="Google Shape;684;p32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2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2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2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2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2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2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2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2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2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2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32"/>
          <p:cNvGrpSpPr/>
          <p:nvPr/>
        </p:nvGrpSpPr>
        <p:grpSpPr>
          <a:xfrm>
            <a:off x="8191500" y="4191000"/>
            <a:ext cx="381000" cy="381000"/>
            <a:chOff x="0" y="0"/>
            <a:chExt cx="381000" cy="381000"/>
          </a:xfrm>
        </p:grpSpPr>
        <p:sp>
          <p:nvSpPr>
            <p:cNvPr id="696" name="Google Shape;696;p32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2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2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2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0" name="Google Shape;70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" name="Google Shape;701;p32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2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2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2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2"/>
            <p:cNvSpPr/>
            <p:nvPr/>
          </p:nvSpPr>
          <p:spPr>
            <a:xfrm>
              <a:off x="1143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2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2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2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2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2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2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2" name="Google Shape;712;p32"/>
          <p:cNvSpPr txBox="1"/>
          <p:nvPr/>
        </p:nvSpPr>
        <p:spPr>
          <a:xfrm>
            <a:off x="1095375" y="428625"/>
            <a:ext cx="6667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Database Lab Troubleshooting</a:t>
            </a:r>
            <a:endParaRPr b="0" sz="1200">
              <a:solidFill>
                <a:srgbClr val="2563EB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Execution Order</a:t>
            </a:r>
            <a:endParaRPr b="1" sz="32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13" name="Google Shape;713;p32"/>
          <p:cNvGrpSpPr/>
          <p:nvPr/>
        </p:nvGrpSpPr>
        <p:grpSpPr>
          <a:xfrm>
            <a:off x="571500" y="1238250"/>
            <a:ext cx="8001000" cy="809700"/>
            <a:chOff x="0" y="0"/>
            <a:chExt cx="8001000" cy="809700"/>
          </a:xfrm>
        </p:grpSpPr>
        <p:sp>
          <p:nvSpPr>
            <p:cNvPr id="714" name="Google Shape;714;p32"/>
            <p:cNvSpPr/>
            <p:nvPr/>
          </p:nvSpPr>
          <p:spPr>
            <a:xfrm>
              <a:off x="0" y="0"/>
              <a:ext cx="8001000" cy="809700"/>
            </a:xfrm>
            <a:prstGeom prst="roundRect">
              <a:avLst>
                <a:gd fmla="val 7058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2"/>
            <p:cNvSpPr/>
            <p:nvPr/>
          </p:nvSpPr>
          <p:spPr>
            <a:xfrm>
              <a:off x="152400" y="133350"/>
              <a:ext cx="76200" cy="7620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2"/>
            <p:cNvSpPr/>
            <p:nvPr/>
          </p:nvSpPr>
          <p:spPr>
            <a:xfrm>
              <a:off x="285750" y="133350"/>
              <a:ext cx="76200" cy="7620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2"/>
            <p:cNvSpPr/>
            <p:nvPr/>
          </p:nvSpPr>
          <p:spPr>
            <a:xfrm>
              <a:off x="419100" y="133350"/>
              <a:ext cx="76200" cy="7620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2"/>
            <p:cNvSpPr txBox="1"/>
            <p:nvPr/>
          </p:nvSpPr>
          <p:spPr>
            <a:xfrm>
              <a:off x="190500" y="304800"/>
              <a:ext cx="7620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9CA3AF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Execution Log Error: </a:t>
              </a:r>
              <a:r>
                <a:rPr b="0" lang="en" sz="1400">
                  <a:solidFill>
                    <a:srgbClr val="F87171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"no such table: Students"</a:t>
              </a:r>
              <a:endParaRPr b="0" sz="1400">
                <a:solidFill>
                  <a:srgbClr val="F8717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endParaRPr>
            </a:p>
          </p:txBody>
        </p:sp>
      </p:grpSp>
      <p:grpSp>
        <p:nvGrpSpPr>
          <p:cNvPr id="719" name="Google Shape;719;p32"/>
          <p:cNvGrpSpPr/>
          <p:nvPr/>
        </p:nvGrpSpPr>
        <p:grpSpPr>
          <a:xfrm>
            <a:off x="571500" y="2238375"/>
            <a:ext cx="8001075" cy="1762200"/>
            <a:chOff x="0" y="0"/>
            <a:chExt cx="8001075" cy="1762200"/>
          </a:xfrm>
        </p:grpSpPr>
        <p:grpSp>
          <p:nvGrpSpPr>
            <p:cNvPr id="720" name="Google Shape;720;p32"/>
            <p:cNvGrpSpPr/>
            <p:nvPr/>
          </p:nvGrpSpPr>
          <p:grpSpPr>
            <a:xfrm>
              <a:off x="0" y="0"/>
              <a:ext cx="3857700" cy="1762200"/>
              <a:chOff x="0" y="0"/>
              <a:chExt cx="3857700" cy="1762200"/>
            </a:xfrm>
          </p:grpSpPr>
          <p:sp>
            <p:nvSpPr>
              <p:cNvPr id="721" name="Google Shape;721;p32"/>
              <p:cNvSpPr/>
              <p:nvPr/>
            </p:nvSpPr>
            <p:spPr>
              <a:xfrm>
                <a:off x="0" y="0"/>
                <a:ext cx="3857700" cy="1762200"/>
              </a:xfrm>
              <a:prstGeom prst="roundRect">
                <a:avLst>
                  <a:gd fmla="val 3243" name="adj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32"/>
              <p:cNvSpPr/>
              <p:nvPr/>
            </p:nvSpPr>
            <p:spPr>
              <a:xfrm>
                <a:off x="0" y="0"/>
                <a:ext cx="38577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32"/>
              <p:cNvSpPr txBox="1"/>
              <p:nvPr/>
            </p:nvSpPr>
            <p:spPr>
              <a:xfrm>
                <a:off x="228600" y="190500"/>
                <a:ext cx="34005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563EB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Symptom &amp; Diagnosis</a:t>
                </a:r>
                <a:endParaRPr b="0" sz="12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1182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If you attempt to run your script and the execution log returns an error stating </a:t>
                </a:r>
                <a:r>
                  <a:rPr b="0" lang="en" sz="1400">
                    <a:solidFill>
                      <a:srgbClr val="DC2626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"no such table: Students"</a:t>
                </a:r>
                <a:r>
                  <a:rPr b="0" lang="en" sz="1400">
                    <a:solidFill>
                      <a:srgbClr val="11182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, this is a clear indicator of an execution order failure.</a:t>
                </a:r>
                <a:endParaRPr b="0" sz="14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724" name="Google Shape;724;p32"/>
            <p:cNvGrpSpPr/>
            <p:nvPr/>
          </p:nvGrpSpPr>
          <p:grpSpPr>
            <a:xfrm>
              <a:off x="4143375" y="0"/>
              <a:ext cx="3857700" cy="1762200"/>
              <a:chOff x="0" y="0"/>
              <a:chExt cx="3857700" cy="1762200"/>
            </a:xfrm>
          </p:grpSpPr>
          <p:sp>
            <p:nvSpPr>
              <p:cNvPr id="725" name="Google Shape;725;p32"/>
              <p:cNvSpPr/>
              <p:nvPr/>
            </p:nvSpPr>
            <p:spPr>
              <a:xfrm>
                <a:off x="0" y="0"/>
                <a:ext cx="3857700" cy="1762200"/>
              </a:xfrm>
              <a:prstGeom prst="roundRect">
                <a:avLst>
                  <a:gd fmla="val 3243" name="adj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32"/>
              <p:cNvSpPr/>
              <p:nvPr/>
            </p:nvSpPr>
            <p:spPr>
              <a:xfrm>
                <a:off x="0" y="0"/>
                <a:ext cx="38577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32"/>
              <p:cNvSpPr txBox="1"/>
              <p:nvPr/>
            </p:nvSpPr>
            <p:spPr>
              <a:xfrm>
                <a:off x="228600" y="190500"/>
                <a:ext cx="34005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563EB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Root Cause</a:t>
                </a:r>
                <a:endParaRPr b="0" sz="12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1182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This specific error means you are trying to create the </a:t>
                </a:r>
                <a:r>
                  <a:rPr b="0" lang="en" sz="1400">
                    <a:solidFill>
                      <a:srgbClr val="2563EB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Enrollments</a:t>
                </a:r>
                <a:r>
                  <a:rPr b="0" lang="en" sz="1400">
                    <a:solidFill>
                      <a:srgbClr val="11182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 junction table too early, before the parent </a:t>
                </a:r>
                <a:r>
                  <a:rPr b="0" lang="en" sz="1400">
                    <a:solidFill>
                      <a:srgbClr val="2563EB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Students</a:t>
                </a:r>
                <a:r>
                  <a:rPr b="0" lang="en" sz="1400">
                    <a:solidFill>
                      <a:srgbClr val="111827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 table has been successfully generated by the database engine.</a:t>
                </a:r>
                <a:endParaRPr b="0" sz="14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2" name="Google Shape;732;p3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733" name="Google Shape;733;p3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4" name="Google Shape;734;p33"/>
            <p:cNvGrpSpPr/>
            <p:nvPr/>
          </p:nvGrpSpPr>
          <p:grpSpPr>
            <a:xfrm>
              <a:off x="571500" y="571500"/>
              <a:ext cx="381000" cy="381000"/>
              <a:chOff x="0" y="0"/>
              <a:chExt cx="381000" cy="381000"/>
            </a:xfrm>
          </p:grpSpPr>
          <p:sp>
            <p:nvSpPr>
              <p:cNvPr id="735" name="Google Shape;735;p33"/>
              <p:cNvSpPr/>
              <p:nvPr/>
            </p:nvSpPr>
            <p:spPr>
              <a:xfrm>
                <a:off x="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33"/>
              <p:cNvSpPr/>
              <p:nvPr/>
            </p:nvSpPr>
            <p:spPr>
              <a:xfrm>
                <a:off x="1143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33"/>
              <p:cNvSpPr/>
              <p:nvPr/>
            </p:nvSpPr>
            <p:spPr>
              <a:xfrm>
                <a:off x="2286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33"/>
              <p:cNvSpPr/>
              <p:nvPr/>
            </p:nvSpPr>
            <p:spPr>
              <a:xfrm>
                <a:off x="3429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39" name="Google Shape;739;p3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0" name="Google Shape;740;p33"/>
              <p:cNvSpPr/>
              <p:nvPr/>
            </p:nvSpPr>
            <p:spPr>
              <a:xfrm>
                <a:off x="1143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33"/>
              <p:cNvSpPr/>
              <p:nvPr/>
            </p:nvSpPr>
            <p:spPr>
              <a:xfrm>
                <a:off x="2286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33"/>
              <p:cNvSpPr/>
              <p:nvPr/>
            </p:nvSpPr>
            <p:spPr>
              <a:xfrm>
                <a:off x="3429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33"/>
              <p:cNvSpPr/>
              <p:nvPr/>
            </p:nvSpPr>
            <p:spPr>
              <a:xfrm>
                <a:off x="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33"/>
              <p:cNvSpPr/>
              <p:nvPr/>
            </p:nvSpPr>
            <p:spPr>
              <a:xfrm>
                <a:off x="1143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33"/>
              <p:cNvSpPr/>
              <p:nvPr/>
            </p:nvSpPr>
            <p:spPr>
              <a:xfrm>
                <a:off x="2286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33"/>
              <p:cNvSpPr/>
              <p:nvPr/>
            </p:nvSpPr>
            <p:spPr>
              <a:xfrm>
                <a:off x="3429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33"/>
              <p:cNvSpPr/>
              <p:nvPr/>
            </p:nvSpPr>
            <p:spPr>
              <a:xfrm>
                <a:off x="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33"/>
              <p:cNvSpPr/>
              <p:nvPr/>
            </p:nvSpPr>
            <p:spPr>
              <a:xfrm>
                <a:off x="1143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33"/>
              <p:cNvSpPr/>
              <p:nvPr/>
            </p:nvSpPr>
            <p:spPr>
              <a:xfrm>
                <a:off x="2286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33"/>
              <p:cNvSpPr/>
              <p:nvPr/>
            </p:nvSpPr>
            <p:spPr>
              <a:xfrm>
                <a:off x="3429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1" name="Google Shape;751;p33"/>
            <p:cNvGrpSpPr/>
            <p:nvPr/>
          </p:nvGrpSpPr>
          <p:grpSpPr>
            <a:xfrm>
              <a:off x="8191500" y="4191000"/>
              <a:ext cx="381000" cy="381000"/>
              <a:chOff x="0" y="0"/>
              <a:chExt cx="381000" cy="381000"/>
            </a:xfrm>
          </p:grpSpPr>
          <p:sp>
            <p:nvSpPr>
              <p:cNvPr id="752" name="Google Shape;752;p33"/>
              <p:cNvSpPr/>
              <p:nvPr/>
            </p:nvSpPr>
            <p:spPr>
              <a:xfrm>
                <a:off x="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33"/>
              <p:cNvSpPr/>
              <p:nvPr/>
            </p:nvSpPr>
            <p:spPr>
              <a:xfrm>
                <a:off x="1143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33"/>
              <p:cNvSpPr/>
              <p:nvPr/>
            </p:nvSpPr>
            <p:spPr>
              <a:xfrm>
                <a:off x="2286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33"/>
              <p:cNvSpPr/>
              <p:nvPr/>
            </p:nvSpPr>
            <p:spPr>
              <a:xfrm>
                <a:off x="3429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56" name="Google Shape;756;p3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7" name="Google Shape;757;p33"/>
              <p:cNvSpPr/>
              <p:nvPr/>
            </p:nvSpPr>
            <p:spPr>
              <a:xfrm>
                <a:off x="1143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33"/>
              <p:cNvSpPr/>
              <p:nvPr/>
            </p:nvSpPr>
            <p:spPr>
              <a:xfrm>
                <a:off x="2286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33"/>
              <p:cNvSpPr/>
              <p:nvPr/>
            </p:nvSpPr>
            <p:spPr>
              <a:xfrm>
                <a:off x="3429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33"/>
              <p:cNvSpPr/>
              <p:nvPr/>
            </p:nvSpPr>
            <p:spPr>
              <a:xfrm>
                <a:off x="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33"/>
              <p:cNvSpPr/>
              <p:nvPr/>
            </p:nvSpPr>
            <p:spPr>
              <a:xfrm>
                <a:off x="1143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33"/>
              <p:cNvSpPr/>
              <p:nvPr/>
            </p:nvSpPr>
            <p:spPr>
              <a:xfrm>
                <a:off x="2286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33"/>
              <p:cNvSpPr/>
              <p:nvPr/>
            </p:nvSpPr>
            <p:spPr>
              <a:xfrm>
                <a:off x="3429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33"/>
              <p:cNvSpPr/>
              <p:nvPr/>
            </p:nvSpPr>
            <p:spPr>
              <a:xfrm>
                <a:off x="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33"/>
              <p:cNvSpPr/>
              <p:nvPr/>
            </p:nvSpPr>
            <p:spPr>
              <a:xfrm>
                <a:off x="1143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33"/>
              <p:cNvSpPr/>
              <p:nvPr/>
            </p:nvSpPr>
            <p:spPr>
              <a:xfrm>
                <a:off x="2286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33"/>
              <p:cNvSpPr/>
              <p:nvPr/>
            </p:nvSpPr>
            <p:spPr>
              <a:xfrm>
                <a:off x="3429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68" name="Google Shape;768;p33"/>
          <p:cNvSpPr txBox="1"/>
          <p:nvPr/>
        </p:nvSpPr>
        <p:spPr>
          <a:xfrm>
            <a:off x="1143000" y="476250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SQLite Specifics</a:t>
            </a:r>
            <a:endParaRPr b="1" sz="296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9" name="Google Shape;769;p33"/>
          <p:cNvSpPr txBox="1"/>
          <p:nvPr/>
        </p:nvSpPr>
        <p:spPr>
          <a:xfrm>
            <a:off x="1143000" y="1047750"/>
            <a:ext cx="6858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While SQL is largely standardized, different database engines have minor quirks.</a:t>
            </a:r>
            <a:endParaRPr b="0" sz="15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70" name="Google Shape;770;p33"/>
          <p:cNvGrpSpPr/>
          <p:nvPr/>
        </p:nvGrpSpPr>
        <p:grpSpPr>
          <a:xfrm>
            <a:off x="1143000" y="1476375"/>
            <a:ext cx="6858000" cy="1333500"/>
            <a:chOff x="0" y="0"/>
            <a:chExt cx="6858000" cy="1333500"/>
          </a:xfrm>
        </p:grpSpPr>
        <p:sp>
          <p:nvSpPr>
            <p:cNvPr id="771" name="Google Shape;771;p33"/>
            <p:cNvSpPr/>
            <p:nvPr/>
          </p:nvSpPr>
          <p:spPr>
            <a:xfrm>
              <a:off x="0" y="0"/>
              <a:ext cx="6858000" cy="1333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3"/>
            <p:cNvSpPr/>
            <p:nvPr/>
          </p:nvSpPr>
          <p:spPr>
            <a:xfrm>
              <a:off x="0" y="0"/>
              <a:ext cx="57300" cy="1333500"/>
            </a:xfrm>
            <a:prstGeom prst="roundRect">
              <a:avLst>
                <a:gd fmla="val 50000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3"/>
            <p:cNvSpPr txBox="1"/>
            <p:nvPr/>
          </p:nvSpPr>
          <p:spPr>
            <a:xfrm>
              <a:off x="228600" y="190500"/>
              <a:ext cx="6400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AUTO-INCREMENT PRIMARY KEYS</a:t>
              </a:r>
              <a:endParaRPr b="0" sz="11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Note that SQLite specifically uses the keyword </a:t>
              </a:r>
              <a:r>
                <a:rPr b="0" lang="en" sz="1500">
                  <a:solidFill>
                    <a:srgbClr val="2563EB"/>
                  </a:solidFill>
                  <a:highlight>
                    <a:srgbClr val="F3F4F6"/>
                  </a:highlight>
                  <a:latin typeface="IBM Plex Mono SemiBold"/>
                  <a:ea typeface="IBM Plex Mono SemiBold"/>
                  <a:cs typeface="IBM Plex Mono SemiBold"/>
                  <a:sym typeface="IBM Plex Mono SemiBold"/>
                </a:rPr>
                <a:t>INTEGER</a:t>
              </a:r>
              <a:r>
                <a:rPr b="0" lang="en" sz="15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(rather than </a:t>
              </a:r>
              <a:r>
                <a:rPr b="0" lang="en" sz="1500">
                  <a:solidFill>
                    <a:srgbClr val="4B5563"/>
                  </a:solidFill>
                  <a:highlight>
                    <a:srgbClr val="F3F4F6"/>
                  </a:highlight>
                  <a:latin typeface="IBM Plex Mono Medium"/>
                  <a:ea typeface="IBM Plex Mono Medium"/>
                  <a:cs typeface="IBM Plex Mono Medium"/>
                  <a:sym typeface="IBM Plex Mono Medium"/>
                </a:rPr>
                <a:t>INT</a:t>
              </a:r>
              <a:r>
                <a:rPr b="0" lang="en" sz="15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) for its auto-incrementing primary keys.</a:t>
              </a:r>
              <a:endParaRPr b="0" sz="15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774" name="Google Shape;774;p33"/>
          <p:cNvGrpSpPr/>
          <p:nvPr/>
        </p:nvGrpSpPr>
        <p:grpSpPr>
          <a:xfrm>
            <a:off x="1143000" y="3000375"/>
            <a:ext cx="6858000" cy="1333500"/>
            <a:chOff x="0" y="0"/>
            <a:chExt cx="6858000" cy="1333500"/>
          </a:xfrm>
        </p:grpSpPr>
        <p:sp>
          <p:nvSpPr>
            <p:cNvPr id="775" name="Google Shape;775;p33"/>
            <p:cNvSpPr/>
            <p:nvPr/>
          </p:nvSpPr>
          <p:spPr>
            <a:xfrm>
              <a:off x="0" y="0"/>
              <a:ext cx="6858000" cy="1333500"/>
            </a:xfrm>
            <a:prstGeom prst="roundRect">
              <a:avLst>
                <a:gd fmla="val 428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3"/>
            <p:cNvSpPr/>
            <p:nvPr/>
          </p:nvSpPr>
          <p:spPr>
            <a:xfrm>
              <a:off x="0" y="0"/>
              <a:ext cx="57300" cy="1333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3"/>
            <p:cNvSpPr txBox="1"/>
            <p:nvPr/>
          </p:nvSpPr>
          <p:spPr>
            <a:xfrm>
              <a:off x="228600" y="190500"/>
              <a:ext cx="6400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LAB ENVIRONMENT POLICY</a:t>
              </a:r>
              <a:endParaRPr b="0" sz="11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However, for the purposes of this specific lab environment, utilizing either </a:t>
              </a:r>
              <a:r>
                <a:rPr b="0" lang="en" sz="1500">
                  <a:solidFill>
                    <a:srgbClr val="111827"/>
                  </a:solidFill>
                  <a:latin typeface="IBM Plex Mono SemiBold"/>
                  <a:ea typeface="IBM Plex Mono SemiBold"/>
                  <a:cs typeface="IBM Plex Mono SemiBold"/>
                  <a:sym typeface="IBM Plex Mono SemiBold"/>
                </a:rPr>
                <a:t>INT</a:t>
              </a:r>
              <a:r>
                <a:rPr b="0" lang="en" sz="15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or </a:t>
              </a:r>
              <a:r>
                <a:rPr b="0" lang="en" sz="1500">
                  <a:solidFill>
                    <a:srgbClr val="111827"/>
                  </a:solidFill>
                  <a:latin typeface="IBM Plex Mono SemiBold"/>
                  <a:ea typeface="IBM Plex Mono SemiBold"/>
                  <a:cs typeface="IBM Plex Mono SemiBold"/>
                  <a:sym typeface="IBM Plex Mono SemiBold"/>
                </a:rPr>
                <a:t>INTEGER</a:t>
              </a:r>
              <a:r>
                <a:rPr b="0" lang="en" sz="15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will execute successfully and be accepted for full credit.</a:t>
              </a:r>
              <a:endParaRPr b="0" sz="15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2" name="Google Shape;782;p34"/>
          <p:cNvGrpSpPr/>
          <p:nvPr/>
        </p:nvGrpSpPr>
        <p:grpSpPr>
          <a:xfrm>
            <a:off x="571500" y="571500"/>
            <a:ext cx="8001000" cy="4000500"/>
            <a:chOff x="571500" y="571500"/>
            <a:chExt cx="8001000" cy="4000500"/>
          </a:xfrm>
        </p:grpSpPr>
        <p:grpSp>
          <p:nvGrpSpPr>
            <p:cNvPr id="783" name="Google Shape;783;p34"/>
            <p:cNvGrpSpPr/>
            <p:nvPr/>
          </p:nvGrpSpPr>
          <p:grpSpPr>
            <a:xfrm>
              <a:off x="571500" y="571500"/>
              <a:ext cx="381000" cy="381000"/>
              <a:chOff x="0" y="0"/>
              <a:chExt cx="381000" cy="381000"/>
            </a:xfrm>
          </p:grpSpPr>
          <p:sp>
            <p:nvSpPr>
              <p:cNvPr id="784" name="Google Shape;784;p34"/>
              <p:cNvSpPr/>
              <p:nvPr/>
            </p:nvSpPr>
            <p:spPr>
              <a:xfrm>
                <a:off x="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34"/>
              <p:cNvSpPr/>
              <p:nvPr/>
            </p:nvSpPr>
            <p:spPr>
              <a:xfrm>
                <a:off x="1143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34"/>
              <p:cNvSpPr/>
              <p:nvPr/>
            </p:nvSpPr>
            <p:spPr>
              <a:xfrm>
                <a:off x="2286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34"/>
              <p:cNvSpPr/>
              <p:nvPr/>
            </p:nvSpPr>
            <p:spPr>
              <a:xfrm>
                <a:off x="3429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88" name="Google Shape;788;p3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9" name="Google Shape;789;p34"/>
              <p:cNvSpPr/>
              <p:nvPr/>
            </p:nvSpPr>
            <p:spPr>
              <a:xfrm>
                <a:off x="1143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34"/>
              <p:cNvSpPr/>
              <p:nvPr/>
            </p:nvSpPr>
            <p:spPr>
              <a:xfrm>
                <a:off x="2286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34"/>
              <p:cNvSpPr/>
              <p:nvPr/>
            </p:nvSpPr>
            <p:spPr>
              <a:xfrm>
                <a:off x="3429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34"/>
              <p:cNvSpPr/>
              <p:nvPr/>
            </p:nvSpPr>
            <p:spPr>
              <a:xfrm>
                <a:off x="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34"/>
              <p:cNvSpPr/>
              <p:nvPr/>
            </p:nvSpPr>
            <p:spPr>
              <a:xfrm>
                <a:off x="1143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34"/>
              <p:cNvSpPr/>
              <p:nvPr/>
            </p:nvSpPr>
            <p:spPr>
              <a:xfrm>
                <a:off x="2286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34"/>
              <p:cNvSpPr/>
              <p:nvPr/>
            </p:nvSpPr>
            <p:spPr>
              <a:xfrm>
                <a:off x="3429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34"/>
              <p:cNvSpPr/>
              <p:nvPr/>
            </p:nvSpPr>
            <p:spPr>
              <a:xfrm>
                <a:off x="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34"/>
              <p:cNvSpPr/>
              <p:nvPr/>
            </p:nvSpPr>
            <p:spPr>
              <a:xfrm>
                <a:off x="1143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34"/>
              <p:cNvSpPr/>
              <p:nvPr/>
            </p:nvSpPr>
            <p:spPr>
              <a:xfrm>
                <a:off x="2286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34"/>
              <p:cNvSpPr/>
              <p:nvPr/>
            </p:nvSpPr>
            <p:spPr>
              <a:xfrm>
                <a:off x="3429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0" name="Google Shape;800;p34"/>
            <p:cNvGrpSpPr/>
            <p:nvPr/>
          </p:nvGrpSpPr>
          <p:grpSpPr>
            <a:xfrm>
              <a:off x="8191500" y="4191000"/>
              <a:ext cx="381000" cy="381000"/>
              <a:chOff x="0" y="0"/>
              <a:chExt cx="381000" cy="381000"/>
            </a:xfrm>
          </p:grpSpPr>
          <p:sp>
            <p:nvSpPr>
              <p:cNvPr id="801" name="Google Shape;801;p34"/>
              <p:cNvSpPr/>
              <p:nvPr/>
            </p:nvSpPr>
            <p:spPr>
              <a:xfrm>
                <a:off x="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34"/>
              <p:cNvSpPr/>
              <p:nvPr/>
            </p:nvSpPr>
            <p:spPr>
              <a:xfrm>
                <a:off x="1143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34"/>
              <p:cNvSpPr/>
              <p:nvPr/>
            </p:nvSpPr>
            <p:spPr>
              <a:xfrm>
                <a:off x="2286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34"/>
              <p:cNvSpPr/>
              <p:nvPr/>
            </p:nvSpPr>
            <p:spPr>
              <a:xfrm>
                <a:off x="342900" y="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05" name="Google Shape;805;p3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6" name="Google Shape;806;p34"/>
              <p:cNvSpPr/>
              <p:nvPr/>
            </p:nvSpPr>
            <p:spPr>
              <a:xfrm>
                <a:off x="1143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34"/>
              <p:cNvSpPr/>
              <p:nvPr/>
            </p:nvSpPr>
            <p:spPr>
              <a:xfrm>
                <a:off x="2286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34"/>
              <p:cNvSpPr/>
              <p:nvPr/>
            </p:nvSpPr>
            <p:spPr>
              <a:xfrm>
                <a:off x="342900" y="1143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34"/>
              <p:cNvSpPr/>
              <p:nvPr/>
            </p:nvSpPr>
            <p:spPr>
              <a:xfrm>
                <a:off x="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34"/>
              <p:cNvSpPr/>
              <p:nvPr/>
            </p:nvSpPr>
            <p:spPr>
              <a:xfrm>
                <a:off x="1143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34"/>
              <p:cNvSpPr/>
              <p:nvPr/>
            </p:nvSpPr>
            <p:spPr>
              <a:xfrm>
                <a:off x="2286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34"/>
              <p:cNvSpPr/>
              <p:nvPr/>
            </p:nvSpPr>
            <p:spPr>
              <a:xfrm>
                <a:off x="342900" y="2286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34"/>
              <p:cNvSpPr/>
              <p:nvPr/>
            </p:nvSpPr>
            <p:spPr>
              <a:xfrm>
                <a:off x="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34"/>
              <p:cNvSpPr/>
              <p:nvPr/>
            </p:nvSpPr>
            <p:spPr>
              <a:xfrm>
                <a:off x="1143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34"/>
              <p:cNvSpPr/>
              <p:nvPr/>
            </p:nvSpPr>
            <p:spPr>
              <a:xfrm>
                <a:off x="2286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34"/>
              <p:cNvSpPr/>
              <p:nvPr/>
            </p:nvSpPr>
            <p:spPr>
              <a:xfrm>
                <a:off x="342900" y="342900"/>
                <a:ext cx="38100" cy="381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17" name="Google Shape;817;p34"/>
          <p:cNvGrpSpPr/>
          <p:nvPr/>
        </p:nvGrpSpPr>
        <p:grpSpPr>
          <a:xfrm>
            <a:off x="571500" y="762000"/>
            <a:ext cx="8001000" cy="3524250"/>
            <a:chOff x="0" y="0"/>
            <a:chExt cx="8001000" cy="3524250"/>
          </a:xfrm>
        </p:grpSpPr>
        <p:sp>
          <p:nvSpPr>
            <p:cNvPr id="818" name="Google Shape;818;p34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1118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Check Database Structure</a:t>
              </a:r>
              <a:endParaRPr b="1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819" name="Google Shape;819;p34"/>
            <p:cNvSpPr txBox="1"/>
            <p:nvPr/>
          </p:nvSpPr>
          <p:spPr>
            <a:xfrm>
              <a:off x="0" y="666750"/>
              <a:ext cx="800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6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Do not rely solely on the execution log to verify your work. After running your SQL script without errors, navigate to and click the </a:t>
              </a:r>
              <a:r>
                <a:rPr b="0" lang="en" sz="1600">
                  <a:solidFill>
                    <a:srgbClr val="111827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"Database Structure"</a:t>
              </a:r>
              <a:r>
                <a:rPr b="0" lang="en" sz="16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tab located at the top of the DB Browser interface.</a:t>
              </a:r>
              <a:endParaRPr b="0" sz="16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grpSp>
          <p:nvGrpSpPr>
            <p:cNvPr id="820" name="Google Shape;820;p34"/>
            <p:cNvGrpSpPr/>
            <p:nvPr/>
          </p:nvGrpSpPr>
          <p:grpSpPr>
            <a:xfrm>
              <a:off x="0" y="1809750"/>
              <a:ext cx="8001000" cy="1714500"/>
              <a:chOff x="0" y="0"/>
              <a:chExt cx="8001000" cy="1714500"/>
            </a:xfrm>
          </p:grpSpPr>
          <p:sp>
            <p:nvSpPr>
              <p:cNvPr id="821" name="Google Shape;821;p34"/>
              <p:cNvSpPr/>
              <p:nvPr/>
            </p:nvSpPr>
            <p:spPr>
              <a:xfrm>
                <a:off x="0" y="0"/>
                <a:ext cx="8001000" cy="1714500"/>
              </a:xfrm>
              <a:prstGeom prst="roundRect">
                <a:avLst>
                  <a:gd fmla="val 3333" name="adj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34"/>
              <p:cNvSpPr/>
              <p:nvPr/>
            </p:nvSpPr>
            <p:spPr>
              <a:xfrm>
                <a:off x="0" y="0"/>
                <a:ext cx="57300" cy="17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34"/>
              <p:cNvSpPr txBox="1"/>
              <p:nvPr/>
            </p:nvSpPr>
            <p:spPr>
              <a:xfrm>
                <a:off x="342900" y="228600"/>
                <a:ext cx="7315200" cy="12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563EB"/>
                    </a:solidFill>
                    <a:latin typeface="IBM Plex Sans SemiBold"/>
                    <a:ea typeface="IBM Plex Sans SemiBold"/>
                    <a:cs typeface="IBM Plex Sans SemiBold"/>
                    <a:sym typeface="IBM Plex Sans SemiBold"/>
                  </a:rPr>
                  <a:t>VERIFICATION STEP</a:t>
                </a:r>
                <a:endParaRPr b="0" sz="12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111827"/>
                    </a:solidFill>
                    <a:latin typeface="IBM Plex Sans Medium"/>
                    <a:ea typeface="IBM Plex Sans Medium"/>
                    <a:cs typeface="IBM Plex Sans Medium"/>
                    <a:sym typeface="IBM Plex Sans Medium"/>
                  </a:rPr>
                  <a:t>Physically inspect the schema and visually confirm that all three tables, along with their columns and constraints, were built correctly.</a:t>
                </a:r>
                <a:endParaRPr b="0" sz="1600">
                  <a:solidFill>
                    <a:srgbClr val="111827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4B5563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DB Browser UI </a:t>
                </a:r>
                <a:r>
                  <a:rPr b="1" lang="en" sz="1300">
                    <a:solidFill>
                      <a:srgbClr val="2563E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&gt;</a:t>
                </a:r>
                <a:r>
                  <a:rPr b="0" lang="en" sz="1300">
                    <a:solidFill>
                      <a:srgbClr val="4B5563"/>
                    </a:solidFill>
                    <a:latin typeface="IBM Plex Mono Medium"/>
                    <a:ea typeface="IBM Plex Mono Medium"/>
                    <a:cs typeface="IBM Plex Mono Medium"/>
                    <a:sym typeface="IBM Plex Mono Medium"/>
                  </a:rPr>
                  <a:t> [ Database Structure ]</a:t>
                </a:r>
                <a:endParaRPr b="0" sz="1300">
                  <a:solidFill>
                    <a:srgbClr val="4B5563"/>
                  </a:solidFill>
                  <a:latin typeface="IBM Plex Mono Medium"/>
                  <a:ea typeface="IBM Plex Mono Medium"/>
                  <a:cs typeface="IBM Plex Mono Medium"/>
                  <a:sym typeface="IBM Plex Mono Medium"/>
                </a:endParaR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8" name="Google Shape;828;p35"/>
          <p:cNvGrpSpPr/>
          <p:nvPr/>
        </p:nvGrpSpPr>
        <p:grpSpPr>
          <a:xfrm>
            <a:off x="8248650" y="381000"/>
            <a:ext cx="324000" cy="247800"/>
            <a:chOff x="0" y="0"/>
            <a:chExt cx="324000" cy="247800"/>
          </a:xfrm>
        </p:grpSpPr>
        <p:sp>
          <p:nvSpPr>
            <p:cNvPr id="829" name="Google Shape;829;p35"/>
            <p:cNvSpPr/>
            <p:nvPr/>
          </p:nvSpPr>
          <p:spPr>
            <a:xfrm>
              <a:off x="0" y="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5"/>
            <p:cNvSpPr/>
            <p:nvPr/>
          </p:nvSpPr>
          <p:spPr>
            <a:xfrm>
              <a:off x="0" y="9525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5"/>
            <p:cNvSpPr/>
            <p:nvPr/>
          </p:nvSpPr>
          <p:spPr>
            <a:xfrm>
              <a:off x="0" y="19050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5"/>
            <p:cNvSpPr/>
            <p:nvPr/>
          </p:nvSpPr>
          <p:spPr>
            <a:xfrm>
              <a:off x="266700" y="0"/>
              <a:ext cx="57300" cy="247800"/>
            </a:xfrm>
            <a:prstGeom prst="roundRect">
              <a:avLst>
                <a:gd fmla="val 33333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3" name="Google Shape;833;p35"/>
          <p:cNvGrpSpPr/>
          <p:nvPr/>
        </p:nvGrpSpPr>
        <p:grpSpPr>
          <a:xfrm>
            <a:off x="571500" y="4762500"/>
            <a:ext cx="8001000" cy="333450"/>
            <a:chOff x="571500" y="4762500"/>
            <a:chExt cx="8001000" cy="333450"/>
          </a:xfrm>
        </p:grpSpPr>
        <p:cxnSp>
          <p:nvCxnSpPr>
            <p:cNvPr id="834" name="Google Shape;834;p35"/>
            <p:cNvCxnSpPr/>
            <p:nvPr/>
          </p:nvCxnSpPr>
          <p:spPr>
            <a:xfrm>
              <a:off x="571500" y="476250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35" name="Google Shape;835;p35"/>
            <p:cNvSpPr txBox="1"/>
            <p:nvPr/>
          </p:nvSpPr>
          <p:spPr>
            <a:xfrm>
              <a:off x="571500" y="4857750"/>
              <a:ext cx="3810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MAC 250 - Database Lab</a:t>
              </a:r>
              <a:endParaRPr/>
            </a:p>
          </p:txBody>
        </p:sp>
      </p:grpSp>
      <p:sp>
        <p:nvSpPr>
          <p:cNvPr id="836" name="Google Shape;836;p35"/>
          <p:cNvSpPr txBox="1"/>
          <p:nvPr/>
        </p:nvSpPr>
        <p:spPr>
          <a:xfrm>
            <a:off x="571500" y="571500"/>
            <a:ext cx="742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Module 2 is Underway</a:t>
            </a:r>
            <a:endParaRPr b="1" sz="32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37" name="Google Shape;837;p35"/>
          <p:cNvGrpSpPr/>
          <p:nvPr/>
        </p:nvGrpSpPr>
        <p:grpSpPr>
          <a:xfrm>
            <a:off x="571500" y="1295400"/>
            <a:ext cx="8001000" cy="685800"/>
            <a:chOff x="0" y="0"/>
            <a:chExt cx="8001000" cy="685800"/>
          </a:xfrm>
        </p:grpSpPr>
        <p:sp>
          <p:nvSpPr>
            <p:cNvPr id="838" name="Google Shape;838;p35"/>
            <p:cNvSpPr/>
            <p:nvPr/>
          </p:nvSpPr>
          <p:spPr>
            <a:xfrm>
              <a:off x="0" y="0"/>
              <a:ext cx="8001000" cy="685800"/>
            </a:xfrm>
            <a:prstGeom prst="roundRect">
              <a:avLst>
                <a:gd fmla="val 5555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5"/>
            <p:cNvSpPr/>
            <p:nvPr/>
          </p:nvSpPr>
          <p:spPr>
            <a:xfrm>
              <a:off x="0" y="0"/>
              <a:ext cx="57300" cy="6858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5"/>
            <p:cNvSpPr txBox="1"/>
            <p:nvPr/>
          </p:nvSpPr>
          <p:spPr>
            <a:xfrm>
              <a:off x="228600" y="152400"/>
              <a:ext cx="7543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2563EB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Great job today.</a:t>
              </a:r>
              <a:endParaRPr b="0" sz="18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endParaRPr>
            </a:p>
          </p:txBody>
        </p:sp>
      </p:grpSp>
      <p:sp>
        <p:nvSpPr>
          <p:cNvPr id="841" name="Google Shape;841;p35"/>
          <p:cNvSpPr txBox="1"/>
          <p:nvPr/>
        </p:nvSpPr>
        <p:spPr>
          <a:xfrm>
            <a:off x="571500" y="2209800"/>
            <a:ext cx="8001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 have successfully written the structural code for your first database backend.</a:t>
            </a:r>
            <a:endParaRPr b="0" sz="18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500"/>
              </a:spcBef>
              <a:spcAft>
                <a:spcPts val="90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By mastering the Data Definition Language and correctly applying relational constraints, you are officially coding at the database level and have completed a major step in understanding backend architecture.</a:t>
            </a:r>
            <a:endParaRPr b="0" sz="1600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7" name="Google Shape;847;p36"/>
          <p:cNvGrpSpPr/>
          <p:nvPr/>
        </p:nvGrpSpPr>
        <p:grpSpPr>
          <a:xfrm>
            <a:off x="8248650" y="381000"/>
            <a:ext cx="324000" cy="247800"/>
            <a:chOff x="0" y="0"/>
            <a:chExt cx="324000" cy="247800"/>
          </a:xfrm>
        </p:grpSpPr>
        <p:sp>
          <p:nvSpPr>
            <p:cNvPr id="848" name="Google Shape;848;p36"/>
            <p:cNvSpPr/>
            <p:nvPr/>
          </p:nvSpPr>
          <p:spPr>
            <a:xfrm>
              <a:off x="0" y="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0" y="9525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6"/>
            <p:cNvSpPr/>
            <p:nvPr/>
          </p:nvSpPr>
          <p:spPr>
            <a:xfrm>
              <a:off x="0" y="19050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6"/>
            <p:cNvSpPr/>
            <p:nvPr/>
          </p:nvSpPr>
          <p:spPr>
            <a:xfrm>
              <a:off x="266700" y="0"/>
              <a:ext cx="57300" cy="247800"/>
            </a:xfrm>
            <a:prstGeom prst="roundRect">
              <a:avLst>
                <a:gd fmla="val 33333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2" name="Google Shape;852;p36"/>
          <p:cNvGrpSpPr/>
          <p:nvPr/>
        </p:nvGrpSpPr>
        <p:grpSpPr>
          <a:xfrm>
            <a:off x="571500" y="4667250"/>
            <a:ext cx="8001000" cy="381150"/>
            <a:chOff x="571500" y="4667250"/>
            <a:chExt cx="8001000" cy="381150"/>
          </a:xfrm>
        </p:grpSpPr>
        <p:cxnSp>
          <p:nvCxnSpPr>
            <p:cNvPr id="853" name="Google Shape;853;p36"/>
            <p:cNvCxnSpPr/>
            <p:nvPr/>
          </p:nvCxnSpPr>
          <p:spPr>
            <a:xfrm>
              <a:off x="571500" y="466725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4" name="Google Shape;854;p36"/>
            <p:cNvSpPr txBox="1"/>
            <p:nvPr/>
          </p:nvSpPr>
          <p:spPr>
            <a:xfrm>
              <a:off x="571500" y="476250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MAC 250 - Database Lab</a:t>
              </a:r>
              <a:endParaRPr/>
            </a:p>
          </p:txBody>
        </p:sp>
      </p:grpSp>
      <p:sp>
        <p:nvSpPr>
          <p:cNvPr id="855" name="Google Shape;855;p36"/>
          <p:cNvSpPr txBox="1"/>
          <p:nvPr/>
        </p:nvSpPr>
        <p:spPr>
          <a:xfrm>
            <a:off x="571500" y="476250"/>
            <a:ext cx="7429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Next Week: DML (Data Manipulation)</a:t>
            </a:r>
            <a:endParaRPr b="1" sz="32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56" name="Google Shape;856;p36"/>
          <p:cNvSpPr txBox="1"/>
          <p:nvPr/>
        </p:nvSpPr>
        <p:spPr>
          <a:xfrm>
            <a:off x="571500" y="1190625"/>
            <a:ext cx="8001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88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Now that we have built the structural foundation, next week we will learn how to populate these empty tables.</a:t>
            </a:r>
            <a:endParaRPr b="0" sz="1388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388">
                <a:solidFill>
                  <a:srgbClr val="4B5563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will transition from Data Definition Language (DDL) to Data Manipulation Language (DML), focusing heavily on the syntax required to execute INSERT INTO, UPDATE, and DELETE statements effectively.</a:t>
            </a:r>
            <a:endParaRPr b="0" sz="1388">
              <a:solidFill>
                <a:srgbClr val="4B55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57" name="Google Shape;857;p36"/>
          <p:cNvGrpSpPr/>
          <p:nvPr/>
        </p:nvGrpSpPr>
        <p:grpSpPr>
          <a:xfrm>
            <a:off x="571500" y="2619375"/>
            <a:ext cx="8001000" cy="1762200"/>
            <a:chOff x="0" y="0"/>
            <a:chExt cx="8001000" cy="1762200"/>
          </a:xfrm>
        </p:grpSpPr>
        <p:sp>
          <p:nvSpPr>
            <p:cNvPr id="858" name="Google Shape;858;p36"/>
            <p:cNvSpPr/>
            <p:nvPr/>
          </p:nvSpPr>
          <p:spPr>
            <a:xfrm>
              <a:off x="0" y="0"/>
              <a:ext cx="8001000" cy="1762200"/>
            </a:xfrm>
            <a:prstGeom prst="roundRect">
              <a:avLst>
                <a:gd fmla="val 3243" name="adj"/>
              </a:avLst>
            </a:prstGeom>
            <a:solidFill>
              <a:srgbClr val="F3F4F6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6"/>
            <p:cNvSpPr/>
            <p:nvPr/>
          </p:nvSpPr>
          <p:spPr>
            <a:xfrm>
              <a:off x="0" y="0"/>
              <a:ext cx="8001000" cy="342900"/>
            </a:xfrm>
            <a:prstGeom prst="roundRect">
              <a:avLst>
                <a:gd fmla="val 16666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0" y="247650"/>
              <a:ext cx="8001000" cy="954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6"/>
            <p:cNvSpPr txBox="1"/>
            <p:nvPr/>
          </p:nvSpPr>
          <p:spPr>
            <a:xfrm>
              <a:off x="190500" y="76200"/>
              <a:ext cx="762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AFAFA"/>
                  </a:solidFill>
                  <a:latin typeface="IBM Plex Sans SemiBold"/>
                  <a:ea typeface="IBM Plex Sans SemiBold"/>
                  <a:cs typeface="IBM Plex Sans SemiBold"/>
                  <a:sym typeface="IBM Plex Sans SemiBold"/>
                </a:rPr>
                <a:t>Core DML Syntax Focus</a:t>
              </a:r>
              <a:r>
                <a:rPr lang="en"/>
                <a:t> </a:t>
              </a:r>
              <a:r>
                <a:rPr b="0" lang="en" sz="1000">
                  <a:solidFill>
                    <a:srgbClr val="2563EB"/>
                  </a:solidFill>
                  <a:latin typeface="IBM Plex Mono SemiBold"/>
                  <a:ea typeface="IBM Plex Mono SemiBold"/>
                  <a:cs typeface="IBM Plex Mono SemiBold"/>
                  <a:sym typeface="IBM Plex Mono SemiBold"/>
                </a:rPr>
                <a:t>DDL ➞ DML TRANSITION</a:t>
              </a:r>
              <a:endParaRPr/>
            </a:p>
          </p:txBody>
        </p:sp>
        <p:grpSp>
          <p:nvGrpSpPr>
            <p:cNvPr id="862" name="Google Shape;862;p36"/>
            <p:cNvGrpSpPr/>
            <p:nvPr/>
          </p:nvGrpSpPr>
          <p:grpSpPr>
            <a:xfrm>
              <a:off x="190500" y="495300"/>
              <a:ext cx="2409900" cy="1076400"/>
              <a:chOff x="0" y="0"/>
              <a:chExt cx="2409900" cy="1076400"/>
            </a:xfrm>
          </p:grpSpPr>
          <p:sp>
            <p:nvSpPr>
              <p:cNvPr id="863" name="Google Shape;863;p36"/>
              <p:cNvSpPr/>
              <p:nvPr/>
            </p:nvSpPr>
            <p:spPr>
              <a:xfrm>
                <a:off x="0" y="0"/>
                <a:ext cx="2409900" cy="1076400"/>
              </a:xfrm>
              <a:prstGeom prst="roundRect">
                <a:avLst>
                  <a:gd fmla="val 353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36"/>
              <p:cNvSpPr/>
              <p:nvPr/>
            </p:nvSpPr>
            <p:spPr>
              <a:xfrm>
                <a:off x="0" y="0"/>
                <a:ext cx="2409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36"/>
              <p:cNvSpPr txBox="1"/>
              <p:nvPr/>
            </p:nvSpPr>
            <p:spPr>
              <a:xfrm>
                <a:off x="152400" y="152400"/>
                <a:ext cx="21051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2563E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INSERT INTO</a:t>
                </a:r>
                <a:endParaRPr b="1" sz="150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B5563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Populate tables with new records and data rows.</a:t>
                </a:r>
                <a:endParaRPr b="0" sz="12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866" name="Google Shape;866;p36"/>
            <p:cNvGrpSpPr/>
            <p:nvPr/>
          </p:nvGrpSpPr>
          <p:grpSpPr>
            <a:xfrm>
              <a:off x="2790825" y="495300"/>
              <a:ext cx="2409900" cy="1076400"/>
              <a:chOff x="0" y="0"/>
              <a:chExt cx="2409900" cy="1076400"/>
            </a:xfrm>
          </p:grpSpPr>
          <p:sp>
            <p:nvSpPr>
              <p:cNvPr id="867" name="Google Shape;867;p36"/>
              <p:cNvSpPr/>
              <p:nvPr/>
            </p:nvSpPr>
            <p:spPr>
              <a:xfrm>
                <a:off x="0" y="0"/>
                <a:ext cx="2409900" cy="1076400"/>
              </a:xfrm>
              <a:prstGeom prst="roundRect">
                <a:avLst>
                  <a:gd fmla="val 353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36"/>
              <p:cNvSpPr/>
              <p:nvPr/>
            </p:nvSpPr>
            <p:spPr>
              <a:xfrm>
                <a:off x="0" y="0"/>
                <a:ext cx="2409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36"/>
              <p:cNvSpPr txBox="1"/>
              <p:nvPr/>
            </p:nvSpPr>
            <p:spPr>
              <a:xfrm>
                <a:off x="152400" y="152400"/>
                <a:ext cx="21051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2563E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UPDATE</a:t>
                </a:r>
                <a:endParaRPr b="1" sz="150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B5563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Modify existing attribute values within existing tuples.</a:t>
                </a:r>
                <a:endParaRPr b="0" sz="12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  <p:grpSp>
          <p:nvGrpSpPr>
            <p:cNvPr id="870" name="Google Shape;870;p36"/>
            <p:cNvGrpSpPr/>
            <p:nvPr/>
          </p:nvGrpSpPr>
          <p:grpSpPr>
            <a:xfrm>
              <a:off x="5391150" y="495300"/>
              <a:ext cx="2419500" cy="1076400"/>
              <a:chOff x="0" y="0"/>
              <a:chExt cx="2419500" cy="1076400"/>
            </a:xfrm>
          </p:grpSpPr>
          <p:sp>
            <p:nvSpPr>
              <p:cNvPr id="871" name="Google Shape;871;p36"/>
              <p:cNvSpPr/>
              <p:nvPr/>
            </p:nvSpPr>
            <p:spPr>
              <a:xfrm>
                <a:off x="0" y="0"/>
                <a:ext cx="2419500" cy="1076400"/>
              </a:xfrm>
              <a:prstGeom prst="roundRect">
                <a:avLst>
                  <a:gd fmla="val 353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36"/>
              <p:cNvSpPr/>
              <p:nvPr/>
            </p:nvSpPr>
            <p:spPr>
              <a:xfrm>
                <a:off x="0" y="0"/>
                <a:ext cx="2419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36"/>
              <p:cNvSpPr txBox="1"/>
              <p:nvPr/>
            </p:nvSpPr>
            <p:spPr>
              <a:xfrm>
                <a:off x="152400" y="152400"/>
                <a:ext cx="21147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2563E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DELETE</a:t>
                </a:r>
                <a:endParaRPr b="1" sz="1500">
                  <a:solidFill>
                    <a:srgbClr val="2563EB"/>
                  </a:solidFill>
                  <a:latin typeface="IBM Plex Mono"/>
                  <a:ea typeface="IBM Plex Mono"/>
                  <a:cs typeface="IBM Plex Mono"/>
                  <a:sym typeface="IBM Plex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B5563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Remove specific records or clear data entries from tables.</a:t>
                </a:r>
                <a:endParaRPr b="0" sz="1200">
                  <a:solidFill>
                    <a:srgbClr val="4B5563"/>
                  </a:solidFill>
                  <a:latin typeface="IBM Plex Sans"/>
                  <a:ea typeface="IBM Plex Sans"/>
                  <a:cs typeface="IBM Plex Sans"/>
                  <a:sym typeface="IBM Plex Sans"/>
                </a:endParaRPr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8" name="Google Shape;878;p37"/>
          <p:cNvGrpSpPr/>
          <p:nvPr/>
        </p:nvGrpSpPr>
        <p:grpSpPr>
          <a:xfrm>
            <a:off x="571500" y="571500"/>
            <a:ext cx="324000" cy="247800"/>
            <a:chOff x="0" y="0"/>
            <a:chExt cx="324000" cy="247800"/>
          </a:xfrm>
        </p:grpSpPr>
        <p:sp>
          <p:nvSpPr>
            <p:cNvPr id="879" name="Google Shape;879;p37"/>
            <p:cNvSpPr/>
            <p:nvPr/>
          </p:nvSpPr>
          <p:spPr>
            <a:xfrm>
              <a:off x="0" y="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7"/>
            <p:cNvSpPr/>
            <p:nvPr/>
          </p:nvSpPr>
          <p:spPr>
            <a:xfrm>
              <a:off x="0" y="9525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7"/>
            <p:cNvSpPr/>
            <p:nvPr/>
          </p:nvSpPr>
          <p:spPr>
            <a:xfrm>
              <a:off x="0" y="190500"/>
              <a:ext cx="228600" cy="57300"/>
            </a:xfrm>
            <a:prstGeom prst="roundRect">
              <a:avLst>
                <a:gd fmla="val 3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7"/>
            <p:cNvSpPr/>
            <p:nvPr/>
          </p:nvSpPr>
          <p:spPr>
            <a:xfrm>
              <a:off x="266700" y="0"/>
              <a:ext cx="57300" cy="247800"/>
            </a:xfrm>
            <a:prstGeom prst="roundRect">
              <a:avLst>
                <a:gd fmla="val 33333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3" name="Google Shape;883;p37"/>
          <p:cNvGrpSpPr/>
          <p:nvPr/>
        </p:nvGrpSpPr>
        <p:grpSpPr>
          <a:xfrm>
            <a:off x="8191500" y="571500"/>
            <a:ext cx="381000" cy="381000"/>
            <a:chOff x="0" y="0"/>
            <a:chExt cx="381000" cy="381000"/>
          </a:xfrm>
        </p:grpSpPr>
        <p:sp>
          <p:nvSpPr>
            <p:cNvPr id="884" name="Google Shape;884;p37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7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7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7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7"/>
            <p:cNvSpPr/>
            <p:nvPr/>
          </p:nvSpPr>
          <p:spPr>
            <a:xfrm>
              <a:off x="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7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7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7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7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93" name="Google Shape;893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00" y="2286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" name="Google Shape;894;p37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7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7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7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7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7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37"/>
          <p:cNvGrpSpPr/>
          <p:nvPr/>
        </p:nvGrpSpPr>
        <p:grpSpPr>
          <a:xfrm>
            <a:off x="571500" y="4191000"/>
            <a:ext cx="381000" cy="381000"/>
            <a:chOff x="0" y="0"/>
            <a:chExt cx="381000" cy="381000"/>
          </a:xfrm>
        </p:grpSpPr>
        <p:sp>
          <p:nvSpPr>
            <p:cNvPr id="901" name="Google Shape;901;p37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7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7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7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7"/>
            <p:cNvSpPr/>
            <p:nvPr/>
          </p:nvSpPr>
          <p:spPr>
            <a:xfrm>
              <a:off x="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7"/>
            <p:cNvSpPr/>
            <p:nvPr/>
          </p:nvSpPr>
          <p:spPr>
            <a:xfrm>
              <a:off x="1143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7"/>
            <p:cNvSpPr/>
            <p:nvPr/>
          </p:nvSpPr>
          <p:spPr>
            <a:xfrm>
              <a:off x="2286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7"/>
            <p:cNvSpPr/>
            <p:nvPr/>
          </p:nvSpPr>
          <p:spPr>
            <a:xfrm>
              <a:off x="342900" y="1143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7"/>
            <p:cNvSpPr/>
            <p:nvPr/>
          </p:nvSpPr>
          <p:spPr>
            <a:xfrm>
              <a:off x="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10" name="Google Shape;910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00" y="2286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1" name="Google Shape;911;p37"/>
            <p:cNvSpPr/>
            <p:nvPr/>
          </p:nvSpPr>
          <p:spPr>
            <a:xfrm>
              <a:off x="2286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7"/>
            <p:cNvSpPr/>
            <p:nvPr/>
          </p:nvSpPr>
          <p:spPr>
            <a:xfrm>
              <a:off x="342900" y="2286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7"/>
            <p:cNvSpPr/>
            <p:nvPr/>
          </p:nvSpPr>
          <p:spPr>
            <a:xfrm>
              <a:off x="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7"/>
            <p:cNvSpPr/>
            <p:nvPr/>
          </p:nvSpPr>
          <p:spPr>
            <a:xfrm>
              <a:off x="1143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7"/>
            <p:cNvSpPr/>
            <p:nvPr/>
          </p:nvSpPr>
          <p:spPr>
            <a:xfrm>
              <a:off x="2286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7"/>
            <p:cNvSpPr/>
            <p:nvPr/>
          </p:nvSpPr>
          <p:spPr>
            <a:xfrm>
              <a:off x="342900" y="3429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7" name="Google Shape;917;p37"/>
          <p:cNvSpPr txBox="1"/>
          <p:nvPr/>
        </p:nvSpPr>
        <p:spPr>
          <a:xfrm>
            <a:off x="571500" y="1333500"/>
            <a:ext cx="7429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11827"/>
                </a:solidFill>
                <a:latin typeface="IBM Plex Sans"/>
                <a:ea typeface="IBM Plex Sans"/>
                <a:cs typeface="IBM Plex Sans"/>
                <a:sym typeface="IBM Plex Sans"/>
              </a:rPr>
              <a:t>Have a Great Rest of Your Week!</a:t>
            </a:r>
            <a:endParaRPr b="1" sz="3200">
              <a:solidFill>
                <a:srgbClr val="11182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18" name="Google Shape;918;p37"/>
          <p:cNvGrpSpPr/>
          <p:nvPr/>
        </p:nvGrpSpPr>
        <p:grpSpPr>
          <a:xfrm>
            <a:off x="571500" y="2286000"/>
            <a:ext cx="7429500" cy="952500"/>
            <a:chOff x="0" y="0"/>
            <a:chExt cx="7429500" cy="952500"/>
          </a:xfrm>
        </p:grpSpPr>
        <p:sp>
          <p:nvSpPr>
            <p:cNvPr id="919" name="Google Shape;919;p37"/>
            <p:cNvSpPr/>
            <p:nvPr/>
          </p:nvSpPr>
          <p:spPr>
            <a:xfrm>
              <a:off x="0" y="0"/>
              <a:ext cx="7429500" cy="952500"/>
            </a:xfrm>
            <a:prstGeom prst="roundRect">
              <a:avLst>
                <a:gd fmla="val 400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7"/>
            <p:cNvSpPr/>
            <p:nvPr/>
          </p:nvSpPr>
          <p:spPr>
            <a:xfrm>
              <a:off x="0" y="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7"/>
            <p:cNvSpPr txBox="1"/>
            <p:nvPr/>
          </p:nvSpPr>
          <p:spPr>
            <a:xfrm>
              <a:off x="285750" y="209550"/>
              <a:ext cx="685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>
                <a:solidFill>
                  <a:srgbClr val="11182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endParaRPr>
            </a:p>
          </p:txBody>
        </p:sp>
      </p:grpSp>
      <p:sp>
        <p:nvSpPr>
          <p:cNvPr id="922" name="Google Shape;922;p37"/>
          <p:cNvSpPr txBox="1"/>
          <p:nvPr/>
        </p:nvSpPr>
        <p:spPr>
          <a:xfrm>
            <a:off x="857250" y="2524050"/>
            <a:ext cx="7429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2563EB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See you Monday!</a:t>
            </a:r>
            <a:endParaRPr b="0" sz="2400">
              <a:solidFill>
                <a:srgbClr val="2563EB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